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1140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70EE8-0B3C-4CCA-A872-AB35F3BB2E56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66ACCA-7E40-4C70-B6F2-D6192241C96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E5C2B0-98E6-46A0-A226-87D2ACE2C8A9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5B8DF8-8BCB-45E7-A085-6E9CFD2167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5C8B0-8363-4FB9-BE7D-2139193A7435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ECE02D-FCB7-4AAC-8DD5-E988750BFD3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68484-53C0-429C-95C2-7429EC41B5D5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7F62F-FF5A-4FF0-BC6C-7A210296E18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5D8477-41E9-47FC-8FA8-829CC4AFEF4D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B1E82-8936-493C-8E67-366B2166AD0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787B9D-503B-495C-B44B-7A88331D321D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AA2195-C787-4E70-BEE6-9EE86F321F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CDC32-5ABA-4EA4-86A5-05DF19A84EB7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34E33F-376A-45B8-839E-681897CF39B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758ADD-9C30-4BD0-98B2-DE631DE62F9E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91C1A-A526-4031-86CC-A6F9504F32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4712E-E017-436D-8995-DDB502BE19F1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FE9E0-B3E0-40C2-9D86-AD074A18773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8B91F-5ACA-44AE-9BB9-3D753FF7CD43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7BAE2-925D-43C1-B08C-02798637B8B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8A67D-54F5-4557-80EE-EFEB54BBC568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69388-51B0-47D1-A0CE-32E1A9AB6A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24FE7E5-CBEE-4A83-813D-0D2346CEF295}" type="datetimeFigureOut">
              <a:rPr lang="ru-RU"/>
              <a:pPr>
                <a:defRPr/>
              </a:pPr>
              <a:t>17.10.2024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E2B9597-6DC9-40D7-9AC1-86EFB4925FF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mbri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42093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b="1" cap="all" dirty="0" err="1">
                <a:solidFill>
                  <a:srgbClr val="FF0000"/>
                </a:solidFill>
              </a:rPr>
              <a:t>домашниЕ</a:t>
            </a:r>
            <a:r>
              <a:rPr lang="ru-RU" b="1" cap="all" dirty="0">
                <a:solidFill>
                  <a:srgbClr val="FF0000"/>
                </a:solidFill>
              </a:rPr>
              <a:t>  задания</a:t>
            </a:r>
            <a:br>
              <a:rPr lang="ru-RU" b="1" cap="all" dirty="0">
                <a:solidFill>
                  <a:srgbClr val="FF0000"/>
                </a:solidFill>
              </a:rPr>
            </a:br>
            <a:r>
              <a:rPr lang="ru-RU" b="1" cap="all" dirty="0">
                <a:solidFill>
                  <a:srgbClr val="FF0000"/>
                </a:solidFill>
              </a:rPr>
              <a:t> «Арифметические основы ЭВМ»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12290" name="Picture 2" descr="http://i1.i.ua/prikol/pic/7/5/597157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71775" y="2205038"/>
            <a:ext cx="4452938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25542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b="1" cap="all" dirty="0">
                <a:solidFill>
                  <a:srgbClr val="FF0000"/>
                </a:solidFill>
                <a:latin typeface="+mn-lt"/>
              </a:rPr>
              <a:t>Задание 1</a:t>
            </a:r>
            <a:br>
              <a:rPr lang="ru-RU" sz="3200" b="1" cap="all" dirty="0">
                <a:solidFill>
                  <a:srgbClr val="FF0000"/>
                </a:solidFill>
                <a:latin typeface="+mn-lt"/>
              </a:rPr>
            </a:br>
            <a:r>
              <a:rPr lang="ru-RU" sz="3200" b="1" cap="all" dirty="0">
                <a:solidFill>
                  <a:srgbClr val="FF0000"/>
                </a:solidFill>
                <a:latin typeface="+mn-lt"/>
              </a:rPr>
              <a:t>Представление чисел с фиксированной и плавающей запятой в РАЗЛИЧНЫХ форматах </a:t>
            </a:r>
            <a:endParaRPr lang="ru-RU" sz="3200" dirty="0">
              <a:solidFill>
                <a:srgbClr val="FF0000"/>
              </a:solidFill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3200" dirty="0">
              <a:latin typeface="+mn-lt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0" y="2205038"/>
            <a:ext cx="9144000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1. Заданное число </a:t>
            </a:r>
            <a:r>
              <a:rPr lang="ru-RU" sz="3200" b="1" i="1">
                <a:latin typeface="Cambria" pitchFamily="18" charset="0"/>
              </a:rPr>
              <a:t>А</a:t>
            </a:r>
            <a:r>
              <a:rPr lang="ru-RU" sz="3200">
                <a:latin typeface="Cambria" pitchFamily="18" charset="0"/>
              </a:rPr>
              <a:t> представить в виде двоично-кодированного десятичного числа:</a:t>
            </a:r>
          </a:p>
          <a:p>
            <a:r>
              <a:rPr lang="ru-RU" sz="3200">
                <a:latin typeface="Cambria" pitchFamily="18" charset="0"/>
              </a:rPr>
              <a:t>а)  в упакованном формате (</a:t>
            </a:r>
            <a:r>
              <a:rPr lang="en-US" sz="3200">
                <a:latin typeface="Rockwell" pitchFamily="18" charset="0"/>
              </a:rPr>
              <a:t>BCD</a:t>
            </a:r>
            <a:r>
              <a:rPr lang="ru-RU" sz="3200">
                <a:latin typeface="Cambria" pitchFamily="18" charset="0"/>
              </a:rPr>
              <a:t>);</a:t>
            </a:r>
          </a:p>
          <a:p>
            <a:r>
              <a:rPr lang="ru-RU" sz="3200">
                <a:latin typeface="Cambria" pitchFamily="18" charset="0"/>
              </a:rPr>
              <a:t>б)  в неупакованном формате (</a:t>
            </a:r>
            <a:r>
              <a:rPr lang="en-US" sz="3200">
                <a:latin typeface="Rockwell" pitchFamily="18" charset="0"/>
              </a:rPr>
              <a:t>ASCII</a:t>
            </a:r>
            <a:r>
              <a:rPr lang="ru-RU" sz="3200">
                <a:latin typeface="Cambria" pitchFamily="18" charset="0"/>
              </a:rPr>
              <a:t>).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0" y="4221163"/>
            <a:ext cx="914400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b="1">
                <a:solidFill>
                  <a:srgbClr val="FF0000"/>
                </a:solidFill>
                <a:latin typeface="Cambria" pitchFamily="18" charset="0"/>
              </a:rPr>
              <a:t>Пример</a:t>
            </a:r>
            <a:r>
              <a:rPr lang="ru-RU" sz="3200" b="1" i="1">
                <a:solidFill>
                  <a:srgbClr val="FF0000"/>
                </a:solidFill>
                <a:latin typeface="Cambria" pitchFamily="18" charset="0"/>
              </a:rPr>
              <a:t>:  </a:t>
            </a:r>
            <a:r>
              <a:rPr lang="ru-RU" sz="3200" b="1" i="1">
                <a:latin typeface="Cambria" pitchFamily="18" charset="0"/>
              </a:rPr>
              <a:t>А</a:t>
            </a:r>
            <a:r>
              <a:rPr lang="ru-RU" sz="3200">
                <a:latin typeface="Cambria" pitchFamily="18" charset="0"/>
              </a:rPr>
              <a:t>=395. </a:t>
            </a:r>
          </a:p>
          <a:p>
            <a:r>
              <a:rPr lang="ru-RU" sz="3200">
                <a:latin typeface="Cambria" pitchFamily="18" charset="0"/>
              </a:rPr>
              <a:t> а) в упакованном формате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268538" y="5378450"/>
          <a:ext cx="4967287" cy="571500"/>
        </p:xfrm>
        <a:graphic>
          <a:graphicData uri="http://schemas.openxmlformats.org/drawingml/2006/table">
            <a:tbl>
              <a:tblPr/>
              <a:tblGrid>
                <a:gridCol w="232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3810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0000.0011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1001.0101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419475" y="5949950"/>
            <a:ext cx="38163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3                  9          5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б)  В ASCII-формате код цифры помещается в младшую тетраду байта (в младший полубайт). Старшая тетрада байта имеет стандартное значение 0011.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971550" y="2133600"/>
          <a:ext cx="7128792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9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3200" dirty="0"/>
                        <a:t>0011.0011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3200" dirty="0"/>
                        <a:t>0011.1001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/>
                        <a:t>0011.0101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195513" y="2852738"/>
            <a:ext cx="56165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3                            9                         5 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0" y="3284538"/>
            <a:ext cx="91440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2. Заданное число </a:t>
            </a:r>
            <a:r>
              <a:rPr lang="ru-RU" sz="3200" b="1" i="1">
                <a:latin typeface="Cambria" pitchFamily="18" charset="0"/>
              </a:rPr>
              <a:t>А</a:t>
            </a:r>
            <a:r>
              <a:rPr lang="ru-RU" sz="3200">
                <a:latin typeface="Cambria" pitchFamily="18" charset="0"/>
              </a:rPr>
              <a:t>  и </a:t>
            </a:r>
            <a:r>
              <a:rPr lang="ru-RU" sz="3200" b="1">
                <a:latin typeface="Cambria" pitchFamily="18" charset="0"/>
              </a:rPr>
              <a:t>–</a:t>
            </a:r>
            <a:r>
              <a:rPr lang="en-US" sz="3200" b="1" i="1">
                <a:latin typeface="Rockwell" pitchFamily="18" charset="0"/>
              </a:rPr>
              <a:t>A </a:t>
            </a:r>
            <a:r>
              <a:rPr lang="ru-RU" sz="3200">
                <a:latin typeface="Cambria" pitchFamily="18" charset="0"/>
              </a:rPr>
              <a:t>представить в форме с фиксированной запятой.</a:t>
            </a:r>
          </a:p>
          <a:p>
            <a:r>
              <a:rPr lang="ru-RU" sz="3200">
                <a:latin typeface="Cambria" pitchFamily="18" charset="0"/>
              </a:rPr>
              <a:t>Особенностью представления целых чисел со знаком в форме с фиксированной запятой является использование прямого кода для положительных чисел и дополнительного кода – для отрицательных чисел.</a:t>
            </a:r>
          </a:p>
          <a:p>
            <a:endParaRPr lang="ru-RU" sz="320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solidFill>
                  <a:srgbClr val="FF0000"/>
                </a:solidFill>
                <a:latin typeface="Cambria" pitchFamily="18" charset="0"/>
              </a:rPr>
              <a:t>Пример. 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= 250</a:t>
            </a:r>
          </a:p>
          <a:p>
            <a:r>
              <a:rPr lang="ru-RU" sz="3200">
                <a:latin typeface="Cambria" pitchFamily="18" charset="0"/>
              </a:rPr>
              <a:t>2.1. Заданное десятичное число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переводится в двоичную систему счисления:</a:t>
            </a:r>
          </a:p>
          <a:p>
            <a:r>
              <a:rPr lang="ru-RU" sz="3200">
                <a:latin typeface="Cambria" pitchFamily="18" charset="0"/>
              </a:rPr>
              <a:t>(250)</a:t>
            </a:r>
            <a:r>
              <a:rPr lang="ru-RU" sz="3200" baseline="-25000">
                <a:latin typeface="Cambria" pitchFamily="18" charset="0"/>
              </a:rPr>
              <a:t>10</a:t>
            </a:r>
            <a:r>
              <a:rPr lang="ru-RU" sz="3200">
                <a:latin typeface="Cambria" pitchFamily="18" charset="0"/>
              </a:rPr>
              <a:t> = (11111010)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.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0" y="1989138"/>
            <a:ext cx="9144000" cy="304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Полученное двоичное число размещается в формате таким образом, чтобы его младший разряд совпадал с крайним правым (0-ым) разрядом формата. Старшие разряды формата, включая знаковый (нулевой разряд), заполняются нулями.</a:t>
            </a:r>
          </a:p>
        </p:txBody>
      </p:sp>
      <p:sp>
        <p:nvSpPr>
          <p:cNvPr id="5124" name="Rectangle 4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mbria" pitchFamily="18" charset="0"/>
            </a:endParaRP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 bwMode="auto">
          <a:xfrm>
            <a:off x="827088" y="5084763"/>
            <a:ext cx="7950200" cy="1439862"/>
            <a:chOff x="-188" y="0"/>
            <a:chExt cx="3743" cy="1147"/>
          </a:xfrm>
        </p:grpSpPr>
        <p:sp>
          <p:nvSpPr>
            <p:cNvPr id="5126" name="AutoShape 45"/>
            <p:cNvSpPr>
              <a:spLocks noChangeAspect="1" noChangeArrowheads="1" noTextEdit="1"/>
            </p:cNvSpPr>
            <p:nvPr/>
          </p:nvSpPr>
          <p:spPr bwMode="auto">
            <a:xfrm>
              <a:off x="-188" y="0"/>
              <a:ext cx="3743" cy="1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27" name="Rectangle 44"/>
            <p:cNvSpPr>
              <a:spLocks noChangeArrowheads="1"/>
            </p:cNvSpPr>
            <p:nvPr/>
          </p:nvSpPr>
          <p:spPr bwMode="auto">
            <a:xfrm>
              <a:off x="-8" y="832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5128" name="Rectangle 43"/>
            <p:cNvSpPr>
              <a:spLocks noChangeArrowheads="1"/>
            </p:cNvSpPr>
            <p:nvPr/>
          </p:nvSpPr>
          <p:spPr bwMode="auto">
            <a:xfrm>
              <a:off x="31" y="55"/>
              <a:ext cx="146" cy="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29" name="Rectangle 42"/>
            <p:cNvSpPr>
              <a:spLocks noChangeArrowheads="1"/>
            </p:cNvSpPr>
            <p:nvPr/>
          </p:nvSpPr>
          <p:spPr bwMode="auto">
            <a:xfrm>
              <a:off x="197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0" name="Rectangle 41"/>
            <p:cNvSpPr>
              <a:spLocks noChangeArrowheads="1"/>
            </p:cNvSpPr>
            <p:nvPr/>
          </p:nvSpPr>
          <p:spPr bwMode="auto">
            <a:xfrm>
              <a:off x="239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1" name="Rectangle 40"/>
            <p:cNvSpPr>
              <a:spLocks noChangeArrowheads="1"/>
            </p:cNvSpPr>
            <p:nvPr/>
          </p:nvSpPr>
          <p:spPr bwMode="auto">
            <a:xfrm>
              <a:off x="406" y="55"/>
              <a:ext cx="167" cy="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  <a:p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2" name="Rectangle 39"/>
            <p:cNvSpPr>
              <a:spLocks noChangeArrowheads="1"/>
            </p:cNvSpPr>
            <p:nvPr/>
          </p:nvSpPr>
          <p:spPr bwMode="auto">
            <a:xfrm>
              <a:off x="448" y="55"/>
              <a:ext cx="0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5133" name="Rectangle 38"/>
            <p:cNvSpPr>
              <a:spLocks noChangeArrowheads="1"/>
            </p:cNvSpPr>
            <p:nvPr/>
          </p:nvSpPr>
          <p:spPr bwMode="auto">
            <a:xfrm>
              <a:off x="614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4" name="Rectangle 37"/>
            <p:cNvSpPr>
              <a:spLocks noChangeArrowheads="1"/>
            </p:cNvSpPr>
            <p:nvPr/>
          </p:nvSpPr>
          <p:spPr bwMode="auto">
            <a:xfrm>
              <a:off x="682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5" name="Rectangle 36"/>
            <p:cNvSpPr>
              <a:spLocks noChangeArrowheads="1"/>
            </p:cNvSpPr>
            <p:nvPr/>
          </p:nvSpPr>
          <p:spPr bwMode="auto">
            <a:xfrm>
              <a:off x="823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6" name="Rectangle 35"/>
            <p:cNvSpPr>
              <a:spLocks noChangeArrowheads="1"/>
            </p:cNvSpPr>
            <p:nvPr/>
          </p:nvSpPr>
          <p:spPr bwMode="auto">
            <a:xfrm>
              <a:off x="829" y="55"/>
              <a:ext cx="203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7" name="Rectangle 34"/>
            <p:cNvSpPr>
              <a:spLocks noChangeArrowheads="1"/>
            </p:cNvSpPr>
            <p:nvPr/>
          </p:nvSpPr>
          <p:spPr bwMode="auto">
            <a:xfrm>
              <a:off x="1031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8" name="Rectangle 33"/>
            <p:cNvSpPr>
              <a:spLocks noChangeArrowheads="1"/>
            </p:cNvSpPr>
            <p:nvPr/>
          </p:nvSpPr>
          <p:spPr bwMode="auto">
            <a:xfrm>
              <a:off x="1073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39" name="Rectangle 32"/>
            <p:cNvSpPr>
              <a:spLocks noChangeArrowheads="1"/>
            </p:cNvSpPr>
            <p:nvPr/>
          </p:nvSpPr>
          <p:spPr bwMode="auto">
            <a:xfrm>
              <a:off x="1240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0" name="Rectangle 31"/>
            <p:cNvSpPr>
              <a:spLocks noChangeArrowheads="1"/>
            </p:cNvSpPr>
            <p:nvPr/>
          </p:nvSpPr>
          <p:spPr bwMode="auto">
            <a:xfrm>
              <a:off x="1281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1" name="Rectangle 30"/>
            <p:cNvSpPr>
              <a:spLocks noChangeArrowheads="1"/>
            </p:cNvSpPr>
            <p:nvPr/>
          </p:nvSpPr>
          <p:spPr bwMode="auto">
            <a:xfrm>
              <a:off x="1448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2" name="Rectangle 29"/>
            <p:cNvSpPr>
              <a:spLocks noChangeArrowheads="1"/>
            </p:cNvSpPr>
            <p:nvPr/>
          </p:nvSpPr>
          <p:spPr bwMode="auto">
            <a:xfrm>
              <a:off x="1490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3" name="Rectangle 28"/>
            <p:cNvSpPr>
              <a:spLocks noChangeArrowheads="1"/>
            </p:cNvSpPr>
            <p:nvPr/>
          </p:nvSpPr>
          <p:spPr bwMode="auto">
            <a:xfrm>
              <a:off x="1657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4" name="Rectangle 27"/>
            <p:cNvSpPr>
              <a:spLocks noChangeArrowheads="1"/>
            </p:cNvSpPr>
            <p:nvPr/>
          </p:nvSpPr>
          <p:spPr bwMode="auto">
            <a:xfrm>
              <a:off x="1698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5" name="Rectangle 26"/>
            <p:cNvSpPr>
              <a:spLocks noChangeArrowheads="1"/>
            </p:cNvSpPr>
            <p:nvPr/>
          </p:nvSpPr>
          <p:spPr bwMode="auto">
            <a:xfrm>
              <a:off x="1865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6" name="Rectangle 25"/>
            <p:cNvSpPr>
              <a:spLocks noChangeArrowheads="1"/>
            </p:cNvSpPr>
            <p:nvPr/>
          </p:nvSpPr>
          <p:spPr bwMode="auto">
            <a:xfrm>
              <a:off x="1907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7" name="Rectangle 24"/>
            <p:cNvSpPr>
              <a:spLocks noChangeArrowheads="1"/>
            </p:cNvSpPr>
            <p:nvPr/>
          </p:nvSpPr>
          <p:spPr bwMode="auto">
            <a:xfrm>
              <a:off x="2074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8" name="Rectangle 23"/>
            <p:cNvSpPr>
              <a:spLocks noChangeArrowheads="1"/>
            </p:cNvSpPr>
            <p:nvPr/>
          </p:nvSpPr>
          <p:spPr bwMode="auto">
            <a:xfrm>
              <a:off x="2115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49" name="Rectangle 22"/>
            <p:cNvSpPr>
              <a:spLocks noChangeArrowheads="1"/>
            </p:cNvSpPr>
            <p:nvPr/>
          </p:nvSpPr>
          <p:spPr bwMode="auto">
            <a:xfrm>
              <a:off x="2282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0" name="Rectangle 21"/>
            <p:cNvSpPr>
              <a:spLocks noChangeArrowheads="1"/>
            </p:cNvSpPr>
            <p:nvPr/>
          </p:nvSpPr>
          <p:spPr bwMode="auto">
            <a:xfrm>
              <a:off x="2350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1" name="Rectangle 20"/>
            <p:cNvSpPr>
              <a:spLocks noChangeArrowheads="1"/>
            </p:cNvSpPr>
            <p:nvPr/>
          </p:nvSpPr>
          <p:spPr bwMode="auto">
            <a:xfrm>
              <a:off x="2490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2" name="Rectangle 19"/>
            <p:cNvSpPr>
              <a:spLocks noChangeArrowheads="1"/>
            </p:cNvSpPr>
            <p:nvPr/>
          </p:nvSpPr>
          <p:spPr bwMode="auto">
            <a:xfrm>
              <a:off x="2532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3" name="Rectangle 18"/>
            <p:cNvSpPr>
              <a:spLocks noChangeArrowheads="1"/>
            </p:cNvSpPr>
            <p:nvPr/>
          </p:nvSpPr>
          <p:spPr bwMode="auto">
            <a:xfrm>
              <a:off x="2699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4" name="Rectangle 17"/>
            <p:cNvSpPr>
              <a:spLocks noChangeArrowheads="1"/>
            </p:cNvSpPr>
            <p:nvPr/>
          </p:nvSpPr>
          <p:spPr bwMode="auto">
            <a:xfrm>
              <a:off x="2741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5" name="Rectangle 16"/>
            <p:cNvSpPr>
              <a:spLocks noChangeArrowheads="1"/>
            </p:cNvSpPr>
            <p:nvPr/>
          </p:nvSpPr>
          <p:spPr bwMode="auto">
            <a:xfrm>
              <a:off x="2907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6" name="Rectangle 15"/>
            <p:cNvSpPr>
              <a:spLocks noChangeArrowheads="1"/>
            </p:cNvSpPr>
            <p:nvPr/>
          </p:nvSpPr>
          <p:spPr bwMode="auto">
            <a:xfrm>
              <a:off x="2949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7" name="Rectangle 14"/>
            <p:cNvSpPr>
              <a:spLocks noChangeArrowheads="1"/>
            </p:cNvSpPr>
            <p:nvPr/>
          </p:nvSpPr>
          <p:spPr bwMode="auto">
            <a:xfrm>
              <a:off x="3116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8" name="Rectangle 13"/>
            <p:cNvSpPr>
              <a:spLocks noChangeArrowheads="1"/>
            </p:cNvSpPr>
            <p:nvPr/>
          </p:nvSpPr>
          <p:spPr bwMode="auto">
            <a:xfrm>
              <a:off x="3158" y="55"/>
              <a:ext cx="116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59" name="Rectangle 12"/>
            <p:cNvSpPr>
              <a:spLocks noChangeArrowheads="1"/>
            </p:cNvSpPr>
            <p:nvPr/>
          </p:nvSpPr>
          <p:spPr bwMode="auto">
            <a:xfrm>
              <a:off x="3324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5160" name="Line 11"/>
            <p:cNvSpPr>
              <a:spLocks noChangeShapeType="1"/>
            </p:cNvSpPr>
            <p:nvPr/>
          </p:nvSpPr>
          <p:spPr bwMode="auto">
            <a:xfrm>
              <a:off x="8" y="8"/>
              <a:ext cx="1" cy="41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61" name="Line 10"/>
            <p:cNvSpPr>
              <a:spLocks noChangeShapeType="1"/>
            </p:cNvSpPr>
            <p:nvPr/>
          </p:nvSpPr>
          <p:spPr bwMode="auto">
            <a:xfrm>
              <a:off x="220" y="8"/>
              <a:ext cx="1" cy="41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62" name="Line 9"/>
            <p:cNvSpPr>
              <a:spLocks noChangeShapeType="1"/>
            </p:cNvSpPr>
            <p:nvPr/>
          </p:nvSpPr>
          <p:spPr bwMode="auto">
            <a:xfrm>
              <a:off x="8" y="8"/>
              <a:ext cx="3339" cy="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63" name="Line 8"/>
            <p:cNvSpPr>
              <a:spLocks noChangeShapeType="1"/>
            </p:cNvSpPr>
            <p:nvPr/>
          </p:nvSpPr>
          <p:spPr bwMode="auto">
            <a:xfrm>
              <a:off x="3347" y="8"/>
              <a:ext cx="1" cy="41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64" name="Line 7"/>
            <p:cNvSpPr>
              <a:spLocks noChangeShapeType="1"/>
            </p:cNvSpPr>
            <p:nvPr/>
          </p:nvSpPr>
          <p:spPr bwMode="auto">
            <a:xfrm>
              <a:off x="8" y="419"/>
              <a:ext cx="3339" cy="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165" name="Rectangle 6"/>
            <p:cNvSpPr>
              <a:spLocks noChangeArrowheads="1"/>
            </p:cNvSpPr>
            <p:nvPr/>
          </p:nvSpPr>
          <p:spPr bwMode="auto">
            <a:xfrm>
              <a:off x="-8" y="540"/>
              <a:ext cx="333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ru-RU" sz="3200">
                  <a:solidFill>
                    <a:srgbClr val="000000"/>
                  </a:solidFill>
                  <a:cs typeface="Times New Roman" pitchFamily="18" charset="0"/>
                </a:rPr>
                <a:t>15</a:t>
              </a:r>
              <a:endParaRPr lang="ru-RU" sz="3200"/>
            </a:p>
          </p:txBody>
        </p:sp>
        <p:sp>
          <p:nvSpPr>
            <p:cNvPr id="5166" name="Rectangle 5"/>
            <p:cNvSpPr>
              <a:spLocks noChangeArrowheads="1"/>
            </p:cNvSpPr>
            <p:nvPr/>
          </p:nvSpPr>
          <p:spPr bwMode="auto">
            <a:xfrm>
              <a:off x="183" y="47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5167" name="Rectangle 4"/>
            <p:cNvSpPr>
              <a:spLocks noChangeArrowheads="1"/>
            </p:cNvSpPr>
            <p:nvPr/>
          </p:nvSpPr>
          <p:spPr bwMode="auto">
            <a:xfrm>
              <a:off x="395" y="47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5168" name="Rectangle 3"/>
            <p:cNvSpPr>
              <a:spLocks noChangeArrowheads="1"/>
            </p:cNvSpPr>
            <p:nvPr/>
          </p:nvSpPr>
          <p:spPr bwMode="auto">
            <a:xfrm>
              <a:off x="2931" y="512"/>
              <a:ext cx="398" cy="3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ru-RU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r>
                <a:rPr lang="en-US" sz="3200">
                  <a:solidFill>
                    <a:srgbClr val="000000"/>
                  </a:solidFill>
                  <a:cs typeface="Times New Roman" pitchFamily="18" charset="0"/>
                </a:rPr>
                <a:t>1 </a:t>
              </a:r>
              <a:r>
                <a:rPr lang="ru-RU" sz="3200">
                  <a:solidFill>
                    <a:srgbClr val="000000"/>
                  </a:solidFill>
                  <a:cs typeface="Times New Roman" pitchFamily="18" charset="0"/>
                </a:rPr>
                <a:t>  </a:t>
              </a:r>
              <a:r>
                <a:rPr lang="en-US" sz="3200">
                  <a:solidFill>
                    <a:srgbClr val="000000"/>
                  </a:solidFill>
                  <a:cs typeface="Times New Roman" pitchFamily="18" charset="0"/>
                </a:rPr>
                <a:t>0</a:t>
              </a:r>
              <a:endParaRPr lang="en-US" sz="3200"/>
            </a:p>
          </p:txBody>
        </p:sp>
        <p:sp>
          <p:nvSpPr>
            <p:cNvPr id="5169" name="Rectangle 2"/>
            <p:cNvSpPr>
              <a:spLocks noChangeArrowheads="1"/>
            </p:cNvSpPr>
            <p:nvPr/>
          </p:nvSpPr>
          <p:spPr bwMode="auto">
            <a:xfrm>
              <a:off x="3380" y="47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2.2. Для представления отрицательного числа в дополнительном  коде производится инверти-рование цифровых разрядов прямого кода (по-лучение обратного кода числа) с добавлением единицы в младший разряд. В знаковый разряд числа заносится единица (знак “–”).</a:t>
            </a:r>
          </a:p>
        </p:txBody>
      </p:sp>
      <p:sp>
        <p:nvSpPr>
          <p:cNvPr id="6147" name="TextBox 2"/>
          <p:cNvSpPr txBox="1">
            <a:spLocks noChangeArrowheads="1"/>
          </p:cNvSpPr>
          <p:nvPr/>
        </p:nvSpPr>
        <p:spPr bwMode="auto">
          <a:xfrm>
            <a:off x="0" y="2924175"/>
            <a:ext cx="9144000" cy="255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[–</a:t>
            </a:r>
            <a:r>
              <a:rPr lang="en-US" sz="3200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]</a:t>
            </a:r>
            <a:r>
              <a:rPr lang="ru-RU" sz="3200" baseline="-25000">
                <a:latin typeface="Cambria" pitchFamily="18" charset="0"/>
              </a:rPr>
              <a:t>пр</a:t>
            </a:r>
            <a:r>
              <a:rPr lang="ru-RU" sz="3200">
                <a:latin typeface="Cambria" pitchFamily="18" charset="0"/>
              </a:rPr>
              <a:t> = 1.000 0000 1111 1010 – прямой код,</a:t>
            </a:r>
          </a:p>
          <a:p>
            <a:r>
              <a:rPr lang="ru-RU" sz="3200">
                <a:latin typeface="Cambria" pitchFamily="18" charset="0"/>
              </a:rPr>
              <a:t>[–</a:t>
            </a:r>
            <a:r>
              <a:rPr lang="ru-RU" sz="3200" i="1">
                <a:latin typeface="Cambria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]</a:t>
            </a:r>
            <a:r>
              <a:rPr lang="ru-RU" sz="3200" baseline="-25000">
                <a:latin typeface="Cambria" pitchFamily="18" charset="0"/>
              </a:rPr>
              <a:t>об</a:t>
            </a:r>
            <a:r>
              <a:rPr lang="ru-RU" sz="3200">
                <a:latin typeface="Cambria" pitchFamily="18" charset="0"/>
              </a:rPr>
              <a:t> = 1.111 1111 0000 0101 – обратный код,</a:t>
            </a:r>
          </a:p>
          <a:p>
            <a:r>
              <a:rPr lang="ru-RU" sz="3200">
                <a:latin typeface="Cambria" pitchFamily="18" charset="0"/>
              </a:rPr>
              <a:t>   </a:t>
            </a:r>
            <a:r>
              <a:rPr lang="ru-RU" sz="3200" u="sng">
                <a:latin typeface="Cambria" pitchFamily="18" charset="0"/>
              </a:rPr>
              <a:t>           +   	                                      1</a:t>
            </a:r>
            <a:endParaRPr lang="ru-RU" sz="3200">
              <a:latin typeface="Cambria" pitchFamily="18" charset="0"/>
            </a:endParaRPr>
          </a:p>
          <a:p>
            <a:r>
              <a:rPr lang="ru-RU" sz="3200">
                <a:latin typeface="Cambria" pitchFamily="18" charset="0"/>
              </a:rPr>
              <a:t>[–</a:t>
            </a:r>
            <a:r>
              <a:rPr lang="ru-RU" sz="3200" i="1">
                <a:latin typeface="Cambria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]</a:t>
            </a:r>
            <a:r>
              <a:rPr lang="ru-RU" sz="3200" baseline="-25000">
                <a:latin typeface="Cambria" pitchFamily="18" charset="0"/>
              </a:rPr>
              <a:t>доп</a:t>
            </a:r>
            <a:r>
              <a:rPr lang="ru-RU" sz="3200">
                <a:latin typeface="Cambria" pitchFamily="18" charset="0"/>
              </a:rPr>
              <a:t> = 1.111 1111 0000 0110 – дополнительный  код.</a:t>
            </a:r>
          </a:p>
        </p:txBody>
      </p:sp>
      <p:sp>
        <p:nvSpPr>
          <p:cNvPr id="6148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mbria" pitchFamily="18" charset="0"/>
            </a:endParaRPr>
          </a:p>
        </p:txBody>
      </p:sp>
      <p:grpSp>
        <p:nvGrpSpPr>
          <p:cNvPr id="6149" name="Group 1"/>
          <p:cNvGrpSpPr>
            <a:grpSpLocks noChangeAspect="1"/>
          </p:cNvGrpSpPr>
          <p:nvPr/>
        </p:nvGrpSpPr>
        <p:grpSpPr bwMode="auto">
          <a:xfrm>
            <a:off x="682625" y="5372100"/>
            <a:ext cx="7132638" cy="1585913"/>
            <a:chOff x="-271" y="-77"/>
            <a:chExt cx="4500" cy="1221"/>
          </a:xfrm>
        </p:grpSpPr>
        <p:sp>
          <p:nvSpPr>
            <p:cNvPr id="6150" name="AutoShape 46"/>
            <p:cNvSpPr>
              <a:spLocks noChangeAspect="1" noChangeArrowheads="1" noTextEdit="1"/>
            </p:cNvSpPr>
            <p:nvPr/>
          </p:nvSpPr>
          <p:spPr bwMode="auto">
            <a:xfrm>
              <a:off x="-271" y="-77"/>
              <a:ext cx="4500" cy="1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51" name="Rectangle 45"/>
            <p:cNvSpPr>
              <a:spLocks noChangeArrowheads="1"/>
            </p:cNvSpPr>
            <p:nvPr/>
          </p:nvSpPr>
          <p:spPr bwMode="auto">
            <a:xfrm>
              <a:off x="-6" y="829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6152" name="Rectangle 44"/>
            <p:cNvSpPr>
              <a:spLocks noChangeArrowheads="1"/>
            </p:cNvSpPr>
            <p:nvPr/>
          </p:nvSpPr>
          <p:spPr bwMode="auto">
            <a:xfrm>
              <a:off x="33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3" name="Rectangle 43"/>
            <p:cNvSpPr>
              <a:spLocks noChangeArrowheads="1"/>
            </p:cNvSpPr>
            <p:nvPr/>
          </p:nvSpPr>
          <p:spPr bwMode="auto">
            <a:xfrm>
              <a:off x="200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4" name="Rectangle 42"/>
            <p:cNvSpPr>
              <a:spLocks noChangeArrowheads="1"/>
            </p:cNvSpPr>
            <p:nvPr/>
          </p:nvSpPr>
          <p:spPr bwMode="auto">
            <a:xfrm>
              <a:off x="242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5" name="Rectangle 41"/>
            <p:cNvSpPr>
              <a:spLocks noChangeArrowheads="1"/>
            </p:cNvSpPr>
            <p:nvPr/>
          </p:nvSpPr>
          <p:spPr bwMode="auto">
            <a:xfrm>
              <a:off x="409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6" name="Rectangle 40"/>
            <p:cNvSpPr>
              <a:spLocks noChangeArrowheads="1"/>
            </p:cNvSpPr>
            <p:nvPr/>
          </p:nvSpPr>
          <p:spPr bwMode="auto">
            <a:xfrm>
              <a:off x="451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7" name="Rectangle 39"/>
            <p:cNvSpPr>
              <a:spLocks noChangeArrowheads="1"/>
            </p:cNvSpPr>
            <p:nvPr/>
          </p:nvSpPr>
          <p:spPr bwMode="auto">
            <a:xfrm>
              <a:off x="618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8" name="Rectangle 38"/>
            <p:cNvSpPr>
              <a:spLocks noChangeArrowheads="1"/>
            </p:cNvSpPr>
            <p:nvPr/>
          </p:nvSpPr>
          <p:spPr bwMode="auto">
            <a:xfrm>
              <a:off x="660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59" name="Rectangle 37"/>
            <p:cNvSpPr>
              <a:spLocks noChangeArrowheads="1"/>
            </p:cNvSpPr>
            <p:nvPr/>
          </p:nvSpPr>
          <p:spPr bwMode="auto">
            <a:xfrm>
              <a:off x="827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0" name="Rectangle 36"/>
            <p:cNvSpPr>
              <a:spLocks noChangeArrowheads="1"/>
            </p:cNvSpPr>
            <p:nvPr/>
          </p:nvSpPr>
          <p:spPr bwMode="auto">
            <a:xfrm>
              <a:off x="1078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1" name="Rectangle 35"/>
            <p:cNvSpPr>
              <a:spLocks noChangeArrowheads="1"/>
            </p:cNvSpPr>
            <p:nvPr/>
          </p:nvSpPr>
          <p:spPr bwMode="auto">
            <a:xfrm>
              <a:off x="1245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2" name="Rectangle 34"/>
            <p:cNvSpPr>
              <a:spLocks noChangeArrowheads="1"/>
            </p:cNvSpPr>
            <p:nvPr/>
          </p:nvSpPr>
          <p:spPr bwMode="auto">
            <a:xfrm>
              <a:off x="1286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3" name="Rectangle 33"/>
            <p:cNvSpPr>
              <a:spLocks noChangeArrowheads="1"/>
            </p:cNvSpPr>
            <p:nvPr/>
          </p:nvSpPr>
          <p:spPr bwMode="auto">
            <a:xfrm>
              <a:off x="1453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4" name="Rectangle 32"/>
            <p:cNvSpPr>
              <a:spLocks noChangeArrowheads="1"/>
            </p:cNvSpPr>
            <p:nvPr/>
          </p:nvSpPr>
          <p:spPr bwMode="auto">
            <a:xfrm>
              <a:off x="1495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5" name="Rectangle 31"/>
            <p:cNvSpPr>
              <a:spLocks noChangeArrowheads="1"/>
            </p:cNvSpPr>
            <p:nvPr/>
          </p:nvSpPr>
          <p:spPr bwMode="auto">
            <a:xfrm>
              <a:off x="1662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6" name="Rectangle 30"/>
            <p:cNvSpPr>
              <a:spLocks noChangeArrowheads="1"/>
            </p:cNvSpPr>
            <p:nvPr/>
          </p:nvSpPr>
          <p:spPr bwMode="auto">
            <a:xfrm>
              <a:off x="1704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7" name="Rectangle 29"/>
            <p:cNvSpPr>
              <a:spLocks noChangeArrowheads="1"/>
            </p:cNvSpPr>
            <p:nvPr/>
          </p:nvSpPr>
          <p:spPr bwMode="auto">
            <a:xfrm>
              <a:off x="1871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8" name="Rectangle 28"/>
            <p:cNvSpPr>
              <a:spLocks noChangeArrowheads="1"/>
            </p:cNvSpPr>
            <p:nvPr/>
          </p:nvSpPr>
          <p:spPr bwMode="auto">
            <a:xfrm>
              <a:off x="2122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69" name="Rectangle 27"/>
            <p:cNvSpPr>
              <a:spLocks noChangeArrowheads="1"/>
            </p:cNvSpPr>
            <p:nvPr/>
          </p:nvSpPr>
          <p:spPr bwMode="auto">
            <a:xfrm>
              <a:off x="2289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0" name="Rectangle 26"/>
            <p:cNvSpPr>
              <a:spLocks noChangeArrowheads="1"/>
            </p:cNvSpPr>
            <p:nvPr/>
          </p:nvSpPr>
          <p:spPr bwMode="auto">
            <a:xfrm>
              <a:off x="2331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1" name="Rectangle 25"/>
            <p:cNvSpPr>
              <a:spLocks noChangeArrowheads="1"/>
            </p:cNvSpPr>
            <p:nvPr/>
          </p:nvSpPr>
          <p:spPr bwMode="auto">
            <a:xfrm>
              <a:off x="2498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2" name="Rectangle 24"/>
            <p:cNvSpPr>
              <a:spLocks noChangeArrowheads="1"/>
            </p:cNvSpPr>
            <p:nvPr/>
          </p:nvSpPr>
          <p:spPr bwMode="auto">
            <a:xfrm>
              <a:off x="2539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3" name="Rectangle 23"/>
            <p:cNvSpPr>
              <a:spLocks noChangeArrowheads="1"/>
            </p:cNvSpPr>
            <p:nvPr/>
          </p:nvSpPr>
          <p:spPr bwMode="auto">
            <a:xfrm>
              <a:off x="2706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4" name="Rectangle 22"/>
            <p:cNvSpPr>
              <a:spLocks noChangeArrowheads="1"/>
            </p:cNvSpPr>
            <p:nvPr/>
          </p:nvSpPr>
          <p:spPr bwMode="auto">
            <a:xfrm>
              <a:off x="2748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5" name="Rectangle 21"/>
            <p:cNvSpPr>
              <a:spLocks noChangeArrowheads="1"/>
            </p:cNvSpPr>
            <p:nvPr/>
          </p:nvSpPr>
          <p:spPr bwMode="auto">
            <a:xfrm>
              <a:off x="2915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6" name="Rectangle 20"/>
            <p:cNvSpPr>
              <a:spLocks noChangeArrowheads="1"/>
            </p:cNvSpPr>
            <p:nvPr/>
          </p:nvSpPr>
          <p:spPr bwMode="auto">
            <a:xfrm>
              <a:off x="3166" y="55"/>
              <a:ext cx="136" cy="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28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7" name="Rectangle 19"/>
            <p:cNvSpPr>
              <a:spLocks noChangeArrowheads="1"/>
            </p:cNvSpPr>
            <p:nvPr/>
          </p:nvSpPr>
          <p:spPr bwMode="auto">
            <a:xfrm>
              <a:off x="3333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8" name="Rectangle 18"/>
            <p:cNvSpPr>
              <a:spLocks noChangeArrowheads="1"/>
            </p:cNvSpPr>
            <p:nvPr/>
          </p:nvSpPr>
          <p:spPr bwMode="auto">
            <a:xfrm>
              <a:off x="3375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79" name="Rectangle 17"/>
            <p:cNvSpPr>
              <a:spLocks noChangeArrowheads="1"/>
            </p:cNvSpPr>
            <p:nvPr/>
          </p:nvSpPr>
          <p:spPr bwMode="auto">
            <a:xfrm>
              <a:off x="3542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80" name="Rectangle 16"/>
            <p:cNvSpPr>
              <a:spLocks noChangeArrowheads="1"/>
            </p:cNvSpPr>
            <p:nvPr/>
          </p:nvSpPr>
          <p:spPr bwMode="auto">
            <a:xfrm>
              <a:off x="3584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1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81" name="Rectangle 15"/>
            <p:cNvSpPr>
              <a:spLocks noChangeArrowheads="1"/>
            </p:cNvSpPr>
            <p:nvPr/>
          </p:nvSpPr>
          <p:spPr bwMode="auto">
            <a:xfrm>
              <a:off x="3751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82" name="Rectangle 14"/>
            <p:cNvSpPr>
              <a:spLocks noChangeArrowheads="1"/>
            </p:cNvSpPr>
            <p:nvPr/>
          </p:nvSpPr>
          <p:spPr bwMode="auto">
            <a:xfrm>
              <a:off x="3792" y="55"/>
              <a:ext cx="156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83" name="Rectangle 13"/>
            <p:cNvSpPr>
              <a:spLocks noChangeArrowheads="1"/>
            </p:cNvSpPr>
            <p:nvPr/>
          </p:nvSpPr>
          <p:spPr bwMode="auto">
            <a:xfrm>
              <a:off x="3959" y="5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6184" name="Line 12"/>
            <p:cNvSpPr>
              <a:spLocks noChangeShapeType="1"/>
            </p:cNvSpPr>
            <p:nvPr/>
          </p:nvSpPr>
          <p:spPr bwMode="auto">
            <a:xfrm>
              <a:off x="8" y="8"/>
              <a:ext cx="1" cy="41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85" name="Line 11"/>
            <p:cNvSpPr>
              <a:spLocks noChangeShapeType="1"/>
            </p:cNvSpPr>
            <p:nvPr/>
          </p:nvSpPr>
          <p:spPr bwMode="auto">
            <a:xfrm>
              <a:off x="223" y="8"/>
              <a:ext cx="1" cy="41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86" name="Line 10"/>
            <p:cNvSpPr>
              <a:spLocks noChangeShapeType="1"/>
            </p:cNvSpPr>
            <p:nvPr/>
          </p:nvSpPr>
          <p:spPr bwMode="auto">
            <a:xfrm>
              <a:off x="8" y="8"/>
              <a:ext cx="3974" cy="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87" name="Line 9"/>
            <p:cNvSpPr>
              <a:spLocks noChangeShapeType="1"/>
            </p:cNvSpPr>
            <p:nvPr/>
          </p:nvSpPr>
          <p:spPr bwMode="auto">
            <a:xfrm>
              <a:off x="3982" y="8"/>
              <a:ext cx="1" cy="41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88" name="Line 8"/>
            <p:cNvSpPr>
              <a:spLocks noChangeShapeType="1"/>
            </p:cNvSpPr>
            <p:nvPr/>
          </p:nvSpPr>
          <p:spPr bwMode="auto">
            <a:xfrm>
              <a:off x="8" y="419"/>
              <a:ext cx="3974" cy="1"/>
            </a:xfrm>
            <a:prstGeom prst="line">
              <a:avLst/>
            </a:pr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6189" name="Rectangle 7"/>
            <p:cNvSpPr>
              <a:spLocks noChangeArrowheads="1"/>
            </p:cNvSpPr>
            <p:nvPr/>
          </p:nvSpPr>
          <p:spPr bwMode="auto">
            <a:xfrm>
              <a:off x="0" y="540"/>
              <a:ext cx="287" cy="3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ru-RU" sz="3200">
                  <a:solidFill>
                    <a:srgbClr val="000000"/>
                  </a:solidFill>
                  <a:cs typeface="Times New Roman" pitchFamily="18" charset="0"/>
                </a:rPr>
                <a:t>15</a:t>
              </a:r>
              <a:endParaRPr lang="ru-RU" sz="3200"/>
            </a:p>
          </p:txBody>
        </p:sp>
        <p:sp>
          <p:nvSpPr>
            <p:cNvPr id="6190" name="Rectangle 6"/>
            <p:cNvSpPr>
              <a:spLocks noChangeArrowheads="1"/>
            </p:cNvSpPr>
            <p:nvPr/>
          </p:nvSpPr>
          <p:spPr bwMode="auto">
            <a:xfrm>
              <a:off x="187" y="47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6191" name="Rectangle 5"/>
            <p:cNvSpPr>
              <a:spLocks noChangeArrowheads="1"/>
            </p:cNvSpPr>
            <p:nvPr/>
          </p:nvSpPr>
          <p:spPr bwMode="auto">
            <a:xfrm>
              <a:off x="180" y="540"/>
              <a:ext cx="105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ru-RU"/>
            </a:p>
          </p:txBody>
        </p:sp>
        <p:sp>
          <p:nvSpPr>
            <p:cNvPr id="6192" name="Rectangle 4"/>
            <p:cNvSpPr>
              <a:spLocks noChangeArrowheads="1"/>
            </p:cNvSpPr>
            <p:nvPr/>
          </p:nvSpPr>
          <p:spPr bwMode="auto">
            <a:xfrm>
              <a:off x="398" y="47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6193" name="Rectangle 3"/>
            <p:cNvSpPr>
              <a:spLocks noChangeArrowheads="1"/>
            </p:cNvSpPr>
            <p:nvPr/>
          </p:nvSpPr>
          <p:spPr bwMode="auto">
            <a:xfrm>
              <a:off x="3551" y="478"/>
              <a:ext cx="540" cy="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r>
                <a:rPr lang="ru-RU" sz="1200">
                  <a:cs typeface="Times New Roman" pitchFamily="18" charset="0"/>
                </a:rPr>
                <a:t> </a:t>
              </a:r>
              <a:r>
                <a:rPr lang="ru-RU" sz="3200" b="1">
                  <a:cs typeface="Times New Roman" pitchFamily="18" charset="0"/>
                </a:rPr>
                <a:t>1</a:t>
              </a:r>
              <a:r>
                <a:rPr lang="ru-RU" b="1">
                  <a:cs typeface="Times New Roman" pitchFamily="18" charset="0"/>
                </a:rPr>
                <a:t>  </a:t>
              </a:r>
              <a:r>
                <a:rPr lang="ru-RU" sz="3200" b="1">
                  <a:cs typeface="Times New Roman" pitchFamily="18" charset="0"/>
                </a:rPr>
                <a:t>0</a:t>
              </a:r>
              <a:endParaRPr lang="ru-RU" sz="3200"/>
            </a:p>
          </p:txBody>
        </p:sp>
        <p:sp>
          <p:nvSpPr>
            <p:cNvPr id="6194" name="Rectangle 2"/>
            <p:cNvSpPr>
              <a:spLocks noChangeArrowheads="1"/>
            </p:cNvSpPr>
            <p:nvPr/>
          </p:nvSpPr>
          <p:spPr bwMode="auto">
            <a:xfrm>
              <a:off x="4015" y="47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3. Заданные числа </a:t>
            </a:r>
            <a:r>
              <a:rPr lang="ru-RU" sz="3200" b="1" i="1">
                <a:latin typeface="Cambria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и </a:t>
            </a:r>
            <a:r>
              <a:rPr lang="ru-RU" sz="3200" b="1" i="1">
                <a:latin typeface="Cambria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 представить в форме с плавающей запятой в формате Ф1.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0" y="981075"/>
            <a:ext cx="9144000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Формат, используемый в компьютерах типа Main Frame и в суперЭВМ будем называть </a:t>
            </a:r>
            <a:r>
              <a:rPr lang="ru-RU" sz="3200" b="1" i="1">
                <a:latin typeface="Cambria" pitchFamily="18" charset="0"/>
              </a:rPr>
              <a:t> </a:t>
            </a:r>
            <a:r>
              <a:rPr lang="ru-RU" sz="3200" b="1" i="1">
                <a:solidFill>
                  <a:srgbClr val="FF0000"/>
                </a:solidFill>
                <a:latin typeface="Cambria" pitchFamily="18" charset="0"/>
              </a:rPr>
              <a:t>фор-матом Ф1; </a:t>
            </a:r>
            <a:r>
              <a:rPr lang="ru-RU" sz="3200">
                <a:latin typeface="Cambria" pitchFamily="18" charset="0"/>
              </a:rPr>
              <a:t>формат, используемый в микро-ЭВМ (ЭВМ семейства </a:t>
            </a:r>
            <a:r>
              <a:rPr lang="en-US" sz="3200">
                <a:latin typeface="Rockwell" pitchFamily="18" charset="0"/>
              </a:rPr>
              <a:t>VAX</a:t>
            </a:r>
            <a:r>
              <a:rPr lang="ru-RU" sz="3200">
                <a:latin typeface="Cambria" pitchFamily="18" charset="0"/>
              </a:rPr>
              <a:t>) – </a:t>
            </a:r>
            <a:r>
              <a:rPr lang="ru-RU" sz="3200" b="1" i="1">
                <a:solidFill>
                  <a:srgbClr val="FF0000"/>
                </a:solidFill>
                <a:latin typeface="Cambria" pitchFamily="18" charset="0"/>
              </a:rPr>
              <a:t>форматом Ф2</a:t>
            </a:r>
            <a:r>
              <a:rPr lang="ru-RU" sz="3200">
                <a:latin typeface="Cambria" pitchFamily="18" charset="0"/>
              </a:rPr>
              <a:t>; формат, используемый в ПК (стандарт IEEE-754) – </a:t>
            </a:r>
            <a:r>
              <a:rPr lang="ru-RU" sz="3200" b="1" i="1">
                <a:latin typeface="Cambria" pitchFamily="18" charset="0"/>
              </a:rPr>
              <a:t> </a:t>
            </a:r>
            <a:r>
              <a:rPr lang="ru-RU" sz="3200" b="1" i="1">
                <a:solidFill>
                  <a:srgbClr val="FF0000"/>
                </a:solidFill>
                <a:latin typeface="Cambria" pitchFamily="18" charset="0"/>
              </a:rPr>
              <a:t>форматом Ф3.</a:t>
            </a:r>
            <a:endParaRPr lang="ru-RU" sz="3200">
              <a:latin typeface="Cambria" pitchFamily="18" charset="0"/>
            </a:endParaRPr>
          </a:p>
        </p:txBody>
      </p:sp>
      <p:sp>
        <p:nvSpPr>
          <p:cNvPr id="7172" name="TextBox 3"/>
          <p:cNvSpPr txBox="1">
            <a:spLocks noChangeArrowheads="1"/>
          </p:cNvSpPr>
          <p:nvPr/>
        </p:nvSpPr>
        <p:spPr bwMode="auto">
          <a:xfrm>
            <a:off x="0" y="3933825"/>
            <a:ext cx="9144000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Для представления числа в формате с плаваю-щей запятой определяется его мантисса и поря-док. В формате Ф1  используется шестнадцате-ричное представление порядка, для этой цели удобнее использовать шестнадцатеричное представление числа.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1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488" y="0"/>
            <a:ext cx="9053512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TextBox 3"/>
          <p:cNvSpPr txBox="1">
            <a:spLocks noChangeArrowheads="1"/>
          </p:cNvSpPr>
          <p:nvPr/>
        </p:nvSpPr>
        <p:spPr bwMode="auto">
          <a:xfrm>
            <a:off x="0" y="1557338"/>
            <a:ext cx="91440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Характеристика числа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:</a:t>
            </a:r>
          </a:p>
          <a:p>
            <a:r>
              <a:rPr lang="en-US" sz="3200" i="1">
                <a:latin typeface="Rockwell" pitchFamily="18" charset="0"/>
              </a:rPr>
              <a:t>X</a:t>
            </a:r>
            <a:r>
              <a:rPr lang="en-US" sz="3200" i="1" baseline="-25000">
                <a:latin typeface="Rockwell" pitchFamily="18" charset="0"/>
              </a:rPr>
              <a:t>A</a:t>
            </a:r>
            <a:r>
              <a:rPr lang="ru-RU" sz="3200" i="1">
                <a:latin typeface="Cambria" pitchFamily="18" charset="0"/>
              </a:rPr>
              <a:t> = </a:t>
            </a:r>
            <a:r>
              <a:rPr lang="en-US" sz="3200" i="1">
                <a:latin typeface="Rockwell" pitchFamily="18" charset="0"/>
              </a:rPr>
              <a:t>P</a:t>
            </a:r>
            <a:r>
              <a:rPr lang="en-US" sz="3200" i="1" baseline="-25000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+</a:t>
            </a:r>
            <a:r>
              <a:rPr lang="en-US" sz="3200" i="1">
                <a:latin typeface="Rockwell" pitchFamily="18" charset="0"/>
              </a:rPr>
              <a:t> d = </a:t>
            </a:r>
            <a:r>
              <a:rPr lang="en-US" sz="3200">
                <a:latin typeface="Rockwell" pitchFamily="18" charset="0"/>
              </a:rPr>
              <a:t>2 </a:t>
            </a:r>
            <a:r>
              <a:rPr lang="en-US" sz="3200" i="1">
                <a:latin typeface="Rockwell" pitchFamily="18" charset="0"/>
              </a:rPr>
              <a:t>+ </a:t>
            </a:r>
            <a:r>
              <a:rPr lang="ru-RU" sz="3200">
                <a:latin typeface="Cambria" pitchFamily="18" charset="0"/>
              </a:rPr>
              <a:t>64 = (66)</a:t>
            </a:r>
            <a:r>
              <a:rPr lang="ru-RU" sz="3200" baseline="-25000">
                <a:latin typeface="Cambria" pitchFamily="18" charset="0"/>
              </a:rPr>
              <a:t>10</a:t>
            </a:r>
            <a:r>
              <a:rPr lang="ru-RU" sz="3200">
                <a:latin typeface="Cambria" pitchFamily="18" charset="0"/>
              </a:rPr>
              <a:t> = (1000010)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.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565400"/>
            <a:ext cx="9144000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000" dirty="0">
                <a:latin typeface="Cambria" pitchFamily="18" charset="0"/>
              </a:rPr>
              <a:t>3.2. Число </a:t>
            </a:r>
            <a:r>
              <a:rPr lang="en-US" sz="3000" b="1" i="1" dirty="0">
                <a:latin typeface="Rockwell" pitchFamily="18" charset="0"/>
              </a:rPr>
              <a:t>B </a:t>
            </a:r>
            <a:r>
              <a:rPr lang="ru-RU" sz="3000" b="1" i="1" dirty="0">
                <a:latin typeface="Cambria" pitchFamily="18" charset="0"/>
              </a:rPr>
              <a:t>= </a:t>
            </a:r>
            <a:r>
              <a:rPr lang="ru-RU" sz="3000" dirty="0">
                <a:latin typeface="Cambria" pitchFamily="18" charset="0"/>
              </a:rPr>
              <a:t>0,0025 переводится в </a:t>
            </a:r>
            <a:r>
              <a:rPr lang="ru-RU" sz="3000" dirty="0" err="1">
                <a:latin typeface="Cambria" pitchFamily="18" charset="0"/>
              </a:rPr>
              <a:t>шестнадца</a:t>
            </a:r>
            <a:r>
              <a:rPr lang="en-US" sz="3000" dirty="0">
                <a:latin typeface="Rockwell" pitchFamily="18" charset="0"/>
              </a:rPr>
              <a:t>-</a:t>
            </a:r>
            <a:r>
              <a:rPr lang="ru-RU" sz="3000" dirty="0" err="1">
                <a:latin typeface="Cambria" pitchFamily="18" charset="0"/>
              </a:rPr>
              <a:t>теричную</a:t>
            </a:r>
            <a:r>
              <a:rPr lang="ru-RU" sz="3000" dirty="0">
                <a:latin typeface="Cambria" pitchFamily="18" charset="0"/>
              </a:rPr>
              <a:t> систему счисления. При переводе необходимо получить шесть цифр, не считая старших нулей.</a:t>
            </a:r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0" y="1916113"/>
            <a:ext cx="9144000" cy="2431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000" i="1" dirty="0">
                <a:latin typeface="Cambria" pitchFamily="18" charset="0"/>
              </a:rPr>
              <a:t>В целях повышения точности представления числа рекомендуется получить еще одну (</a:t>
            </a:r>
            <a:r>
              <a:rPr lang="ru-RU" sz="3000" i="1" dirty="0" err="1">
                <a:latin typeface="Cambria" pitchFamily="18" charset="0"/>
              </a:rPr>
              <a:t>допол</a:t>
            </a:r>
            <a:r>
              <a:rPr lang="en-US" sz="3000" i="1" dirty="0">
                <a:latin typeface="Rockwell" pitchFamily="18" charset="0"/>
              </a:rPr>
              <a:t>-</a:t>
            </a:r>
            <a:r>
              <a:rPr lang="ru-RU" sz="3000" i="1" dirty="0" err="1">
                <a:latin typeface="Cambria" pitchFamily="18" charset="0"/>
              </a:rPr>
              <a:t>нительную</a:t>
            </a:r>
            <a:r>
              <a:rPr lang="ru-RU" sz="3000" i="1" dirty="0">
                <a:latin typeface="Cambria" pitchFamily="18" charset="0"/>
              </a:rPr>
              <a:t>) цифру, по значению которой </a:t>
            </a:r>
            <a:r>
              <a:rPr lang="ru-RU" sz="3000" i="1" dirty="0" err="1">
                <a:latin typeface="Cambria" pitchFamily="18" charset="0"/>
              </a:rPr>
              <a:t>произ</a:t>
            </a:r>
            <a:r>
              <a:rPr lang="en-US" sz="3000" i="1" dirty="0">
                <a:latin typeface="Rockwell" pitchFamily="18" charset="0"/>
              </a:rPr>
              <a:t>-</a:t>
            </a:r>
            <a:r>
              <a:rPr lang="ru-RU" sz="3000" i="1" dirty="0">
                <a:latin typeface="Cambria" pitchFamily="18" charset="0"/>
              </a:rPr>
              <a:t>водится симметричное округление этого числа.</a:t>
            </a:r>
            <a:endParaRPr lang="ru-RU" sz="3000" dirty="0">
              <a:latin typeface="Cambria" pitchFamily="18" charset="0"/>
            </a:endParaRPr>
          </a:p>
          <a:p>
            <a:r>
              <a:rPr lang="ru-RU" sz="1200" i="1" dirty="0">
                <a:latin typeface="Cambria" pitchFamily="18" charset="0"/>
              </a:rPr>
              <a:t> </a:t>
            </a:r>
            <a:r>
              <a:rPr lang="en-US" sz="3200" b="1" i="1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 = (0,0025)</a:t>
            </a:r>
            <a:r>
              <a:rPr lang="ru-RU" sz="3200" baseline="-25000" dirty="0">
                <a:latin typeface="Cambria" pitchFamily="18" charset="0"/>
              </a:rPr>
              <a:t>10</a:t>
            </a:r>
            <a:r>
              <a:rPr lang="ru-RU" sz="3200" dirty="0">
                <a:latin typeface="Cambria" pitchFamily="18" charset="0"/>
              </a:rPr>
              <a:t> = (0,00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3</a:t>
            </a:r>
            <a:r>
              <a:rPr lang="en-US" sz="3200" dirty="0">
                <a:latin typeface="Rockwell" pitchFamily="18" charset="0"/>
              </a:rPr>
              <a:t>D</a:t>
            </a:r>
            <a:r>
              <a:rPr lang="ru-RU" sz="3200" dirty="0">
                <a:latin typeface="Cambria" pitchFamily="18" charset="0"/>
              </a:rPr>
              <a:t>70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3)</a:t>
            </a:r>
            <a:r>
              <a:rPr lang="ru-RU" sz="3200" baseline="-25000" dirty="0">
                <a:latin typeface="Cambria" pitchFamily="18" charset="0"/>
              </a:rPr>
              <a:t>16</a:t>
            </a:r>
            <a:r>
              <a:rPr lang="ru-RU" sz="3200" dirty="0">
                <a:latin typeface="Cambria" pitchFamily="18" charset="0"/>
              </a:rPr>
              <a:t>.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0" y="4303712"/>
            <a:ext cx="9144000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dirty="0">
                <a:latin typeface="Cambria" pitchFamily="18" charset="0"/>
              </a:rPr>
              <a:t>Дополнительная цифра числа, равная (3)</a:t>
            </a:r>
            <a:r>
              <a:rPr lang="ru-RU" sz="3200" baseline="-25000" dirty="0">
                <a:latin typeface="Cambria" pitchFamily="18" charset="0"/>
              </a:rPr>
              <a:t>16</a:t>
            </a:r>
            <a:r>
              <a:rPr lang="ru-RU" sz="3200" dirty="0">
                <a:latin typeface="Cambria" pitchFamily="18" charset="0"/>
              </a:rPr>
              <a:t> = (0011)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, содержит в старшем двоичном разряде ноль и поэтому не изменяет значения </a:t>
            </a:r>
            <a:r>
              <a:rPr lang="ru-RU" sz="3200" dirty="0" err="1">
                <a:latin typeface="Cambria" pitchFamily="18" charset="0"/>
              </a:rPr>
              <a:t>преды</a:t>
            </a:r>
            <a:r>
              <a:rPr lang="en-US" sz="3200" dirty="0">
                <a:latin typeface="Rockwell" pitchFamily="18" charset="0"/>
              </a:rPr>
              <a:t>-</a:t>
            </a:r>
            <a:r>
              <a:rPr lang="ru-RU" sz="3200" dirty="0" err="1">
                <a:latin typeface="Cambria" pitchFamily="18" charset="0"/>
              </a:rPr>
              <a:t>дущей</a:t>
            </a:r>
            <a:r>
              <a:rPr lang="ru-RU" sz="3200" dirty="0">
                <a:latin typeface="Cambria" pitchFamily="18" charset="0"/>
              </a:rPr>
              <a:t> цифры, равной (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)</a:t>
            </a:r>
            <a:r>
              <a:rPr lang="ru-RU" sz="3200" baseline="-25000" dirty="0">
                <a:latin typeface="Cambria" pitchFamily="18" charset="0"/>
              </a:rPr>
              <a:t>16</a:t>
            </a:r>
            <a:r>
              <a:rPr lang="ru-RU" sz="3200" dirty="0">
                <a:latin typeface="Cambria" pitchFamily="18" charset="0"/>
              </a:rPr>
              <a:t>, при округлении числа.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Для определения мантиссы и порядка числа </a:t>
            </a:r>
            <a:r>
              <a:rPr lang="en-US" sz="3200" b="1" i="1">
                <a:latin typeface="Rockwell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 запятая в его шестнадцатеричном представлении переносится вправо на две цифры, что определяет порядок числа, равный (–2):</a:t>
            </a:r>
          </a:p>
          <a:p>
            <a:r>
              <a:rPr lang="ru-RU" sz="3200" b="1" i="1">
                <a:latin typeface="Cambria" pitchFamily="18" charset="0"/>
              </a:rPr>
              <a:t>             </a:t>
            </a:r>
            <a:r>
              <a:rPr lang="en-US" sz="3200" b="1" i="1">
                <a:latin typeface="Rockwell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 = (0,00</a:t>
            </a:r>
            <a:r>
              <a:rPr lang="en-US" sz="3200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3</a:t>
            </a:r>
            <a:r>
              <a:rPr lang="en-US" sz="3200">
                <a:latin typeface="Rockwell" pitchFamily="18" charset="0"/>
              </a:rPr>
              <a:t>D</a:t>
            </a:r>
            <a:r>
              <a:rPr lang="ru-RU" sz="3200">
                <a:latin typeface="Cambria" pitchFamily="18" charset="0"/>
              </a:rPr>
              <a:t>70</a:t>
            </a:r>
            <a:r>
              <a:rPr lang="en-US" sz="3200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)</a:t>
            </a:r>
            <a:r>
              <a:rPr lang="ru-RU" sz="3200" baseline="-25000">
                <a:latin typeface="Cambria" pitchFamily="18" charset="0"/>
              </a:rPr>
              <a:t>16</a:t>
            </a:r>
            <a:r>
              <a:rPr lang="ru-RU" sz="3200">
                <a:latin typeface="Cambria" pitchFamily="18" charset="0"/>
              </a:rPr>
              <a:t> = (0,</a:t>
            </a:r>
            <a:r>
              <a:rPr lang="en-US" sz="3200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3</a:t>
            </a:r>
            <a:r>
              <a:rPr lang="en-US" sz="3200">
                <a:latin typeface="Rockwell" pitchFamily="18" charset="0"/>
              </a:rPr>
              <a:t>D</a:t>
            </a:r>
            <a:r>
              <a:rPr lang="ru-RU" sz="3200">
                <a:latin typeface="Cambria" pitchFamily="18" charset="0"/>
              </a:rPr>
              <a:t>70</a:t>
            </a:r>
            <a:r>
              <a:rPr lang="en-US" sz="3200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)</a:t>
            </a:r>
            <a:r>
              <a:rPr lang="ru-RU" sz="3200" baseline="-25000">
                <a:latin typeface="Cambria" pitchFamily="18" charset="0"/>
              </a:rPr>
              <a:t>16</a:t>
            </a:r>
            <a:r>
              <a:rPr lang="ru-RU" sz="3200">
                <a:latin typeface="Cambria" pitchFamily="18" charset="0"/>
              </a:rPr>
              <a:t>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–2</a:t>
            </a:r>
            <a:r>
              <a:rPr lang="ru-RU" sz="3200">
                <a:latin typeface="Cambria" pitchFamily="18" charset="0"/>
              </a:rPr>
              <a:t>.</a:t>
            </a:r>
          </a:p>
          <a:p>
            <a:r>
              <a:rPr lang="ru-RU" sz="3200">
                <a:latin typeface="Cambria" pitchFamily="18" charset="0"/>
              </a:rPr>
              <a:t>Характеристика числа </a:t>
            </a:r>
            <a:r>
              <a:rPr lang="en-US" sz="3200" b="1" i="1">
                <a:latin typeface="Rockwell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:</a:t>
            </a:r>
          </a:p>
          <a:p>
            <a:r>
              <a:rPr lang="ru-RU" sz="3200" i="1">
                <a:latin typeface="Cambria" pitchFamily="18" charset="0"/>
              </a:rPr>
              <a:t>            </a:t>
            </a:r>
            <a:r>
              <a:rPr lang="en-US" sz="3200" i="1">
                <a:latin typeface="Rockwell" pitchFamily="18" charset="0"/>
              </a:rPr>
              <a:t>X</a:t>
            </a:r>
            <a:r>
              <a:rPr lang="en-US" sz="3200" i="1" baseline="-25000">
                <a:latin typeface="Rockwell" pitchFamily="18" charset="0"/>
              </a:rPr>
              <a:t>B</a:t>
            </a:r>
            <a:r>
              <a:rPr lang="ru-RU" sz="3200" i="1">
                <a:latin typeface="Cambria" pitchFamily="18" charset="0"/>
              </a:rPr>
              <a:t> = </a:t>
            </a:r>
            <a:r>
              <a:rPr lang="en-US" sz="3200" i="1">
                <a:latin typeface="Rockwell" pitchFamily="18" charset="0"/>
              </a:rPr>
              <a:t>P</a:t>
            </a:r>
            <a:r>
              <a:rPr lang="en-US" sz="3200" i="1" baseline="-25000">
                <a:latin typeface="Rockwell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 + 64 = –2 + 64 = 62 = (0111110)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0" y="3995738"/>
            <a:ext cx="9144000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Представление числа </a:t>
            </a:r>
            <a:r>
              <a:rPr lang="en-US" sz="3200" b="1" i="1">
                <a:latin typeface="Rockwell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 в формате Ф1 имеет вид</a:t>
            </a: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25" y="4537075"/>
            <a:ext cx="9109075" cy="213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1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ChangeArrowheads="1"/>
          </p:cNvSpPr>
          <p:nvPr/>
        </p:nvSpPr>
        <p:spPr bwMode="auto">
          <a:xfrm>
            <a:off x="0" y="0"/>
            <a:ext cx="91440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en-US" sz="3200">
                <a:latin typeface="Rockwell" pitchFamily="18" charset="0"/>
                <a:cs typeface="Times New Roman" pitchFamily="18" charset="0"/>
              </a:rPr>
              <a:t>4</a:t>
            </a:r>
            <a:r>
              <a:rPr lang="ru-RU" sz="3200">
                <a:latin typeface="Cambria" pitchFamily="18" charset="0"/>
                <a:cs typeface="Times New Roman" pitchFamily="18" charset="0"/>
              </a:rPr>
              <a:t>. Заданные числа </a:t>
            </a:r>
            <a:r>
              <a:rPr lang="ru-RU" sz="3200" b="1" i="1">
                <a:latin typeface="Cambria" pitchFamily="18" charset="0"/>
                <a:cs typeface="Times New Roman" pitchFamily="18" charset="0"/>
              </a:rPr>
              <a:t>A</a:t>
            </a:r>
            <a:r>
              <a:rPr lang="ru-RU" sz="3200">
                <a:latin typeface="Cambria" pitchFamily="18" charset="0"/>
                <a:cs typeface="Times New Roman" pitchFamily="18" charset="0"/>
              </a:rPr>
              <a:t> и </a:t>
            </a:r>
            <a:r>
              <a:rPr lang="ru-RU" sz="3200" b="1" i="1">
                <a:latin typeface="Cambria" pitchFamily="18" charset="0"/>
                <a:cs typeface="Times New Roman" pitchFamily="18" charset="0"/>
              </a:rPr>
              <a:t>B</a:t>
            </a:r>
            <a:r>
              <a:rPr lang="ru-RU" sz="3200">
                <a:latin typeface="Cambria" pitchFamily="18" charset="0"/>
                <a:cs typeface="Times New Roman" pitchFamily="18" charset="0"/>
              </a:rPr>
              <a:t> представить в форме с плавающей запятой в формате Ф2.</a:t>
            </a: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ru-RU" sz="3200">
                <a:latin typeface="Cambria" pitchFamily="18" charset="0"/>
              </a:rPr>
              <a:t>4.1. Определение мантиссы и порядка числа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:</a:t>
            </a: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ru-RU" sz="3200" b="1" i="1">
                <a:latin typeface="Cambria" pitchFamily="18" charset="0"/>
              </a:rPr>
              <a:t>А=</a:t>
            </a:r>
            <a:r>
              <a:rPr lang="ru-RU" sz="3200">
                <a:latin typeface="Cambria" pitchFamily="18" charset="0"/>
              </a:rPr>
              <a:t>(250)</a:t>
            </a:r>
            <a:r>
              <a:rPr lang="ru-RU" sz="3200" baseline="-25000">
                <a:latin typeface="Cambria" pitchFamily="18" charset="0"/>
              </a:rPr>
              <a:t>10</a:t>
            </a:r>
            <a:r>
              <a:rPr lang="ru-RU" sz="3200">
                <a:latin typeface="Cambria" pitchFamily="18" charset="0"/>
              </a:rPr>
              <a:t> = (11111010)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= (0.1111101)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en-US" sz="3200">
                <a:latin typeface="Rockwell" pitchFamily="18" charset="0"/>
                <a:sym typeface="Symbol" pitchFamily="18" charset="2"/>
              </a:rPr>
              <a:t> </a:t>
            </a:r>
            <a:r>
              <a:rPr lang="ru-RU" sz="3200">
                <a:latin typeface="Cambria" pitchFamily="18" charset="0"/>
              </a:rPr>
              <a:t> 2</a:t>
            </a:r>
            <a:r>
              <a:rPr lang="ru-RU" sz="3200" baseline="30000">
                <a:latin typeface="Cambria" pitchFamily="18" charset="0"/>
              </a:rPr>
              <a:t>8</a:t>
            </a: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endParaRPr lang="ru-RU" sz="3200" baseline="30000">
              <a:latin typeface="Cambria" pitchFamily="18" charset="0"/>
            </a:endParaRP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ru-RU" sz="3200">
                <a:latin typeface="Cambria" pitchFamily="18" charset="0"/>
              </a:rPr>
              <a:t>                                                        мантисса</a:t>
            </a:r>
          </a:p>
          <a:p>
            <a:pPr>
              <a:tabLst>
                <a:tab pos="457200" algn="l"/>
                <a:tab pos="571500" algn="l"/>
                <a:tab pos="630238" algn="l"/>
              </a:tabLst>
            </a:pPr>
            <a:r>
              <a:rPr lang="ru-RU" sz="3200">
                <a:latin typeface="Cambria" pitchFamily="18" charset="0"/>
              </a:rPr>
              <a:t>Характеристика числа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:                           порядок</a:t>
            </a: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en-US" sz="3200" i="1">
                <a:latin typeface="Rockwell" pitchFamily="18" charset="0"/>
              </a:rPr>
              <a:t>X</a:t>
            </a:r>
            <a:r>
              <a:rPr lang="en-US" sz="3200" i="1" baseline="-25000">
                <a:latin typeface="Rockwell" pitchFamily="18" charset="0"/>
              </a:rPr>
              <a:t>A</a:t>
            </a:r>
            <a:r>
              <a:rPr lang="ru-RU" sz="3200" i="1">
                <a:latin typeface="Cambria" pitchFamily="18" charset="0"/>
              </a:rPr>
              <a:t> = </a:t>
            </a:r>
            <a:r>
              <a:rPr lang="en-US" sz="3200" i="1">
                <a:latin typeface="Rockwell" pitchFamily="18" charset="0"/>
              </a:rPr>
              <a:t>P</a:t>
            </a:r>
            <a:r>
              <a:rPr lang="en-US" sz="3200" i="1" baseline="-25000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+</a:t>
            </a:r>
            <a:r>
              <a:rPr lang="en-US" sz="3200" i="1">
                <a:latin typeface="Rockwell" pitchFamily="18" charset="0"/>
              </a:rPr>
              <a:t> d = </a:t>
            </a:r>
            <a:r>
              <a:rPr lang="ru-RU" sz="3200">
                <a:latin typeface="Cambria" pitchFamily="18" charset="0"/>
              </a:rPr>
              <a:t>8</a:t>
            </a:r>
            <a:r>
              <a:rPr lang="en-US" sz="3200">
                <a:latin typeface="Rockwell" pitchFamily="18" charset="0"/>
              </a:rPr>
              <a:t> </a:t>
            </a:r>
            <a:r>
              <a:rPr lang="en-US" sz="3200" i="1">
                <a:latin typeface="Rockwell" pitchFamily="18" charset="0"/>
              </a:rPr>
              <a:t>+ </a:t>
            </a:r>
            <a:r>
              <a:rPr lang="ru-RU" sz="3200">
                <a:latin typeface="Cambria" pitchFamily="18" charset="0"/>
              </a:rPr>
              <a:t>128 = (136)</a:t>
            </a:r>
            <a:r>
              <a:rPr lang="ru-RU" sz="3200" baseline="-25000">
                <a:latin typeface="Cambria" pitchFamily="18" charset="0"/>
              </a:rPr>
              <a:t>10</a:t>
            </a:r>
            <a:r>
              <a:rPr lang="ru-RU" sz="3200">
                <a:latin typeface="Cambria" pitchFamily="18" charset="0"/>
              </a:rPr>
              <a:t> = (10001000)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.</a:t>
            </a:r>
          </a:p>
        </p:txBody>
      </p:sp>
      <p:sp>
        <p:nvSpPr>
          <p:cNvPr id="11267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mbria" pitchFamily="18" charset="0"/>
            </a:endParaRPr>
          </a:p>
        </p:txBody>
      </p:sp>
      <p:sp>
        <p:nvSpPr>
          <p:cNvPr id="39" name="Левая фигурная скобка 38"/>
          <p:cNvSpPr/>
          <p:nvPr/>
        </p:nvSpPr>
        <p:spPr>
          <a:xfrm rot="5400000" flipH="1" flipV="1">
            <a:off x="5903913" y="1449388"/>
            <a:ext cx="431800" cy="1511300"/>
          </a:xfrm>
          <a:prstGeom prst="leftBrace">
            <a:avLst>
              <a:gd name="adj1" fmla="val 8333"/>
              <a:gd name="adj2" fmla="val 490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41" name="Прямая со стрелкой 40"/>
          <p:cNvCxnSpPr/>
          <p:nvPr/>
        </p:nvCxnSpPr>
        <p:spPr>
          <a:xfrm flipV="1">
            <a:off x="7812088" y="1916113"/>
            <a:ext cx="73025" cy="93662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0" y="3860800"/>
            <a:ext cx="9144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Число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представляется в формате Ф2  в виде</a:t>
            </a:r>
          </a:p>
        </p:txBody>
      </p:sp>
      <p:pic>
        <p:nvPicPr>
          <p:cNvPr id="30787" name="Picture 6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6838" y="4464050"/>
            <a:ext cx="9205913" cy="249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30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0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764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dirty="0">
                <a:latin typeface="Cambria" pitchFamily="18" charset="0"/>
              </a:rPr>
              <a:t>4.2. Для определения мантиссы и порядка числа </a:t>
            </a:r>
            <a:r>
              <a:rPr lang="en-US" sz="3200" b="1" i="1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 запятая в его двоичном представлении переносится вправо на 8 двоичных разрядов, что определяет порядок числа, равный (–8).</a:t>
            </a:r>
          </a:p>
          <a:p>
            <a:r>
              <a:rPr lang="ru-RU" sz="3200" b="1" i="1" dirty="0">
                <a:latin typeface="Cambria" pitchFamily="18" charset="0"/>
              </a:rPr>
              <a:t>В=</a:t>
            </a:r>
            <a:r>
              <a:rPr lang="ru-RU" sz="3200" dirty="0">
                <a:latin typeface="Cambria" pitchFamily="18" charset="0"/>
              </a:rPr>
              <a:t>0,0025=(0,00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3</a:t>
            </a:r>
            <a:r>
              <a:rPr lang="en-US" sz="3200" dirty="0">
                <a:latin typeface="Rockwell" pitchFamily="18" charset="0"/>
              </a:rPr>
              <a:t>D</a:t>
            </a:r>
            <a:r>
              <a:rPr lang="ru-RU" sz="3200" dirty="0">
                <a:latin typeface="Cambria" pitchFamily="18" charset="0"/>
              </a:rPr>
              <a:t>70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)</a:t>
            </a:r>
            <a:r>
              <a:rPr lang="ru-RU" sz="3200" baseline="-25000" dirty="0">
                <a:latin typeface="Cambria" pitchFamily="18" charset="0"/>
              </a:rPr>
              <a:t>16</a:t>
            </a:r>
            <a:r>
              <a:rPr lang="ru-RU" sz="3200" dirty="0">
                <a:latin typeface="Cambria" pitchFamily="18" charset="0"/>
              </a:rPr>
              <a:t> =</a:t>
            </a:r>
          </a:p>
          <a:p>
            <a:r>
              <a:rPr lang="ru-RU" sz="3200" dirty="0">
                <a:latin typeface="Cambria" pitchFamily="18" charset="0"/>
              </a:rPr>
              <a:t>=</a:t>
            </a:r>
          </a:p>
          <a:p>
            <a:r>
              <a:rPr lang="en-US" sz="3200" dirty="0">
                <a:latin typeface="Rockwell" pitchFamily="18" charset="0"/>
              </a:rPr>
              <a:t>  </a:t>
            </a:r>
            <a:r>
              <a:rPr lang="ru-RU" sz="3200" dirty="0">
                <a:latin typeface="Cambria" pitchFamily="18" charset="0"/>
              </a:rPr>
              <a:t>          0         0          А         3         </a:t>
            </a:r>
            <a:r>
              <a:rPr lang="en-US" sz="3200" dirty="0">
                <a:latin typeface="Rockwell" pitchFamily="18" charset="0"/>
              </a:rPr>
              <a:t>D       7    0      A  A=(0,101000111101011100001010)</a:t>
            </a:r>
            <a:r>
              <a:rPr lang="ru-RU" sz="3200" baseline="-25000" dirty="0">
                <a:latin typeface="Cambria" pitchFamily="18" charset="0"/>
              </a:rPr>
              <a:t> 2</a:t>
            </a:r>
            <a:r>
              <a:rPr lang="en-US" sz="3200" dirty="0">
                <a:latin typeface="Rockwell" pitchFamily="18" charset="0"/>
                <a:sym typeface="Symbol" pitchFamily="18" charset="2"/>
              </a:rPr>
              <a:t> </a:t>
            </a:r>
            <a:r>
              <a:rPr lang="ru-RU" sz="3200" dirty="0">
                <a:latin typeface="Cambria" pitchFamily="18" charset="0"/>
              </a:rPr>
              <a:t> 2</a:t>
            </a:r>
            <a:r>
              <a:rPr lang="en-US" sz="3200" baseline="30000" dirty="0">
                <a:latin typeface="Rockwell" pitchFamily="18" charset="0"/>
              </a:rPr>
              <a:t>-8</a:t>
            </a:r>
            <a:endParaRPr lang="ru-RU" sz="3200" baseline="30000" dirty="0">
              <a:latin typeface="Cambria" pitchFamily="18" charset="0"/>
            </a:endParaRPr>
          </a:p>
          <a:p>
            <a:endParaRPr lang="ru-RU" sz="3200" baseline="30000" dirty="0">
              <a:latin typeface="Cambria" pitchFamily="18" charset="0"/>
            </a:endParaRPr>
          </a:p>
          <a:p>
            <a:r>
              <a:rPr lang="ru-RU" sz="3200" dirty="0">
                <a:latin typeface="Cambria" pitchFamily="18" charset="0"/>
              </a:rPr>
              <a:t>                            </a:t>
            </a:r>
            <a:r>
              <a:rPr lang="en-US" sz="3200" dirty="0">
                <a:latin typeface="Cambria" pitchFamily="18" charset="0"/>
              </a:rPr>
              <a:t>    </a:t>
            </a:r>
            <a:r>
              <a:rPr lang="ru-RU" sz="3200" dirty="0">
                <a:latin typeface="Cambria" pitchFamily="18" charset="0"/>
              </a:rPr>
              <a:t>мантисса         </a:t>
            </a:r>
            <a:r>
              <a:rPr lang="en-US" sz="3200" dirty="0">
                <a:latin typeface="Cambria" pitchFamily="18" charset="0"/>
              </a:rPr>
              <a:t>         </a:t>
            </a:r>
            <a:r>
              <a:rPr lang="ru-RU" sz="3200" dirty="0">
                <a:latin typeface="Cambria" pitchFamily="18" charset="0"/>
              </a:rPr>
              <a:t>   порядок</a:t>
            </a:r>
          </a:p>
          <a:p>
            <a:r>
              <a:rPr lang="ru-RU" sz="3200" dirty="0">
                <a:latin typeface="Cambria" pitchFamily="18" charset="0"/>
              </a:rPr>
              <a:t>Характеристика числа </a:t>
            </a:r>
            <a:r>
              <a:rPr lang="en-US" sz="3200" b="1" i="1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:</a:t>
            </a:r>
          </a:p>
          <a:p>
            <a:r>
              <a:rPr lang="ru-RU" sz="3200" i="1" dirty="0">
                <a:latin typeface="Cambria" pitchFamily="18" charset="0"/>
              </a:rPr>
              <a:t> </a:t>
            </a:r>
            <a:r>
              <a:rPr lang="en-US" sz="3200" i="1" dirty="0">
                <a:latin typeface="Rockwell" pitchFamily="18" charset="0"/>
              </a:rPr>
              <a:t>X</a:t>
            </a:r>
            <a:r>
              <a:rPr lang="en-US" sz="3200" i="1" baseline="-25000" dirty="0">
                <a:latin typeface="Rockwell" pitchFamily="18" charset="0"/>
              </a:rPr>
              <a:t>B</a:t>
            </a:r>
            <a:r>
              <a:rPr lang="ru-RU" sz="3200" i="1" dirty="0">
                <a:latin typeface="Cambria" pitchFamily="18" charset="0"/>
              </a:rPr>
              <a:t> = </a:t>
            </a:r>
            <a:r>
              <a:rPr lang="en-US" sz="3200" i="1" dirty="0">
                <a:latin typeface="Rockwell" pitchFamily="18" charset="0"/>
              </a:rPr>
              <a:t>P</a:t>
            </a:r>
            <a:r>
              <a:rPr lang="en-US" sz="3200" i="1" baseline="-25000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 + 128= 120= (01111000)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.</a:t>
            </a:r>
          </a:p>
          <a:p>
            <a:endParaRPr lang="ru-RU" sz="3200" dirty="0">
              <a:latin typeface="Cambria" pitchFamily="18" charset="0"/>
            </a:endParaRPr>
          </a:p>
          <a:p>
            <a:endParaRPr lang="ru-RU" sz="3200" b="1" baseline="30000" dirty="0">
              <a:latin typeface="Cambria" pitchFamily="18" charset="0"/>
            </a:endParaRPr>
          </a:p>
          <a:p>
            <a:endParaRPr lang="ru-RU" sz="3200" baseline="30000" dirty="0">
              <a:latin typeface="Cambria" pitchFamily="18" charset="0"/>
            </a:endParaRPr>
          </a:p>
          <a:p>
            <a:endParaRPr lang="en-US" sz="3200" baseline="30000" dirty="0">
              <a:latin typeface="Rockwell" pitchFamily="18" charset="0"/>
            </a:endParaRPr>
          </a:p>
          <a:p>
            <a:endParaRPr lang="en-US" sz="3200" baseline="30000" dirty="0">
              <a:latin typeface="Rockwell" pitchFamily="18" charset="0"/>
            </a:endParaRPr>
          </a:p>
        </p:txBody>
      </p:sp>
      <p:sp>
        <p:nvSpPr>
          <p:cNvPr id="12291" name="Rectangle 6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mbria" pitchFamily="18" charset="0"/>
            </a:endParaRPr>
          </a:p>
        </p:txBody>
      </p:sp>
      <p:grpSp>
        <p:nvGrpSpPr>
          <p:cNvPr id="12292" name="Group 1"/>
          <p:cNvGrpSpPr>
            <a:grpSpLocks noChangeAspect="1"/>
          </p:cNvGrpSpPr>
          <p:nvPr/>
        </p:nvGrpSpPr>
        <p:grpSpPr bwMode="auto">
          <a:xfrm>
            <a:off x="0" y="2492375"/>
            <a:ext cx="9144000" cy="3219450"/>
            <a:chOff x="0" y="-559"/>
            <a:chExt cx="7890" cy="2776"/>
          </a:xfrm>
        </p:grpSpPr>
        <p:sp>
          <p:nvSpPr>
            <p:cNvPr id="12295" name="Rectangle 60"/>
            <p:cNvSpPr>
              <a:spLocks noChangeArrowheads="1"/>
            </p:cNvSpPr>
            <p:nvPr/>
          </p:nvSpPr>
          <p:spPr bwMode="auto">
            <a:xfrm>
              <a:off x="291" y="-559"/>
              <a:ext cx="7599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0,0000 0000 1010 0011 1101 0111 0000 1010</a:t>
              </a:r>
              <a:endParaRPr lang="en-US" sz="28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296" name="Rectangle 56"/>
            <p:cNvSpPr>
              <a:spLocks noChangeArrowheads="1"/>
            </p:cNvSpPr>
            <p:nvPr/>
          </p:nvSpPr>
          <p:spPr bwMode="auto">
            <a:xfrm>
              <a:off x="7666" y="474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12297" name="Freeform 55"/>
            <p:cNvSpPr>
              <a:spLocks/>
            </p:cNvSpPr>
            <p:nvPr/>
          </p:nvSpPr>
          <p:spPr bwMode="auto">
            <a:xfrm>
              <a:off x="714" y="-249"/>
              <a:ext cx="683" cy="124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7 h 208"/>
                <a:gd name="T4" fmla="*/ 0 w 837"/>
                <a:gd name="T5" fmla="*/ 13 h 208"/>
                <a:gd name="T6" fmla="*/ 5 w 837"/>
                <a:gd name="T7" fmla="*/ 25 h 208"/>
                <a:gd name="T8" fmla="*/ 9 w 837"/>
                <a:gd name="T9" fmla="*/ 35 h 208"/>
                <a:gd name="T10" fmla="*/ 16 w 837"/>
                <a:gd name="T11" fmla="*/ 45 h 208"/>
                <a:gd name="T12" fmla="*/ 20 w 837"/>
                <a:gd name="T13" fmla="*/ 48 h 208"/>
                <a:gd name="T14" fmla="*/ 25 w 837"/>
                <a:gd name="T15" fmla="*/ 51 h 208"/>
                <a:gd name="T16" fmla="*/ 29 w 837"/>
                <a:gd name="T17" fmla="*/ 55 h 208"/>
                <a:gd name="T18" fmla="*/ 34 w 837"/>
                <a:gd name="T19" fmla="*/ 58 h 208"/>
                <a:gd name="T20" fmla="*/ 38 w 837"/>
                <a:gd name="T21" fmla="*/ 60 h 208"/>
                <a:gd name="T22" fmla="*/ 46 w 837"/>
                <a:gd name="T23" fmla="*/ 61 h 208"/>
                <a:gd name="T24" fmla="*/ 50 w 837"/>
                <a:gd name="T25" fmla="*/ 61 h 208"/>
                <a:gd name="T26" fmla="*/ 57 w 837"/>
                <a:gd name="T27" fmla="*/ 63 h 208"/>
                <a:gd name="T28" fmla="*/ 285 w 837"/>
                <a:gd name="T29" fmla="*/ 63 h 208"/>
                <a:gd name="T30" fmla="*/ 289 w 837"/>
                <a:gd name="T31" fmla="*/ 63 h 208"/>
                <a:gd name="T32" fmla="*/ 296 w 837"/>
                <a:gd name="T33" fmla="*/ 63 h 208"/>
                <a:gd name="T34" fmla="*/ 300 w 837"/>
                <a:gd name="T35" fmla="*/ 64 h 208"/>
                <a:gd name="T36" fmla="*/ 305 w 837"/>
                <a:gd name="T37" fmla="*/ 66 h 208"/>
                <a:gd name="T38" fmla="*/ 312 w 837"/>
                <a:gd name="T39" fmla="*/ 70 h 208"/>
                <a:gd name="T40" fmla="*/ 317 w 837"/>
                <a:gd name="T41" fmla="*/ 73 h 208"/>
                <a:gd name="T42" fmla="*/ 321 w 837"/>
                <a:gd name="T43" fmla="*/ 76 h 208"/>
                <a:gd name="T44" fmla="*/ 323 w 837"/>
                <a:gd name="T45" fmla="*/ 81 h 208"/>
                <a:gd name="T46" fmla="*/ 330 w 837"/>
                <a:gd name="T47" fmla="*/ 89 h 208"/>
                <a:gd name="T48" fmla="*/ 337 w 837"/>
                <a:gd name="T49" fmla="*/ 100 h 208"/>
                <a:gd name="T50" fmla="*/ 339 w 837"/>
                <a:gd name="T51" fmla="*/ 111 h 208"/>
                <a:gd name="T52" fmla="*/ 341 w 837"/>
                <a:gd name="T53" fmla="*/ 117 h 208"/>
                <a:gd name="T54" fmla="*/ 341 w 837"/>
                <a:gd name="T55" fmla="*/ 124 h 208"/>
                <a:gd name="T56" fmla="*/ 341 w 837"/>
                <a:gd name="T57" fmla="*/ 117 h 208"/>
                <a:gd name="T58" fmla="*/ 341 w 837"/>
                <a:gd name="T59" fmla="*/ 111 h 208"/>
                <a:gd name="T60" fmla="*/ 346 w 837"/>
                <a:gd name="T61" fmla="*/ 100 h 208"/>
                <a:gd name="T62" fmla="*/ 351 w 837"/>
                <a:gd name="T63" fmla="*/ 89 h 208"/>
                <a:gd name="T64" fmla="*/ 357 w 837"/>
                <a:gd name="T65" fmla="*/ 81 h 208"/>
                <a:gd name="T66" fmla="*/ 362 w 837"/>
                <a:gd name="T67" fmla="*/ 76 h 208"/>
                <a:gd name="T68" fmla="*/ 366 w 837"/>
                <a:gd name="T69" fmla="*/ 73 h 208"/>
                <a:gd name="T70" fmla="*/ 371 w 837"/>
                <a:gd name="T71" fmla="*/ 70 h 208"/>
                <a:gd name="T72" fmla="*/ 375 w 837"/>
                <a:gd name="T73" fmla="*/ 66 h 208"/>
                <a:gd name="T74" fmla="*/ 380 w 837"/>
                <a:gd name="T75" fmla="*/ 64 h 208"/>
                <a:gd name="T76" fmla="*/ 387 w 837"/>
                <a:gd name="T77" fmla="*/ 63 h 208"/>
                <a:gd name="T78" fmla="*/ 392 w 837"/>
                <a:gd name="T79" fmla="*/ 63 h 208"/>
                <a:gd name="T80" fmla="*/ 398 w 837"/>
                <a:gd name="T81" fmla="*/ 63 h 208"/>
                <a:gd name="T82" fmla="*/ 626 w 837"/>
                <a:gd name="T83" fmla="*/ 63 h 208"/>
                <a:gd name="T84" fmla="*/ 631 w 837"/>
                <a:gd name="T85" fmla="*/ 61 h 208"/>
                <a:gd name="T86" fmla="*/ 637 w 837"/>
                <a:gd name="T87" fmla="*/ 61 h 208"/>
                <a:gd name="T88" fmla="*/ 642 w 837"/>
                <a:gd name="T89" fmla="*/ 60 h 208"/>
                <a:gd name="T90" fmla="*/ 646 w 837"/>
                <a:gd name="T91" fmla="*/ 58 h 208"/>
                <a:gd name="T92" fmla="*/ 654 w 837"/>
                <a:gd name="T93" fmla="*/ 55 h 208"/>
                <a:gd name="T94" fmla="*/ 658 w 837"/>
                <a:gd name="T95" fmla="*/ 51 h 208"/>
                <a:gd name="T96" fmla="*/ 663 w 837"/>
                <a:gd name="T97" fmla="*/ 48 h 208"/>
                <a:gd name="T98" fmla="*/ 665 w 837"/>
                <a:gd name="T99" fmla="*/ 45 h 208"/>
                <a:gd name="T100" fmla="*/ 672 w 837"/>
                <a:gd name="T101" fmla="*/ 35 h 208"/>
                <a:gd name="T102" fmla="*/ 678 w 837"/>
                <a:gd name="T103" fmla="*/ 25 h 208"/>
                <a:gd name="T104" fmla="*/ 681 w 837"/>
                <a:gd name="T105" fmla="*/ 13 h 208"/>
                <a:gd name="T106" fmla="*/ 683 w 837"/>
                <a:gd name="T107" fmla="*/ 7 h 208"/>
                <a:gd name="T108" fmla="*/ 683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6" y="42"/>
                  </a:lnTo>
                  <a:lnTo>
                    <a:pt x="11" y="59"/>
                  </a:lnTo>
                  <a:lnTo>
                    <a:pt x="20" y="75"/>
                  </a:lnTo>
                  <a:lnTo>
                    <a:pt x="25" y="81"/>
                  </a:lnTo>
                  <a:lnTo>
                    <a:pt x="31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6" y="103"/>
                  </a:lnTo>
                  <a:lnTo>
                    <a:pt x="61" y="103"/>
                  </a:lnTo>
                  <a:lnTo>
                    <a:pt x="70" y="106"/>
                  </a:lnTo>
                  <a:lnTo>
                    <a:pt x="349" y="106"/>
                  </a:lnTo>
                  <a:lnTo>
                    <a:pt x="354" y="106"/>
                  </a:lnTo>
                  <a:lnTo>
                    <a:pt x="363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8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5" y="150"/>
                  </a:lnTo>
                  <a:lnTo>
                    <a:pt x="413" y="167"/>
                  </a:lnTo>
                  <a:lnTo>
                    <a:pt x="416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30" y="150"/>
                  </a:lnTo>
                  <a:lnTo>
                    <a:pt x="438" y="136"/>
                  </a:lnTo>
                  <a:lnTo>
                    <a:pt x="444" y="128"/>
                  </a:lnTo>
                  <a:lnTo>
                    <a:pt x="449" y="122"/>
                  </a:lnTo>
                  <a:lnTo>
                    <a:pt x="455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3" y="103"/>
                  </a:lnTo>
                  <a:lnTo>
                    <a:pt x="781" y="103"/>
                  </a:lnTo>
                  <a:lnTo>
                    <a:pt x="787" y="100"/>
                  </a:lnTo>
                  <a:lnTo>
                    <a:pt x="792" y="97"/>
                  </a:lnTo>
                  <a:lnTo>
                    <a:pt x="801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5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298" name="Freeform 54"/>
            <p:cNvSpPr>
              <a:spLocks/>
            </p:cNvSpPr>
            <p:nvPr/>
          </p:nvSpPr>
          <p:spPr bwMode="auto">
            <a:xfrm>
              <a:off x="1584" y="-249"/>
              <a:ext cx="746" cy="124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7 h 208"/>
                <a:gd name="T4" fmla="*/ 0 w 837"/>
                <a:gd name="T5" fmla="*/ 13 h 208"/>
                <a:gd name="T6" fmla="*/ 5 w 837"/>
                <a:gd name="T7" fmla="*/ 25 h 208"/>
                <a:gd name="T8" fmla="*/ 10 w 837"/>
                <a:gd name="T9" fmla="*/ 35 h 208"/>
                <a:gd name="T10" fmla="*/ 17 w 837"/>
                <a:gd name="T11" fmla="*/ 45 h 208"/>
                <a:gd name="T12" fmla="*/ 22 w 837"/>
                <a:gd name="T13" fmla="*/ 48 h 208"/>
                <a:gd name="T14" fmla="*/ 28 w 837"/>
                <a:gd name="T15" fmla="*/ 51 h 208"/>
                <a:gd name="T16" fmla="*/ 32 w 837"/>
                <a:gd name="T17" fmla="*/ 55 h 208"/>
                <a:gd name="T18" fmla="*/ 37 w 837"/>
                <a:gd name="T19" fmla="*/ 58 h 208"/>
                <a:gd name="T20" fmla="*/ 42 w 837"/>
                <a:gd name="T21" fmla="*/ 60 h 208"/>
                <a:gd name="T22" fmla="*/ 50 w 837"/>
                <a:gd name="T23" fmla="*/ 61 h 208"/>
                <a:gd name="T24" fmla="*/ 54 w 837"/>
                <a:gd name="T25" fmla="*/ 61 h 208"/>
                <a:gd name="T26" fmla="*/ 62 w 837"/>
                <a:gd name="T27" fmla="*/ 63 h 208"/>
                <a:gd name="T28" fmla="*/ 311 w 837"/>
                <a:gd name="T29" fmla="*/ 63 h 208"/>
                <a:gd name="T30" fmla="*/ 316 w 837"/>
                <a:gd name="T31" fmla="*/ 63 h 208"/>
                <a:gd name="T32" fmla="*/ 324 w 837"/>
                <a:gd name="T33" fmla="*/ 63 h 208"/>
                <a:gd name="T34" fmla="*/ 328 w 837"/>
                <a:gd name="T35" fmla="*/ 64 h 208"/>
                <a:gd name="T36" fmla="*/ 333 w 837"/>
                <a:gd name="T37" fmla="*/ 66 h 208"/>
                <a:gd name="T38" fmla="*/ 340 w 837"/>
                <a:gd name="T39" fmla="*/ 70 h 208"/>
                <a:gd name="T40" fmla="*/ 346 w 837"/>
                <a:gd name="T41" fmla="*/ 73 h 208"/>
                <a:gd name="T42" fmla="*/ 350 w 837"/>
                <a:gd name="T43" fmla="*/ 76 h 208"/>
                <a:gd name="T44" fmla="*/ 353 w 837"/>
                <a:gd name="T45" fmla="*/ 81 h 208"/>
                <a:gd name="T46" fmla="*/ 360 w 837"/>
                <a:gd name="T47" fmla="*/ 89 h 208"/>
                <a:gd name="T48" fmla="*/ 368 w 837"/>
                <a:gd name="T49" fmla="*/ 100 h 208"/>
                <a:gd name="T50" fmla="*/ 371 w 837"/>
                <a:gd name="T51" fmla="*/ 111 h 208"/>
                <a:gd name="T52" fmla="*/ 373 w 837"/>
                <a:gd name="T53" fmla="*/ 117 h 208"/>
                <a:gd name="T54" fmla="*/ 373 w 837"/>
                <a:gd name="T55" fmla="*/ 124 h 208"/>
                <a:gd name="T56" fmla="*/ 373 w 837"/>
                <a:gd name="T57" fmla="*/ 117 h 208"/>
                <a:gd name="T58" fmla="*/ 373 w 837"/>
                <a:gd name="T59" fmla="*/ 111 h 208"/>
                <a:gd name="T60" fmla="*/ 378 w 837"/>
                <a:gd name="T61" fmla="*/ 100 h 208"/>
                <a:gd name="T62" fmla="*/ 383 w 837"/>
                <a:gd name="T63" fmla="*/ 89 h 208"/>
                <a:gd name="T64" fmla="*/ 390 w 837"/>
                <a:gd name="T65" fmla="*/ 81 h 208"/>
                <a:gd name="T66" fmla="*/ 396 w 837"/>
                <a:gd name="T67" fmla="*/ 76 h 208"/>
                <a:gd name="T68" fmla="*/ 400 w 837"/>
                <a:gd name="T69" fmla="*/ 73 h 208"/>
                <a:gd name="T70" fmla="*/ 406 w 837"/>
                <a:gd name="T71" fmla="*/ 70 h 208"/>
                <a:gd name="T72" fmla="*/ 410 w 837"/>
                <a:gd name="T73" fmla="*/ 66 h 208"/>
                <a:gd name="T74" fmla="*/ 415 w 837"/>
                <a:gd name="T75" fmla="*/ 64 h 208"/>
                <a:gd name="T76" fmla="*/ 422 w 837"/>
                <a:gd name="T77" fmla="*/ 63 h 208"/>
                <a:gd name="T78" fmla="*/ 428 w 837"/>
                <a:gd name="T79" fmla="*/ 63 h 208"/>
                <a:gd name="T80" fmla="*/ 435 w 837"/>
                <a:gd name="T81" fmla="*/ 63 h 208"/>
                <a:gd name="T82" fmla="*/ 684 w 837"/>
                <a:gd name="T83" fmla="*/ 63 h 208"/>
                <a:gd name="T84" fmla="*/ 689 w 837"/>
                <a:gd name="T85" fmla="*/ 61 h 208"/>
                <a:gd name="T86" fmla="*/ 696 w 837"/>
                <a:gd name="T87" fmla="*/ 61 h 208"/>
                <a:gd name="T88" fmla="*/ 701 w 837"/>
                <a:gd name="T89" fmla="*/ 60 h 208"/>
                <a:gd name="T90" fmla="*/ 706 w 837"/>
                <a:gd name="T91" fmla="*/ 58 h 208"/>
                <a:gd name="T92" fmla="*/ 714 w 837"/>
                <a:gd name="T93" fmla="*/ 55 h 208"/>
                <a:gd name="T94" fmla="*/ 718 w 837"/>
                <a:gd name="T95" fmla="*/ 51 h 208"/>
                <a:gd name="T96" fmla="*/ 724 w 837"/>
                <a:gd name="T97" fmla="*/ 48 h 208"/>
                <a:gd name="T98" fmla="*/ 726 w 837"/>
                <a:gd name="T99" fmla="*/ 45 h 208"/>
                <a:gd name="T100" fmla="*/ 734 w 837"/>
                <a:gd name="T101" fmla="*/ 35 h 208"/>
                <a:gd name="T102" fmla="*/ 741 w 837"/>
                <a:gd name="T103" fmla="*/ 25 h 208"/>
                <a:gd name="T104" fmla="*/ 743 w 837"/>
                <a:gd name="T105" fmla="*/ 13 h 208"/>
                <a:gd name="T106" fmla="*/ 746 w 837"/>
                <a:gd name="T107" fmla="*/ 7 h 208"/>
                <a:gd name="T108" fmla="*/ 746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6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1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6" y="103"/>
                  </a:lnTo>
                  <a:lnTo>
                    <a:pt x="61" y="103"/>
                  </a:lnTo>
                  <a:lnTo>
                    <a:pt x="70" y="106"/>
                  </a:lnTo>
                  <a:lnTo>
                    <a:pt x="349" y="106"/>
                  </a:lnTo>
                  <a:lnTo>
                    <a:pt x="354" y="106"/>
                  </a:lnTo>
                  <a:lnTo>
                    <a:pt x="363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8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6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30" y="150"/>
                  </a:lnTo>
                  <a:lnTo>
                    <a:pt x="438" y="136"/>
                  </a:lnTo>
                  <a:lnTo>
                    <a:pt x="444" y="128"/>
                  </a:lnTo>
                  <a:lnTo>
                    <a:pt x="449" y="122"/>
                  </a:lnTo>
                  <a:lnTo>
                    <a:pt x="455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3" y="103"/>
                  </a:lnTo>
                  <a:lnTo>
                    <a:pt x="781" y="103"/>
                  </a:lnTo>
                  <a:lnTo>
                    <a:pt x="787" y="100"/>
                  </a:lnTo>
                  <a:lnTo>
                    <a:pt x="792" y="97"/>
                  </a:lnTo>
                  <a:lnTo>
                    <a:pt x="801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5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299" name="Freeform 53"/>
            <p:cNvSpPr>
              <a:spLocks/>
            </p:cNvSpPr>
            <p:nvPr/>
          </p:nvSpPr>
          <p:spPr bwMode="auto">
            <a:xfrm>
              <a:off x="2454" y="-311"/>
              <a:ext cx="837" cy="208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11 h 208"/>
                <a:gd name="T4" fmla="*/ 0 w 837"/>
                <a:gd name="T5" fmla="*/ 22 h 208"/>
                <a:gd name="T6" fmla="*/ 5 w 837"/>
                <a:gd name="T7" fmla="*/ 42 h 208"/>
                <a:gd name="T8" fmla="*/ 11 w 837"/>
                <a:gd name="T9" fmla="*/ 59 h 208"/>
                <a:gd name="T10" fmla="*/ 19 w 837"/>
                <a:gd name="T11" fmla="*/ 75 h 208"/>
                <a:gd name="T12" fmla="*/ 25 w 837"/>
                <a:gd name="T13" fmla="*/ 81 h 208"/>
                <a:gd name="T14" fmla="*/ 31 w 837"/>
                <a:gd name="T15" fmla="*/ 86 h 208"/>
                <a:gd name="T16" fmla="*/ 36 w 837"/>
                <a:gd name="T17" fmla="*/ 92 h 208"/>
                <a:gd name="T18" fmla="*/ 42 w 837"/>
                <a:gd name="T19" fmla="*/ 97 h 208"/>
                <a:gd name="T20" fmla="*/ 47 w 837"/>
                <a:gd name="T21" fmla="*/ 100 h 208"/>
                <a:gd name="T22" fmla="*/ 56 w 837"/>
                <a:gd name="T23" fmla="*/ 103 h 208"/>
                <a:gd name="T24" fmla="*/ 61 w 837"/>
                <a:gd name="T25" fmla="*/ 103 h 208"/>
                <a:gd name="T26" fmla="*/ 70 w 837"/>
                <a:gd name="T27" fmla="*/ 106 h 208"/>
                <a:gd name="T28" fmla="*/ 349 w 837"/>
                <a:gd name="T29" fmla="*/ 106 h 208"/>
                <a:gd name="T30" fmla="*/ 354 w 837"/>
                <a:gd name="T31" fmla="*/ 106 h 208"/>
                <a:gd name="T32" fmla="*/ 363 w 837"/>
                <a:gd name="T33" fmla="*/ 106 h 208"/>
                <a:gd name="T34" fmla="*/ 368 w 837"/>
                <a:gd name="T35" fmla="*/ 108 h 208"/>
                <a:gd name="T36" fmla="*/ 374 w 837"/>
                <a:gd name="T37" fmla="*/ 111 h 208"/>
                <a:gd name="T38" fmla="*/ 382 w 837"/>
                <a:gd name="T39" fmla="*/ 117 h 208"/>
                <a:gd name="T40" fmla="*/ 388 w 837"/>
                <a:gd name="T41" fmla="*/ 122 h 208"/>
                <a:gd name="T42" fmla="*/ 393 w 837"/>
                <a:gd name="T43" fmla="*/ 128 h 208"/>
                <a:gd name="T44" fmla="*/ 396 w 837"/>
                <a:gd name="T45" fmla="*/ 136 h 208"/>
                <a:gd name="T46" fmla="*/ 404 w 837"/>
                <a:gd name="T47" fmla="*/ 150 h 208"/>
                <a:gd name="T48" fmla="*/ 413 w 837"/>
                <a:gd name="T49" fmla="*/ 167 h 208"/>
                <a:gd name="T50" fmla="*/ 416 w 837"/>
                <a:gd name="T51" fmla="*/ 186 h 208"/>
                <a:gd name="T52" fmla="*/ 418 w 837"/>
                <a:gd name="T53" fmla="*/ 197 h 208"/>
                <a:gd name="T54" fmla="*/ 418 w 837"/>
                <a:gd name="T55" fmla="*/ 208 h 208"/>
                <a:gd name="T56" fmla="*/ 418 w 837"/>
                <a:gd name="T57" fmla="*/ 197 h 208"/>
                <a:gd name="T58" fmla="*/ 418 w 837"/>
                <a:gd name="T59" fmla="*/ 186 h 208"/>
                <a:gd name="T60" fmla="*/ 424 w 837"/>
                <a:gd name="T61" fmla="*/ 167 h 208"/>
                <a:gd name="T62" fmla="*/ 430 w 837"/>
                <a:gd name="T63" fmla="*/ 150 h 208"/>
                <a:gd name="T64" fmla="*/ 438 w 837"/>
                <a:gd name="T65" fmla="*/ 136 h 208"/>
                <a:gd name="T66" fmla="*/ 443 w 837"/>
                <a:gd name="T67" fmla="*/ 128 h 208"/>
                <a:gd name="T68" fmla="*/ 449 w 837"/>
                <a:gd name="T69" fmla="*/ 122 h 208"/>
                <a:gd name="T70" fmla="*/ 455 w 837"/>
                <a:gd name="T71" fmla="*/ 117 h 208"/>
                <a:gd name="T72" fmla="*/ 460 w 837"/>
                <a:gd name="T73" fmla="*/ 111 h 208"/>
                <a:gd name="T74" fmla="*/ 466 w 837"/>
                <a:gd name="T75" fmla="*/ 108 h 208"/>
                <a:gd name="T76" fmla="*/ 474 w 837"/>
                <a:gd name="T77" fmla="*/ 106 h 208"/>
                <a:gd name="T78" fmla="*/ 480 w 837"/>
                <a:gd name="T79" fmla="*/ 106 h 208"/>
                <a:gd name="T80" fmla="*/ 488 w 837"/>
                <a:gd name="T81" fmla="*/ 106 h 208"/>
                <a:gd name="T82" fmla="*/ 767 w 837"/>
                <a:gd name="T83" fmla="*/ 106 h 208"/>
                <a:gd name="T84" fmla="*/ 773 w 837"/>
                <a:gd name="T85" fmla="*/ 103 h 208"/>
                <a:gd name="T86" fmla="*/ 781 w 837"/>
                <a:gd name="T87" fmla="*/ 103 h 208"/>
                <a:gd name="T88" fmla="*/ 787 w 837"/>
                <a:gd name="T89" fmla="*/ 100 h 208"/>
                <a:gd name="T90" fmla="*/ 792 w 837"/>
                <a:gd name="T91" fmla="*/ 97 h 208"/>
                <a:gd name="T92" fmla="*/ 801 w 837"/>
                <a:gd name="T93" fmla="*/ 92 h 208"/>
                <a:gd name="T94" fmla="*/ 806 w 837"/>
                <a:gd name="T95" fmla="*/ 86 h 208"/>
                <a:gd name="T96" fmla="*/ 812 w 837"/>
                <a:gd name="T97" fmla="*/ 81 h 208"/>
                <a:gd name="T98" fmla="*/ 815 w 837"/>
                <a:gd name="T99" fmla="*/ 75 h 208"/>
                <a:gd name="T100" fmla="*/ 823 w 837"/>
                <a:gd name="T101" fmla="*/ 59 h 208"/>
                <a:gd name="T102" fmla="*/ 831 w 837"/>
                <a:gd name="T103" fmla="*/ 42 h 208"/>
                <a:gd name="T104" fmla="*/ 834 w 837"/>
                <a:gd name="T105" fmla="*/ 22 h 208"/>
                <a:gd name="T106" fmla="*/ 837 w 837"/>
                <a:gd name="T107" fmla="*/ 11 h 208"/>
                <a:gd name="T108" fmla="*/ 837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5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1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6" y="103"/>
                  </a:lnTo>
                  <a:lnTo>
                    <a:pt x="61" y="103"/>
                  </a:lnTo>
                  <a:lnTo>
                    <a:pt x="70" y="106"/>
                  </a:lnTo>
                  <a:lnTo>
                    <a:pt x="349" y="106"/>
                  </a:lnTo>
                  <a:lnTo>
                    <a:pt x="354" y="106"/>
                  </a:lnTo>
                  <a:lnTo>
                    <a:pt x="363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8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6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30" y="150"/>
                  </a:lnTo>
                  <a:lnTo>
                    <a:pt x="438" y="136"/>
                  </a:lnTo>
                  <a:lnTo>
                    <a:pt x="443" y="128"/>
                  </a:lnTo>
                  <a:lnTo>
                    <a:pt x="449" y="122"/>
                  </a:lnTo>
                  <a:lnTo>
                    <a:pt x="455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3" y="103"/>
                  </a:lnTo>
                  <a:lnTo>
                    <a:pt x="781" y="103"/>
                  </a:lnTo>
                  <a:lnTo>
                    <a:pt x="787" y="100"/>
                  </a:lnTo>
                  <a:lnTo>
                    <a:pt x="792" y="97"/>
                  </a:lnTo>
                  <a:lnTo>
                    <a:pt x="801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5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00" name="Freeform 52"/>
            <p:cNvSpPr>
              <a:spLocks/>
            </p:cNvSpPr>
            <p:nvPr/>
          </p:nvSpPr>
          <p:spPr bwMode="auto">
            <a:xfrm>
              <a:off x="3386" y="-311"/>
              <a:ext cx="837" cy="208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11 h 208"/>
                <a:gd name="T4" fmla="*/ 0 w 837"/>
                <a:gd name="T5" fmla="*/ 22 h 208"/>
                <a:gd name="T6" fmla="*/ 5 w 837"/>
                <a:gd name="T7" fmla="*/ 42 h 208"/>
                <a:gd name="T8" fmla="*/ 11 w 837"/>
                <a:gd name="T9" fmla="*/ 59 h 208"/>
                <a:gd name="T10" fmla="*/ 19 w 837"/>
                <a:gd name="T11" fmla="*/ 75 h 208"/>
                <a:gd name="T12" fmla="*/ 25 w 837"/>
                <a:gd name="T13" fmla="*/ 81 h 208"/>
                <a:gd name="T14" fmla="*/ 31 w 837"/>
                <a:gd name="T15" fmla="*/ 86 h 208"/>
                <a:gd name="T16" fmla="*/ 36 w 837"/>
                <a:gd name="T17" fmla="*/ 92 h 208"/>
                <a:gd name="T18" fmla="*/ 42 w 837"/>
                <a:gd name="T19" fmla="*/ 97 h 208"/>
                <a:gd name="T20" fmla="*/ 47 w 837"/>
                <a:gd name="T21" fmla="*/ 100 h 208"/>
                <a:gd name="T22" fmla="*/ 56 w 837"/>
                <a:gd name="T23" fmla="*/ 103 h 208"/>
                <a:gd name="T24" fmla="*/ 61 w 837"/>
                <a:gd name="T25" fmla="*/ 103 h 208"/>
                <a:gd name="T26" fmla="*/ 70 w 837"/>
                <a:gd name="T27" fmla="*/ 106 h 208"/>
                <a:gd name="T28" fmla="*/ 349 w 837"/>
                <a:gd name="T29" fmla="*/ 106 h 208"/>
                <a:gd name="T30" fmla="*/ 354 w 837"/>
                <a:gd name="T31" fmla="*/ 106 h 208"/>
                <a:gd name="T32" fmla="*/ 363 w 837"/>
                <a:gd name="T33" fmla="*/ 106 h 208"/>
                <a:gd name="T34" fmla="*/ 368 w 837"/>
                <a:gd name="T35" fmla="*/ 108 h 208"/>
                <a:gd name="T36" fmla="*/ 374 w 837"/>
                <a:gd name="T37" fmla="*/ 111 h 208"/>
                <a:gd name="T38" fmla="*/ 382 w 837"/>
                <a:gd name="T39" fmla="*/ 117 h 208"/>
                <a:gd name="T40" fmla="*/ 388 w 837"/>
                <a:gd name="T41" fmla="*/ 122 h 208"/>
                <a:gd name="T42" fmla="*/ 393 w 837"/>
                <a:gd name="T43" fmla="*/ 128 h 208"/>
                <a:gd name="T44" fmla="*/ 396 w 837"/>
                <a:gd name="T45" fmla="*/ 136 h 208"/>
                <a:gd name="T46" fmla="*/ 404 w 837"/>
                <a:gd name="T47" fmla="*/ 150 h 208"/>
                <a:gd name="T48" fmla="*/ 413 w 837"/>
                <a:gd name="T49" fmla="*/ 167 h 208"/>
                <a:gd name="T50" fmla="*/ 416 w 837"/>
                <a:gd name="T51" fmla="*/ 186 h 208"/>
                <a:gd name="T52" fmla="*/ 418 w 837"/>
                <a:gd name="T53" fmla="*/ 197 h 208"/>
                <a:gd name="T54" fmla="*/ 418 w 837"/>
                <a:gd name="T55" fmla="*/ 208 h 208"/>
                <a:gd name="T56" fmla="*/ 418 w 837"/>
                <a:gd name="T57" fmla="*/ 197 h 208"/>
                <a:gd name="T58" fmla="*/ 418 w 837"/>
                <a:gd name="T59" fmla="*/ 186 h 208"/>
                <a:gd name="T60" fmla="*/ 424 w 837"/>
                <a:gd name="T61" fmla="*/ 167 h 208"/>
                <a:gd name="T62" fmla="*/ 429 w 837"/>
                <a:gd name="T63" fmla="*/ 150 h 208"/>
                <a:gd name="T64" fmla="*/ 438 w 837"/>
                <a:gd name="T65" fmla="*/ 136 h 208"/>
                <a:gd name="T66" fmla="*/ 443 w 837"/>
                <a:gd name="T67" fmla="*/ 128 h 208"/>
                <a:gd name="T68" fmla="*/ 449 w 837"/>
                <a:gd name="T69" fmla="*/ 122 h 208"/>
                <a:gd name="T70" fmla="*/ 455 w 837"/>
                <a:gd name="T71" fmla="*/ 117 h 208"/>
                <a:gd name="T72" fmla="*/ 460 w 837"/>
                <a:gd name="T73" fmla="*/ 111 h 208"/>
                <a:gd name="T74" fmla="*/ 466 w 837"/>
                <a:gd name="T75" fmla="*/ 108 h 208"/>
                <a:gd name="T76" fmla="*/ 474 w 837"/>
                <a:gd name="T77" fmla="*/ 106 h 208"/>
                <a:gd name="T78" fmla="*/ 480 w 837"/>
                <a:gd name="T79" fmla="*/ 106 h 208"/>
                <a:gd name="T80" fmla="*/ 488 w 837"/>
                <a:gd name="T81" fmla="*/ 106 h 208"/>
                <a:gd name="T82" fmla="*/ 767 w 837"/>
                <a:gd name="T83" fmla="*/ 106 h 208"/>
                <a:gd name="T84" fmla="*/ 773 w 837"/>
                <a:gd name="T85" fmla="*/ 103 h 208"/>
                <a:gd name="T86" fmla="*/ 781 w 837"/>
                <a:gd name="T87" fmla="*/ 103 h 208"/>
                <a:gd name="T88" fmla="*/ 787 w 837"/>
                <a:gd name="T89" fmla="*/ 100 h 208"/>
                <a:gd name="T90" fmla="*/ 792 w 837"/>
                <a:gd name="T91" fmla="*/ 97 h 208"/>
                <a:gd name="T92" fmla="*/ 801 w 837"/>
                <a:gd name="T93" fmla="*/ 92 h 208"/>
                <a:gd name="T94" fmla="*/ 806 w 837"/>
                <a:gd name="T95" fmla="*/ 86 h 208"/>
                <a:gd name="T96" fmla="*/ 812 w 837"/>
                <a:gd name="T97" fmla="*/ 81 h 208"/>
                <a:gd name="T98" fmla="*/ 814 w 837"/>
                <a:gd name="T99" fmla="*/ 75 h 208"/>
                <a:gd name="T100" fmla="*/ 823 w 837"/>
                <a:gd name="T101" fmla="*/ 59 h 208"/>
                <a:gd name="T102" fmla="*/ 831 w 837"/>
                <a:gd name="T103" fmla="*/ 42 h 208"/>
                <a:gd name="T104" fmla="*/ 834 w 837"/>
                <a:gd name="T105" fmla="*/ 22 h 208"/>
                <a:gd name="T106" fmla="*/ 837 w 837"/>
                <a:gd name="T107" fmla="*/ 11 h 208"/>
                <a:gd name="T108" fmla="*/ 837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5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1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6" y="103"/>
                  </a:lnTo>
                  <a:lnTo>
                    <a:pt x="61" y="103"/>
                  </a:lnTo>
                  <a:lnTo>
                    <a:pt x="70" y="106"/>
                  </a:lnTo>
                  <a:lnTo>
                    <a:pt x="349" y="106"/>
                  </a:lnTo>
                  <a:lnTo>
                    <a:pt x="354" y="106"/>
                  </a:lnTo>
                  <a:lnTo>
                    <a:pt x="363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8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6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29" y="150"/>
                  </a:lnTo>
                  <a:lnTo>
                    <a:pt x="438" y="136"/>
                  </a:lnTo>
                  <a:lnTo>
                    <a:pt x="443" y="128"/>
                  </a:lnTo>
                  <a:lnTo>
                    <a:pt x="449" y="122"/>
                  </a:lnTo>
                  <a:lnTo>
                    <a:pt x="455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3" y="103"/>
                  </a:lnTo>
                  <a:lnTo>
                    <a:pt x="781" y="103"/>
                  </a:lnTo>
                  <a:lnTo>
                    <a:pt x="787" y="100"/>
                  </a:lnTo>
                  <a:lnTo>
                    <a:pt x="792" y="97"/>
                  </a:lnTo>
                  <a:lnTo>
                    <a:pt x="801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4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01" name="Freeform 51"/>
            <p:cNvSpPr>
              <a:spLocks/>
            </p:cNvSpPr>
            <p:nvPr/>
          </p:nvSpPr>
          <p:spPr bwMode="auto">
            <a:xfrm>
              <a:off x="4318" y="-270"/>
              <a:ext cx="775" cy="146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8 h 208"/>
                <a:gd name="T4" fmla="*/ 0 w 837"/>
                <a:gd name="T5" fmla="*/ 15 h 208"/>
                <a:gd name="T6" fmla="*/ 5 w 837"/>
                <a:gd name="T7" fmla="*/ 29 h 208"/>
                <a:gd name="T8" fmla="*/ 10 w 837"/>
                <a:gd name="T9" fmla="*/ 41 h 208"/>
                <a:gd name="T10" fmla="*/ 18 w 837"/>
                <a:gd name="T11" fmla="*/ 53 h 208"/>
                <a:gd name="T12" fmla="*/ 23 w 837"/>
                <a:gd name="T13" fmla="*/ 57 h 208"/>
                <a:gd name="T14" fmla="*/ 28 w 837"/>
                <a:gd name="T15" fmla="*/ 60 h 208"/>
                <a:gd name="T16" fmla="*/ 33 w 837"/>
                <a:gd name="T17" fmla="*/ 65 h 208"/>
                <a:gd name="T18" fmla="*/ 39 w 837"/>
                <a:gd name="T19" fmla="*/ 68 h 208"/>
                <a:gd name="T20" fmla="*/ 44 w 837"/>
                <a:gd name="T21" fmla="*/ 70 h 208"/>
                <a:gd name="T22" fmla="*/ 52 w 837"/>
                <a:gd name="T23" fmla="*/ 72 h 208"/>
                <a:gd name="T24" fmla="*/ 56 w 837"/>
                <a:gd name="T25" fmla="*/ 72 h 208"/>
                <a:gd name="T26" fmla="*/ 65 w 837"/>
                <a:gd name="T27" fmla="*/ 74 h 208"/>
                <a:gd name="T28" fmla="*/ 323 w 837"/>
                <a:gd name="T29" fmla="*/ 74 h 208"/>
                <a:gd name="T30" fmla="*/ 328 w 837"/>
                <a:gd name="T31" fmla="*/ 74 h 208"/>
                <a:gd name="T32" fmla="*/ 335 w 837"/>
                <a:gd name="T33" fmla="*/ 74 h 208"/>
                <a:gd name="T34" fmla="*/ 341 w 837"/>
                <a:gd name="T35" fmla="*/ 76 h 208"/>
                <a:gd name="T36" fmla="*/ 346 w 837"/>
                <a:gd name="T37" fmla="*/ 78 h 208"/>
                <a:gd name="T38" fmla="*/ 354 w 837"/>
                <a:gd name="T39" fmla="*/ 82 h 208"/>
                <a:gd name="T40" fmla="*/ 359 w 837"/>
                <a:gd name="T41" fmla="*/ 86 h 208"/>
                <a:gd name="T42" fmla="*/ 364 w 837"/>
                <a:gd name="T43" fmla="*/ 90 h 208"/>
                <a:gd name="T44" fmla="*/ 367 w 837"/>
                <a:gd name="T45" fmla="*/ 95 h 208"/>
                <a:gd name="T46" fmla="*/ 374 w 837"/>
                <a:gd name="T47" fmla="*/ 105 h 208"/>
                <a:gd name="T48" fmla="*/ 382 w 837"/>
                <a:gd name="T49" fmla="*/ 117 h 208"/>
                <a:gd name="T50" fmla="*/ 384 w 837"/>
                <a:gd name="T51" fmla="*/ 131 h 208"/>
                <a:gd name="T52" fmla="*/ 387 w 837"/>
                <a:gd name="T53" fmla="*/ 138 h 208"/>
                <a:gd name="T54" fmla="*/ 387 w 837"/>
                <a:gd name="T55" fmla="*/ 146 h 208"/>
                <a:gd name="T56" fmla="*/ 387 w 837"/>
                <a:gd name="T57" fmla="*/ 138 h 208"/>
                <a:gd name="T58" fmla="*/ 387 w 837"/>
                <a:gd name="T59" fmla="*/ 131 h 208"/>
                <a:gd name="T60" fmla="*/ 393 w 837"/>
                <a:gd name="T61" fmla="*/ 117 h 208"/>
                <a:gd name="T62" fmla="*/ 397 w 837"/>
                <a:gd name="T63" fmla="*/ 105 h 208"/>
                <a:gd name="T64" fmla="*/ 406 w 837"/>
                <a:gd name="T65" fmla="*/ 95 h 208"/>
                <a:gd name="T66" fmla="*/ 410 w 837"/>
                <a:gd name="T67" fmla="*/ 90 h 208"/>
                <a:gd name="T68" fmla="*/ 416 w 837"/>
                <a:gd name="T69" fmla="*/ 86 h 208"/>
                <a:gd name="T70" fmla="*/ 421 w 837"/>
                <a:gd name="T71" fmla="*/ 82 h 208"/>
                <a:gd name="T72" fmla="*/ 426 w 837"/>
                <a:gd name="T73" fmla="*/ 78 h 208"/>
                <a:gd name="T74" fmla="*/ 431 w 837"/>
                <a:gd name="T75" fmla="*/ 76 h 208"/>
                <a:gd name="T76" fmla="*/ 439 w 837"/>
                <a:gd name="T77" fmla="*/ 74 h 208"/>
                <a:gd name="T78" fmla="*/ 444 w 837"/>
                <a:gd name="T79" fmla="*/ 74 h 208"/>
                <a:gd name="T80" fmla="*/ 452 w 837"/>
                <a:gd name="T81" fmla="*/ 74 h 208"/>
                <a:gd name="T82" fmla="*/ 710 w 837"/>
                <a:gd name="T83" fmla="*/ 74 h 208"/>
                <a:gd name="T84" fmla="*/ 716 w 837"/>
                <a:gd name="T85" fmla="*/ 72 h 208"/>
                <a:gd name="T86" fmla="*/ 723 w 837"/>
                <a:gd name="T87" fmla="*/ 72 h 208"/>
                <a:gd name="T88" fmla="*/ 729 w 837"/>
                <a:gd name="T89" fmla="*/ 70 h 208"/>
                <a:gd name="T90" fmla="*/ 733 w 837"/>
                <a:gd name="T91" fmla="*/ 68 h 208"/>
                <a:gd name="T92" fmla="*/ 741 w 837"/>
                <a:gd name="T93" fmla="*/ 65 h 208"/>
                <a:gd name="T94" fmla="*/ 746 w 837"/>
                <a:gd name="T95" fmla="*/ 60 h 208"/>
                <a:gd name="T96" fmla="*/ 752 w 837"/>
                <a:gd name="T97" fmla="*/ 57 h 208"/>
                <a:gd name="T98" fmla="*/ 754 w 837"/>
                <a:gd name="T99" fmla="*/ 53 h 208"/>
                <a:gd name="T100" fmla="*/ 762 w 837"/>
                <a:gd name="T101" fmla="*/ 41 h 208"/>
                <a:gd name="T102" fmla="*/ 769 w 837"/>
                <a:gd name="T103" fmla="*/ 29 h 208"/>
                <a:gd name="T104" fmla="*/ 772 w 837"/>
                <a:gd name="T105" fmla="*/ 15 h 208"/>
                <a:gd name="T106" fmla="*/ 775 w 837"/>
                <a:gd name="T107" fmla="*/ 8 h 208"/>
                <a:gd name="T108" fmla="*/ 775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5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0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6" y="103"/>
                  </a:lnTo>
                  <a:lnTo>
                    <a:pt x="61" y="103"/>
                  </a:lnTo>
                  <a:lnTo>
                    <a:pt x="70" y="106"/>
                  </a:lnTo>
                  <a:lnTo>
                    <a:pt x="349" y="106"/>
                  </a:lnTo>
                  <a:lnTo>
                    <a:pt x="354" y="106"/>
                  </a:lnTo>
                  <a:lnTo>
                    <a:pt x="362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8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5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29" y="150"/>
                  </a:lnTo>
                  <a:lnTo>
                    <a:pt x="438" y="136"/>
                  </a:lnTo>
                  <a:lnTo>
                    <a:pt x="443" y="128"/>
                  </a:lnTo>
                  <a:lnTo>
                    <a:pt x="449" y="122"/>
                  </a:lnTo>
                  <a:lnTo>
                    <a:pt x="455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3" y="103"/>
                  </a:lnTo>
                  <a:lnTo>
                    <a:pt x="781" y="103"/>
                  </a:lnTo>
                  <a:lnTo>
                    <a:pt x="787" y="100"/>
                  </a:lnTo>
                  <a:lnTo>
                    <a:pt x="792" y="97"/>
                  </a:lnTo>
                  <a:lnTo>
                    <a:pt x="800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4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02" name="Freeform 50"/>
            <p:cNvSpPr>
              <a:spLocks/>
            </p:cNvSpPr>
            <p:nvPr/>
          </p:nvSpPr>
          <p:spPr bwMode="auto">
            <a:xfrm>
              <a:off x="5250" y="-311"/>
              <a:ext cx="775" cy="208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11 h 208"/>
                <a:gd name="T4" fmla="*/ 0 w 837"/>
                <a:gd name="T5" fmla="*/ 22 h 208"/>
                <a:gd name="T6" fmla="*/ 5 w 837"/>
                <a:gd name="T7" fmla="*/ 42 h 208"/>
                <a:gd name="T8" fmla="*/ 10 w 837"/>
                <a:gd name="T9" fmla="*/ 59 h 208"/>
                <a:gd name="T10" fmla="*/ 18 w 837"/>
                <a:gd name="T11" fmla="*/ 75 h 208"/>
                <a:gd name="T12" fmla="*/ 23 w 837"/>
                <a:gd name="T13" fmla="*/ 81 h 208"/>
                <a:gd name="T14" fmla="*/ 28 w 837"/>
                <a:gd name="T15" fmla="*/ 86 h 208"/>
                <a:gd name="T16" fmla="*/ 33 w 837"/>
                <a:gd name="T17" fmla="*/ 92 h 208"/>
                <a:gd name="T18" fmla="*/ 39 w 837"/>
                <a:gd name="T19" fmla="*/ 97 h 208"/>
                <a:gd name="T20" fmla="*/ 44 w 837"/>
                <a:gd name="T21" fmla="*/ 100 h 208"/>
                <a:gd name="T22" fmla="*/ 52 w 837"/>
                <a:gd name="T23" fmla="*/ 103 h 208"/>
                <a:gd name="T24" fmla="*/ 56 w 837"/>
                <a:gd name="T25" fmla="*/ 103 h 208"/>
                <a:gd name="T26" fmla="*/ 64 w 837"/>
                <a:gd name="T27" fmla="*/ 106 h 208"/>
                <a:gd name="T28" fmla="*/ 322 w 837"/>
                <a:gd name="T29" fmla="*/ 106 h 208"/>
                <a:gd name="T30" fmla="*/ 328 w 837"/>
                <a:gd name="T31" fmla="*/ 106 h 208"/>
                <a:gd name="T32" fmla="*/ 335 w 837"/>
                <a:gd name="T33" fmla="*/ 106 h 208"/>
                <a:gd name="T34" fmla="*/ 341 w 837"/>
                <a:gd name="T35" fmla="*/ 108 h 208"/>
                <a:gd name="T36" fmla="*/ 346 w 837"/>
                <a:gd name="T37" fmla="*/ 111 h 208"/>
                <a:gd name="T38" fmla="*/ 354 w 837"/>
                <a:gd name="T39" fmla="*/ 117 h 208"/>
                <a:gd name="T40" fmla="*/ 359 w 837"/>
                <a:gd name="T41" fmla="*/ 122 h 208"/>
                <a:gd name="T42" fmla="*/ 364 w 837"/>
                <a:gd name="T43" fmla="*/ 128 h 208"/>
                <a:gd name="T44" fmla="*/ 367 w 837"/>
                <a:gd name="T45" fmla="*/ 136 h 208"/>
                <a:gd name="T46" fmla="*/ 374 w 837"/>
                <a:gd name="T47" fmla="*/ 150 h 208"/>
                <a:gd name="T48" fmla="*/ 382 w 837"/>
                <a:gd name="T49" fmla="*/ 167 h 208"/>
                <a:gd name="T50" fmla="*/ 384 w 837"/>
                <a:gd name="T51" fmla="*/ 186 h 208"/>
                <a:gd name="T52" fmla="*/ 387 w 837"/>
                <a:gd name="T53" fmla="*/ 197 h 208"/>
                <a:gd name="T54" fmla="*/ 387 w 837"/>
                <a:gd name="T55" fmla="*/ 208 h 208"/>
                <a:gd name="T56" fmla="*/ 387 w 837"/>
                <a:gd name="T57" fmla="*/ 197 h 208"/>
                <a:gd name="T58" fmla="*/ 387 w 837"/>
                <a:gd name="T59" fmla="*/ 186 h 208"/>
                <a:gd name="T60" fmla="*/ 393 w 837"/>
                <a:gd name="T61" fmla="*/ 167 h 208"/>
                <a:gd name="T62" fmla="*/ 397 w 837"/>
                <a:gd name="T63" fmla="*/ 150 h 208"/>
                <a:gd name="T64" fmla="*/ 406 w 837"/>
                <a:gd name="T65" fmla="*/ 136 h 208"/>
                <a:gd name="T66" fmla="*/ 410 w 837"/>
                <a:gd name="T67" fmla="*/ 128 h 208"/>
                <a:gd name="T68" fmla="*/ 416 w 837"/>
                <a:gd name="T69" fmla="*/ 122 h 208"/>
                <a:gd name="T70" fmla="*/ 420 w 837"/>
                <a:gd name="T71" fmla="*/ 117 h 208"/>
                <a:gd name="T72" fmla="*/ 426 w 837"/>
                <a:gd name="T73" fmla="*/ 111 h 208"/>
                <a:gd name="T74" fmla="*/ 431 w 837"/>
                <a:gd name="T75" fmla="*/ 108 h 208"/>
                <a:gd name="T76" fmla="*/ 439 w 837"/>
                <a:gd name="T77" fmla="*/ 106 h 208"/>
                <a:gd name="T78" fmla="*/ 444 w 837"/>
                <a:gd name="T79" fmla="*/ 106 h 208"/>
                <a:gd name="T80" fmla="*/ 452 w 837"/>
                <a:gd name="T81" fmla="*/ 106 h 208"/>
                <a:gd name="T82" fmla="*/ 710 w 837"/>
                <a:gd name="T83" fmla="*/ 106 h 208"/>
                <a:gd name="T84" fmla="*/ 716 w 837"/>
                <a:gd name="T85" fmla="*/ 103 h 208"/>
                <a:gd name="T86" fmla="*/ 723 w 837"/>
                <a:gd name="T87" fmla="*/ 103 h 208"/>
                <a:gd name="T88" fmla="*/ 728 w 837"/>
                <a:gd name="T89" fmla="*/ 100 h 208"/>
                <a:gd name="T90" fmla="*/ 733 w 837"/>
                <a:gd name="T91" fmla="*/ 97 h 208"/>
                <a:gd name="T92" fmla="*/ 741 w 837"/>
                <a:gd name="T93" fmla="*/ 92 h 208"/>
                <a:gd name="T94" fmla="*/ 746 w 837"/>
                <a:gd name="T95" fmla="*/ 86 h 208"/>
                <a:gd name="T96" fmla="*/ 752 w 837"/>
                <a:gd name="T97" fmla="*/ 81 h 208"/>
                <a:gd name="T98" fmla="*/ 754 w 837"/>
                <a:gd name="T99" fmla="*/ 75 h 208"/>
                <a:gd name="T100" fmla="*/ 762 w 837"/>
                <a:gd name="T101" fmla="*/ 59 h 208"/>
                <a:gd name="T102" fmla="*/ 769 w 837"/>
                <a:gd name="T103" fmla="*/ 42 h 208"/>
                <a:gd name="T104" fmla="*/ 772 w 837"/>
                <a:gd name="T105" fmla="*/ 22 h 208"/>
                <a:gd name="T106" fmla="*/ 775 w 837"/>
                <a:gd name="T107" fmla="*/ 11 h 208"/>
                <a:gd name="T108" fmla="*/ 775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5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0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6" y="103"/>
                  </a:lnTo>
                  <a:lnTo>
                    <a:pt x="61" y="103"/>
                  </a:lnTo>
                  <a:lnTo>
                    <a:pt x="69" y="106"/>
                  </a:lnTo>
                  <a:lnTo>
                    <a:pt x="348" y="106"/>
                  </a:lnTo>
                  <a:lnTo>
                    <a:pt x="354" y="106"/>
                  </a:lnTo>
                  <a:lnTo>
                    <a:pt x="362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8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5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29" y="150"/>
                  </a:lnTo>
                  <a:lnTo>
                    <a:pt x="438" y="136"/>
                  </a:lnTo>
                  <a:lnTo>
                    <a:pt x="443" y="128"/>
                  </a:lnTo>
                  <a:lnTo>
                    <a:pt x="449" y="122"/>
                  </a:lnTo>
                  <a:lnTo>
                    <a:pt x="454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3" y="103"/>
                  </a:lnTo>
                  <a:lnTo>
                    <a:pt x="781" y="103"/>
                  </a:lnTo>
                  <a:lnTo>
                    <a:pt x="786" y="100"/>
                  </a:lnTo>
                  <a:lnTo>
                    <a:pt x="792" y="97"/>
                  </a:lnTo>
                  <a:lnTo>
                    <a:pt x="800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4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03" name="Freeform 49"/>
            <p:cNvSpPr>
              <a:spLocks/>
            </p:cNvSpPr>
            <p:nvPr/>
          </p:nvSpPr>
          <p:spPr bwMode="auto">
            <a:xfrm>
              <a:off x="6120" y="-332"/>
              <a:ext cx="837" cy="208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11 h 208"/>
                <a:gd name="T4" fmla="*/ 0 w 837"/>
                <a:gd name="T5" fmla="*/ 22 h 208"/>
                <a:gd name="T6" fmla="*/ 5 w 837"/>
                <a:gd name="T7" fmla="*/ 42 h 208"/>
                <a:gd name="T8" fmla="*/ 11 w 837"/>
                <a:gd name="T9" fmla="*/ 59 h 208"/>
                <a:gd name="T10" fmla="*/ 19 w 837"/>
                <a:gd name="T11" fmla="*/ 75 h 208"/>
                <a:gd name="T12" fmla="*/ 25 w 837"/>
                <a:gd name="T13" fmla="*/ 81 h 208"/>
                <a:gd name="T14" fmla="*/ 30 w 837"/>
                <a:gd name="T15" fmla="*/ 86 h 208"/>
                <a:gd name="T16" fmla="*/ 36 w 837"/>
                <a:gd name="T17" fmla="*/ 92 h 208"/>
                <a:gd name="T18" fmla="*/ 42 w 837"/>
                <a:gd name="T19" fmla="*/ 97 h 208"/>
                <a:gd name="T20" fmla="*/ 47 w 837"/>
                <a:gd name="T21" fmla="*/ 100 h 208"/>
                <a:gd name="T22" fmla="*/ 55 w 837"/>
                <a:gd name="T23" fmla="*/ 103 h 208"/>
                <a:gd name="T24" fmla="*/ 61 w 837"/>
                <a:gd name="T25" fmla="*/ 103 h 208"/>
                <a:gd name="T26" fmla="*/ 69 w 837"/>
                <a:gd name="T27" fmla="*/ 106 h 208"/>
                <a:gd name="T28" fmla="*/ 348 w 837"/>
                <a:gd name="T29" fmla="*/ 106 h 208"/>
                <a:gd name="T30" fmla="*/ 354 w 837"/>
                <a:gd name="T31" fmla="*/ 106 h 208"/>
                <a:gd name="T32" fmla="*/ 362 w 837"/>
                <a:gd name="T33" fmla="*/ 106 h 208"/>
                <a:gd name="T34" fmla="*/ 368 w 837"/>
                <a:gd name="T35" fmla="*/ 108 h 208"/>
                <a:gd name="T36" fmla="*/ 374 w 837"/>
                <a:gd name="T37" fmla="*/ 111 h 208"/>
                <a:gd name="T38" fmla="*/ 382 w 837"/>
                <a:gd name="T39" fmla="*/ 117 h 208"/>
                <a:gd name="T40" fmla="*/ 387 w 837"/>
                <a:gd name="T41" fmla="*/ 122 h 208"/>
                <a:gd name="T42" fmla="*/ 393 w 837"/>
                <a:gd name="T43" fmla="*/ 128 h 208"/>
                <a:gd name="T44" fmla="*/ 396 w 837"/>
                <a:gd name="T45" fmla="*/ 136 h 208"/>
                <a:gd name="T46" fmla="*/ 404 w 837"/>
                <a:gd name="T47" fmla="*/ 150 h 208"/>
                <a:gd name="T48" fmla="*/ 413 w 837"/>
                <a:gd name="T49" fmla="*/ 167 h 208"/>
                <a:gd name="T50" fmla="*/ 415 w 837"/>
                <a:gd name="T51" fmla="*/ 186 h 208"/>
                <a:gd name="T52" fmla="*/ 418 w 837"/>
                <a:gd name="T53" fmla="*/ 197 h 208"/>
                <a:gd name="T54" fmla="*/ 418 w 837"/>
                <a:gd name="T55" fmla="*/ 208 h 208"/>
                <a:gd name="T56" fmla="*/ 418 w 837"/>
                <a:gd name="T57" fmla="*/ 197 h 208"/>
                <a:gd name="T58" fmla="*/ 418 w 837"/>
                <a:gd name="T59" fmla="*/ 186 h 208"/>
                <a:gd name="T60" fmla="*/ 424 w 837"/>
                <a:gd name="T61" fmla="*/ 167 h 208"/>
                <a:gd name="T62" fmla="*/ 429 w 837"/>
                <a:gd name="T63" fmla="*/ 150 h 208"/>
                <a:gd name="T64" fmla="*/ 438 w 837"/>
                <a:gd name="T65" fmla="*/ 136 h 208"/>
                <a:gd name="T66" fmla="*/ 443 w 837"/>
                <a:gd name="T67" fmla="*/ 128 h 208"/>
                <a:gd name="T68" fmla="*/ 449 w 837"/>
                <a:gd name="T69" fmla="*/ 122 h 208"/>
                <a:gd name="T70" fmla="*/ 454 w 837"/>
                <a:gd name="T71" fmla="*/ 117 h 208"/>
                <a:gd name="T72" fmla="*/ 460 w 837"/>
                <a:gd name="T73" fmla="*/ 111 h 208"/>
                <a:gd name="T74" fmla="*/ 466 w 837"/>
                <a:gd name="T75" fmla="*/ 108 h 208"/>
                <a:gd name="T76" fmla="*/ 474 w 837"/>
                <a:gd name="T77" fmla="*/ 106 h 208"/>
                <a:gd name="T78" fmla="*/ 480 w 837"/>
                <a:gd name="T79" fmla="*/ 106 h 208"/>
                <a:gd name="T80" fmla="*/ 488 w 837"/>
                <a:gd name="T81" fmla="*/ 106 h 208"/>
                <a:gd name="T82" fmla="*/ 767 w 837"/>
                <a:gd name="T83" fmla="*/ 106 h 208"/>
                <a:gd name="T84" fmla="*/ 772 w 837"/>
                <a:gd name="T85" fmla="*/ 103 h 208"/>
                <a:gd name="T86" fmla="*/ 781 w 837"/>
                <a:gd name="T87" fmla="*/ 103 h 208"/>
                <a:gd name="T88" fmla="*/ 786 w 837"/>
                <a:gd name="T89" fmla="*/ 100 h 208"/>
                <a:gd name="T90" fmla="*/ 792 w 837"/>
                <a:gd name="T91" fmla="*/ 97 h 208"/>
                <a:gd name="T92" fmla="*/ 800 w 837"/>
                <a:gd name="T93" fmla="*/ 92 h 208"/>
                <a:gd name="T94" fmla="*/ 806 w 837"/>
                <a:gd name="T95" fmla="*/ 86 h 208"/>
                <a:gd name="T96" fmla="*/ 812 w 837"/>
                <a:gd name="T97" fmla="*/ 81 h 208"/>
                <a:gd name="T98" fmla="*/ 814 w 837"/>
                <a:gd name="T99" fmla="*/ 75 h 208"/>
                <a:gd name="T100" fmla="*/ 823 w 837"/>
                <a:gd name="T101" fmla="*/ 59 h 208"/>
                <a:gd name="T102" fmla="*/ 831 w 837"/>
                <a:gd name="T103" fmla="*/ 42 h 208"/>
                <a:gd name="T104" fmla="*/ 834 w 837"/>
                <a:gd name="T105" fmla="*/ 22 h 208"/>
                <a:gd name="T106" fmla="*/ 837 w 837"/>
                <a:gd name="T107" fmla="*/ 11 h 208"/>
                <a:gd name="T108" fmla="*/ 837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5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0" y="86"/>
                  </a:lnTo>
                  <a:lnTo>
                    <a:pt x="36" y="92"/>
                  </a:lnTo>
                  <a:lnTo>
                    <a:pt x="42" y="97"/>
                  </a:lnTo>
                  <a:lnTo>
                    <a:pt x="47" y="100"/>
                  </a:lnTo>
                  <a:lnTo>
                    <a:pt x="55" y="103"/>
                  </a:lnTo>
                  <a:lnTo>
                    <a:pt x="61" y="103"/>
                  </a:lnTo>
                  <a:lnTo>
                    <a:pt x="69" y="106"/>
                  </a:lnTo>
                  <a:lnTo>
                    <a:pt x="348" y="106"/>
                  </a:lnTo>
                  <a:lnTo>
                    <a:pt x="354" y="106"/>
                  </a:lnTo>
                  <a:lnTo>
                    <a:pt x="362" y="106"/>
                  </a:lnTo>
                  <a:lnTo>
                    <a:pt x="368" y="108"/>
                  </a:lnTo>
                  <a:lnTo>
                    <a:pt x="374" y="111"/>
                  </a:lnTo>
                  <a:lnTo>
                    <a:pt x="382" y="117"/>
                  </a:lnTo>
                  <a:lnTo>
                    <a:pt x="387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5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29" y="150"/>
                  </a:lnTo>
                  <a:lnTo>
                    <a:pt x="438" y="136"/>
                  </a:lnTo>
                  <a:lnTo>
                    <a:pt x="443" y="128"/>
                  </a:lnTo>
                  <a:lnTo>
                    <a:pt x="449" y="122"/>
                  </a:lnTo>
                  <a:lnTo>
                    <a:pt x="454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80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2" y="103"/>
                  </a:lnTo>
                  <a:lnTo>
                    <a:pt x="781" y="103"/>
                  </a:lnTo>
                  <a:lnTo>
                    <a:pt x="786" y="100"/>
                  </a:lnTo>
                  <a:lnTo>
                    <a:pt x="792" y="97"/>
                  </a:lnTo>
                  <a:lnTo>
                    <a:pt x="800" y="92"/>
                  </a:lnTo>
                  <a:lnTo>
                    <a:pt x="806" y="86"/>
                  </a:lnTo>
                  <a:lnTo>
                    <a:pt x="812" y="81"/>
                  </a:lnTo>
                  <a:lnTo>
                    <a:pt x="814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04" name="Freeform 48"/>
            <p:cNvSpPr>
              <a:spLocks/>
            </p:cNvSpPr>
            <p:nvPr/>
          </p:nvSpPr>
          <p:spPr bwMode="auto">
            <a:xfrm>
              <a:off x="7053" y="-332"/>
              <a:ext cx="837" cy="208"/>
            </a:xfrm>
            <a:custGeom>
              <a:avLst/>
              <a:gdLst>
                <a:gd name="T0" fmla="*/ 0 w 837"/>
                <a:gd name="T1" fmla="*/ 0 h 208"/>
                <a:gd name="T2" fmla="*/ 0 w 837"/>
                <a:gd name="T3" fmla="*/ 11 h 208"/>
                <a:gd name="T4" fmla="*/ 0 w 837"/>
                <a:gd name="T5" fmla="*/ 22 h 208"/>
                <a:gd name="T6" fmla="*/ 5 w 837"/>
                <a:gd name="T7" fmla="*/ 42 h 208"/>
                <a:gd name="T8" fmla="*/ 11 w 837"/>
                <a:gd name="T9" fmla="*/ 59 h 208"/>
                <a:gd name="T10" fmla="*/ 19 w 837"/>
                <a:gd name="T11" fmla="*/ 75 h 208"/>
                <a:gd name="T12" fmla="*/ 25 w 837"/>
                <a:gd name="T13" fmla="*/ 81 h 208"/>
                <a:gd name="T14" fmla="*/ 30 w 837"/>
                <a:gd name="T15" fmla="*/ 86 h 208"/>
                <a:gd name="T16" fmla="*/ 36 w 837"/>
                <a:gd name="T17" fmla="*/ 92 h 208"/>
                <a:gd name="T18" fmla="*/ 41 w 837"/>
                <a:gd name="T19" fmla="*/ 97 h 208"/>
                <a:gd name="T20" fmla="*/ 47 w 837"/>
                <a:gd name="T21" fmla="*/ 100 h 208"/>
                <a:gd name="T22" fmla="*/ 55 w 837"/>
                <a:gd name="T23" fmla="*/ 103 h 208"/>
                <a:gd name="T24" fmla="*/ 61 w 837"/>
                <a:gd name="T25" fmla="*/ 103 h 208"/>
                <a:gd name="T26" fmla="*/ 69 w 837"/>
                <a:gd name="T27" fmla="*/ 106 h 208"/>
                <a:gd name="T28" fmla="*/ 348 w 837"/>
                <a:gd name="T29" fmla="*/ 106 h 208"/>
                <a:gd name="T30" fmla="*/ 354 w 837"/>
                <a:gd name="T31" fmla="*/ 106 h 208"/>
                <a:gd name="T32" fmla="*/ 362 w 837"/>
                <a:gd name="T33" fmla="*/ 106 h 208"/>
                <a:gd name="T34" fmla="*/ 368 w 837"/>
                <a:gd name="T35" fmla="*/ 108 h 208"/>
                <a:gd name="T36" fmla="*/ 373 w 837"/>
                <a:gd name="T37" fmla="*/ 111 h 208"/>
                <a:gd name="T38" fmla="*/ 382 w 837"/>
                <a:gd name="T39" fmla="*/ 117 h 208"/>
                <a:gd name="T40" fmla="*/ 387 w 837"/>
                <a:gd name="T41" fmla="*/ 122 h 208"/>
                <a:gd name="T42" fmla="*/ 393 w 837"/>
                <a:gd name="T43" fmla="*/ 128 h 208"/>
                <a:gd name="T44" fmla="*/ 396 w 837"/>
                <a:gd name="T45" fmla="*/ 136 h 208"/>
                <a:gd name="T46" fmla="*/ 404 w 837"/>
                <a:gd name="T47" fmla="*/ 150 h 208"/>
                <a:gd name="T48" fmla="*/ 413 w 837"/>
                <a:gd name="T49" fmla="*/ 167 h 208"/>
                <a:gd name="T50" fmla="*/ 415 w 837"/>
                <a:gd name="T51" fmla="*/ 186 h 208"/>
                <a:gd name="T52" fmla="*/ 418 w 837"/>
                <a:gd name="T53" fmla="*/ 197 h 208"/>
                <a:gd name="T54" fmla="*/ 418 w 837"/>
                <a:gd name="T55" fmla="*/ 208 h 208"/>
                <a:gd name="T56" fmla="*/ 418 w 837"/>
                <a:gd name="T57" fmla="*/ 197 h 208"/>
                <a:gd name="T58" fmla="*/ 418 w 837"/>
                <a:gd name="T59" fmla="*/ 186 h 208"/>
                <a:gd name="T60" fmla="*/ 424 w 837"/>
                <a:gd name="T61" fmla="*/ 167 h 208"/>
                <a:gd name="T62" fmla="*/ 429 w 837"/>
                <a:gd name="T63" fmla="*/ 150 h 208"/>
                <a:gd name="T64" fmla="*/ 438 w 837"/>
                <a:gd name="T65" fmla="*/ 136 h 208"/>
                <a:gd name="T66" fmla="*/ 443 w 837"/>
                <a:gd name="T67" fmla="*/ 128 h 208"/>
                <a:gd name="T68" fmla="*/ 449 w 837"/>
                <a:gd name="T69" fmla="*/ 122 h 208"/>
                <a:gd name="T70" fmla="*/ 454 w 837"/>
                <a:gd name="T71" fmla="*/ 117 h 208"/>
                <a:gd name="T72" fmla="*/ 460 w 837"/>
                <a:gd name="T73" fmla="*/ 111 h 208"/>
                <a:gd name="T74" fmla="*/ 466 w 837"/>
                <a:gd name="T75" fmla="*/ 108 h 208"/>
                <a:gd name="T76" fmla="*/ 474 w 837"/>
                <a:gd name="T77" fmla="*/ 106 h 208"/>
                <a:gd name="T78" fmla="*/ 479 w 837"/>
                <a:gd name="T79" fmla="*/ 106 h 208"/>
                <a:gd name="T80" fmla="*/ 488 w 837"/>
                <a:gd name="T81" fmla="*/ 106 h 208"/>
                <a:gd name="T82" fmla="*/ 767 w 837"/>
                <a:gd name="T83" fmla="*/ 106 h 208"/>
                <a:gd name="T84" fmla="*/ 772 w 837"/>
                <a:gd name="T85" fmla="*/ 103 h 208"/>
                <a:gd name="T86" fmla="*/ 781 w 837"/>
                <a:gd name="T87" fmla="*/ 103 h 208"/>
                <a:gd name="T88" fmla="*/ 786 w 837"/>
                <a:gd name="T89" fmla="*/ 100 h 208"/>
                <a:gd name="T90" fmla="*/ 792 w 837"/>
                <a:gd name="T91" fmla="*/ 97 h 208"/>
                <a:gd name="T92" fmla="*/ 800 w 837"/>
                <a:gd name="T93" fmla="*/ 92 h 208"/>
                <a:gd name="T94" fmla="*/ 806 w 837"/>
                <a:gd name="T95" fmla="*/ 86 h 208"/>
                <a:gd name="T96" fmla="*/ 811 w 837"/>
                <a:gd name="T97" fmla="*/ 81 h 208"/>
                <a:gd name="T98" fmla="*/ 814 w 837"/>
                <a:gd name="T99" fmla="*/ 75 h 208"/>
                <a:gd name="T100" fmla="*/ 823 w 837"/>
                <a:gd name="T101" fmla="*/ 59 h 208"/>
                <a:gd name="T102" fmla="*/ 831 w 837"/>
                <a:gd name="T103" fmla="*/ 42 h 208"/>
                <a:gd name="T104" fmla="*/ 834 w 837"/>
                <a:gd name="T105" fmla="*/ 22 h 208"/>
                <a:gd name="T106" fmla="*/ 837 w 837"/>
                <a:gd name="T107" fmla="*/ 11 h 208"/>
                <a:gd name="T108" fmla="*/ 837 w 837"/>
                <a:gd name="T109" fmla="*/ 0 h 208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837"/>
                <a:gd name="T166" fmla="*/ 0 h 208"/>
                <a:gd name="T167" fmla="*/ 837 w 837"/>
                <a:gd name="T168" fmla="*/ 208 h 208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837" h="208">
                  <a:moveTo>
                    <a:pt x="0" y="0"/>
                  </a:moveTo>
                  <a:lnTo>
                    <a:pt x="0" y="11"/>
                  </a:lnTo>
                  <a:lnTo>
                    <a:pt x="0" y="22"/>
                  </a:lnTo>
                  <a:lnTo>
                    <a:pt x="5" y="42"/>
                  </a:lnTo>
                  <a:lnTo>
                    <a:pt x="11" y="59"/>
                  </a:lnTo>
                  <a:lnTo>
                    <a:pt x="19" y="75"/>
                  </a:lnTo>
                  <a:lnTo>
                    <a:pt x="25" y="81"/>
                  </a:lnTo>
                  <a:lnTo>
                    <a:pt x="30" y="86"/>
                  </a:lnTo>
                  <a:lnTo>
                    <a:pt x="36" y="92"/>
                  </a:lnTo>
                  <a:lnTo>
                    <a:pt x="41" y="97"/>
                  </a:lnTo>
                  <a:lnTo>
                    <a:pt x="47" y="100"/>
                  </a:lnTo>
                  <a:lnTo>
                    <a:pt x="55" y="103"/>
                  </a:lnTo>
                  <a:lnTo>
                    <a:pt x="61" y="103"/>
                  </a:lnTo>
                  <a:lnTo>
                    <a:pt x="69" y="106"/>
                  </a:lnTo>
                  <a:lnTo>
                    <a:pt x="348" y="106"/>
                  </a:lnTo>
                  <a:lnTo>
                    <a:pt x="354" y="106"/>
                  </a:lnTo>
                  <a:lnTo>
                    <a:pt x="362" y="106"/>
                  </a:lnTo>
                  <a:lnTo>
                    <a:pt x="368" y="108"/>
                  </a:lnTo>
                  <a:lnTo>
                    <a:pt x="373" y="111"/>
                  </a:lnTo>
                  <a:lnTo>
                    <a:pt x="382" y="117"/>
                  </a:lnTo>
                  <a:lnTo>
                    <a:pt x="387" y="122"/>
                  </a:lnTo>
                  <a:lnTo>
                    <a:pt x="393" y="128"/>
                  </a:lnTo>
                  <a:lnTo>
                    <a:pt x="396" y="136"/>
                  </a:lnTo>
                  <a:lnTo>
                    <a:pt x="404" y="150"/>
                  </a:lnTo>
                  <a:lnTo>
                    <a:pt x="413" y="167"/>
                  </a:lnTo>
                  <a:lnTo>
                    <a:pt x="415" y="186"/>
                  </a:lnTo>
                  <a:lnTo>
                    <a:pt x="418" y="197"/>
                  </a:lnTo>
                  <a:lnTo>
                    <a:pt x="418" y="208"/>
                  </a:lnTo>
                  <a:lnTo>
                    <a:pt x="418" y="197"/>
                  </a:lnTo>
                  <a:lnTo>
                    <a:pt x="418" y="186"/>
                  </a:lnTo>
                  <a:lnTo>
                    <a:pt x="424" y="167"/>
                  </a:lnTo>
                  <a:lnTo>
                    <a:pt x="429" y="150"/>
                  </a:lnTo>
                  <a:lnTo>
                    <a:pt x="438" y="136"/>
                  </a:lnTo>
                  <a:lnTo>
                    <a:pt x="443" y="128"/>
                  </a:lnTo>
                  <a:lnTo>
                    <a:pt x="449" y="122"/>
                  </a:lnTo>
                  <a:lnTo>
                    <a:pt x="454" y="117"/>
                  </a:lnTo>
                  <a:lnTo>
                    <a:pt x="460" y="111"/>
                  </a:lnTo>
                  <a:lnTo>
                    <a:pt x="466" y="108"/>
                  </a:lnTo>
                  <a:lnTo>
                    <a:pt x="474" y="106"/>
                  </a:lnTo>
                  <a:lnTo>
                    <a:pt x="479" y="106"/>
                  </a:lnTo>
                  <a:lnTo>
                    <a:pt x="488" y="106"/>
                  </a:lnTo>
                  <a:lnTo>
                    <a:pt x="767" y="106"/>
                  </a:lnTo>
                  <a:lnTo>
                    <a:pt x="772" y="103"/>
                  </a:lnTo>
                  <a:lnTo>
                    <a:pt x="781" y="103"/>
                  </a:lnTo>
                  <a:lnTo>
                    <a:pt x="786" y="100"/>
                  </a:lnTo>
                  <a:lnTo>
                    <a:pt x="792" y="97"/>
                  </a:lnTo>
                  <a:lnTo>
                    <a:pt x="800" y="92"/>
                  </a:lnTo>
                  <a:lnTo>
                    <a:pt x="806" y="86"/>
                  </a:lnTo>
                  <a:lnTo>
                    <a:pt x="811" y="81"/>
                  </a:lnTo>
                  <a:lnTo>
                    <a:pt x="814" y="75"/>
                  </a:lnTo>
                  <a:lnTo>
                    <a:pt x="823" y="59"/>
                  </a:lnTo>
                  <a:lnTo>
                    <a:pt x="831" y="42"/>
                  </a:lnTo>
                  <a:lnTo>
                    <a:pt x="834" y="22"/>
                  </a:lnTo>
                  <a:lnTo>
                    <a:pt x="837" y="11"/>
                  </a:lnTo>
                  <a:lnTo>
                    <a:pt x="837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12305" name="Rectangle 46"/>
            <p:cNvSpPr>
              <a:spLocks noChangeArrowheads="1"/>
            </p:cNvSpPr>
            <p:nvPr/>
          </p:nvSpPr>
          <p:spPr bwMode="auto">
            <a:xfrm>
              <a:off x="1099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06" name="Rectangle 44"/>
            <p:cNvSpPr>
              <a:spLocks noChangeArrowheads="1"/>
            </p:cNvSpPr>
            <p:nvPr/>
          </p:nvSpPr>
          <p:spPr bwMode="auto">
            <a:xfrm>
              <a:off x="1936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07" name="Rectangle 42"/>
            <p:cNvSpPr>
              <a:spLocks noChangeArrowheads="1"/>
            </p:cNvSpPr>
            <p:nvPr/>
          </p:nvSpPr>
          <p:spPr bwMode="auto">
            <a:xfrm>
              <a:off x="6121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08" name="Rectangle 40"/>
            <p:cNvSpPr>
              <a:spLocks noChangeArrowheads="1"/>
            </p:cNvSpPr>
            <p:nvPr/>
          </p:nvSpPr>
          <p:spPr bwMode="auto">
            <a:xfrm>
              <a:off x="3634" y="1366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09" name="Rectangle 38"/>
            <p:cNvSpPr>
              <a:spLocks noChangeArrowheads="1"/>
            </p:cNvSpPr>
            <p:nvPr/>
          </p:nvSpPr>
          <p:spPr bwMode="auto">
            <a:xfrm>
              <a:off x="2773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10" name="Rectangle 36"/>
            <p:cNvSpPr>
              <a:spLocks noChangeArrowheads="1"/>
            </p:cNvSpPr>
            <p:nvPr/>
          </p:nvSpPr>
          <p:spPr bwMode="auto">
            <a:xfrm>
              <a:off x="4447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11" name="Rectangle 34"/>
            <p:cNvSpPr>
              <a:spLocks noChangeArrowheads="1"/>
            </p:cNvSpPr>
            <p:nvPr/>
          </p:nvSpPr>
          <p:spPr bwMode="auto">
            <a:xfrm>
              <a:off x="5284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12" name="Rectangle 32"/>
            <p:cNvSpPr>
              <a:spLocks noChangeArrowheads="1"/>
            </p:cNvSpPr>
            <p:nvPr/>
          </p:nvSpPr>
          <p:spPr bwMode="auto">
            <a:xfrm>
              <a:off x="6958" y="985"/>
              <a:ext cx="16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 </a:t>
              </a:r>
              <a:endParaRPr lang="en-US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12313" name="Rectangle 31"/>
            <p:cNvSpPr>
              <a:spLocks noChangeArrowheads="1"/>
            </p:cNvSpPr>
            <p:nvPr/>
          </p:nvSpPr>
          <p:spPr bwMode="auto">
            <a:xfrm>
              <a:off x="0" y="1323"/>
              <a:ext cx="0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4" name="Rectangle 28"/>
            <p:cNvSpPr>
              <a:spLocks noChangeArrowheads="1"/>
            </p:cNvSpPr>
            <p:nvPr/>
          </p:nvSpPr>
          <p:spPr bwMode="auto">
            <a:xfrm>
              <a:off x="820" y="1351"/>
              <a:ext cx="0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5" name="Rectangle 24"/>
            <p:cNvSpPr>
              <a:spLocks noChangeArrowheads="1"/>
            </p:cNvSpPr>
            <p:nvPr/>
          </p:nvSpPr>
          <p:spPr bwMode="auto">
            <a:xfrm>
              <a:off x="4762" y="1295"/>
              <a:ext cx="16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ea typeface="Times New Roman" pitchFamily="18" charset="0"/>
                  <a:cs typeface="Symbol" pitchFamily="18" charset="2"/>
                </a:rPr>
                <a:t>´</a:t>
              </a:r>
              <a:endParaRPr lang="en-US">
                <a:ea typeface="Times New Roman" pitchFamily="18" charset="0"/>
                <a:cs typeface="Symbol" pitchFamily="18" charset="2"/>
              </a:endParaRPr>
            </a:p>
          </p:txBody>
        </p:sp>
        <p:sp>
          <p:nvSpPr>
            <p:cNvPr id="12316" name="Rectangle 23"/>
            <p:cNvSpPr>
              <a:spLocks noChangeArrowheads="1"/>
            </p:cNvSpPr>
            <p:nvPr/>
          </p:nvSpPr>
          <p:spPr bwMode="auto">
            <a:xfrm>
              <a:off x="4916" y="1323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12317" name="Rectangle 20"/>
            <p:cNvSpPr>
              <a:spLocks noChangeArrowheads="1"/>
            </p:cNvSpPr>
            <p:nvPr/>
          </p:nvSpPr>
          <p:spPr bwMode="auto">
            <a:xfrm>
              <a:off x="5264" y="1310"/>
              <a:ext cx="0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18" name="Rectangle 18"/>
            <p:cNvSpPr>
              <a:spLocks noChangeArrowheads="1"/>
            </p:cNvSpPr>
            <p:nvPr/>
          </p:nvSpPr>
          <p:spPr bwMode="auto">
            <a:xfrm>
              <a:off x="5515" y="1323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12319" name="Rectangle 14"/>
            <p:cNvSpPr>
              <a:spLocks noChangeArrowheads="1"/>
            </p:cNvSpPr>
            <p:nvPr/>
          </p:nvSpPr>
          <p:spPr bwMode="auto">
            <a:xfrm>
              <a:off x="2860" y="1932"/>
              <a:ext cx="60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12320" name="Rectangle 12"/>
            <p:cNvSpPr>
              <a:spLocks noChangeArrowheads="1"/>
            </p:cNvSpPr>
            <p:nvPr/>
          </p:nvSpPr>
          <p:spPr bwMode="auto">
            <a:xfrm>
              <a:off x="5739" y="1932"/>
              <a:ext cx="60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12321" name="Rectangle 11"/>
            <p:cNvSpPr>
              <a:spLocks noChangeArrowheads="1"/>
            </p:cNvSpPr>
            <p:nvPr/>
          </p:nvSpPr>
          <p:spPr bwMode="auto">
            <a:xfrm>
              <a:off x="0" y="58"/>
              <a:ext cx="0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22" name="Rectangle 3"/>
            <p:cNvSpPr>
              <a:spLocks noChangeArrowheads="1"/>
            </p:cNvSpPr>
            <p:nvPr/>
          </p:nvSpPr>
          <p:spPr bwMode="auto">
            <a:xfrm>
              <a:off x="4204" y="58"/>
              <a:ext cx="0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2323" name="Rectangle 2"/>
            <p:cNvSpPr>
              <a:spLocks noChangeArrowheads="1"/>
            </p:cNvSpPr>
            <p:nvPr/>
          </p:nvSpPr>
          <p:spPr bwMode="auto">
            <a:xfrm>
              <a:off x="4500" y="58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</p:grpSp>
      <p:sp>
        <p:nvSpPr>
          <p:cNvPr id="12293" name="Freeform 114"/>
          <p:cNvSpPr>
            <a:spLocks/>
          </p:cNvSpPr>
          <p:nvPr/>
        </p:nvSpPr>
        <p:spPr bwMode="auto">
          <a:xfrm>
            <a:off x="827584" y="4005064"/>
            <a:ext cx="6192688" cy="287338"/>
          </a:xfrm>
          <a:custGeom>
            <a:avLst/>
            <a:gdLst>
              <a:gd name="T0" fmla="*/ 0 w 4394"/>
              <a:gd name="T1" fmla="*/ 8289 h 208"/>
              <a:gd name="T2" fmla="*/ 3441 w 4394"/>
              <a:gd name="T3" fmla="*/ 23484 h 208"/>
              <a:gd name="T4" fmla="*/ 12618 w 4394"/>
              <a:gd name="T5" fmla="*/ 34536 h 208"/>
              <a:gd name="T6" fmla="*/ 26383 w 4394"/>
              <a:gd name="T7" fmla="*/ 49732 h 208"/>
              <a:gd name="T8" fmla="*/ 42442 w 4394"/>
              <a:gd name="T9" fmla="*/ 62164 h 208"/>
              <a:gd name="T10" fmla="*/ 60796 w 4394"/>
              <a:gd name="T11" fmla="*/ 73216 h 208"/>
              <a:gd name="T12" fmla="*/ 96356 w 4394"/>
              <a:gd name="T13" fmla="*/ 92556 h 208"/>
              <a:gd name="T14" fmla="*/ 153710 w 4394"/>
              <a:gd name="T15" fmla="*/ 111896 h 208"/>
              <a:gd name="T16" fmla="*/ 221388 w 4394"/>
              <a:gd name="T17" fmla="*/ 127092 h 208"/>
              <a:gd name="T18" fmla="*/ 294802 w 4394"/>
              <a:gd name="T19" fmla="*/ 138143 h 208"/>
              <a:gd name="T20" fmla="*/ 377393 w 4394"/>
              <a:gd name="T21" fmla="*/ 142288 h 208"/>
              <a:gd name="T22" fmla="*/ 2099174 w 4394"/>
              <a:gd name="T23" fmla="*/ 146432 h 208"/>
              <a:gd name="T24" fmla="*/ 2186353 w 4394"/>
              <a:gd name="T25" fmla="*/ 146432 h 208"/>
              <a:gd name="T26" fmla="*/ 2263208 w 4394"/>
              <a:gd name="T27" fmla="*/ 153339 h 208"/>
              <a:gd name="T28" fmla="*/ 2336622 w 4394"/>
              <a:gd name="T29" fmla="*/ 168535 h 208"/>
              <a:gd name="T30" fmla="*/ 2397418 w 4394"/>
              <a:gd name="T31" fmla="*/ 187875 h 208"/>
              <a:gd name="T32" fmla="*/ 2447890 w 4394"/>
              <a:gd name="T33" fmla="*/ 207215 h 208"/>
              <a:gd name="T34" fmla="*/ 2470832 w 4394"/>
              <a:gd name="T35" fmla="*/ 218266 h 208"/>
              <a:gd name="T36" fmla="*/ 2486891 w 4394"/>
              <a:gd name="T37" fmla="*/ 230699 h 208"/>
              <a:gd name="T38" fmla="*/ 2499509 w 4394"/>
              <a:gd name="T39" fmla="*/ 245895 h 208"/>
              <a:gd name="T40" fmla="*/ 2512127 w 4394"/>
              <a:gd name="T41" fmla="*/ 256946 h 208"/>
              <a:gd name="T42" fmla="*/ 2519009 w 4394"/>
              <a:gd name="T43" fmla="*/ 272142 h 208"/>
              <a:gd name="T44" fmla="*/ 2519009 w 4394"/>
              <a:gd name="T45" fmla="*/ 287338 h 208"/>
              <a:gd name="T46" fmla="*/ 2522451 w 4394"/>
              <a:gd name="T47" fmla="*/ 272142 h 208"/>
              <a:gd name="T48" fmla="*/ 2528186 w 4394"/>
              <a:gd name="T49" fmla="*/ 256946 h 208"/>
              <a:gd name="T50" fmla="*/ 2538510 w 4394"/>
              <a:gd name="T51" fmla="*/ 245895 h 208"/>
              <a:gd name="T52" fmla="*/ 2554569 w 4394"/>
              <a:gd name="T53" fmla="*/ 230699 h 208"/>
              <a:gd name="T54" fmla="*/ 2569481 w 4394"/>
              <a:gd name="T55" fmla="*/ 218266 h 208"/>
              <a:gd name="T56" fmla="*/ 2592423 w 4394"/>
              <a:gd name="T57" fmla="*/ 207215 h 208"/>
              <a:gd name="T58" fmla="*/ 2644042 w 4394"/>
              <a:gd name="T59" fmla="*/ 187875 h 208"/>
              <a:gd name="T60" fmla="*/ 2704838 w 4394"/>
              <a:gd name="T61" fmla="*/ 168535 h 208"/>
              <a:gd name="T62" fmla="*/ 2778252 w 4394"/>
              <a:gd name="T63" fmla="*/ 153339 h 208"/>
              <a:gd name="T64" fmla="*/ 2855107 w 4394"/>
              <a:gd name="T65" fmla="*/ 146432 h 208"/>
              <a:gd name="T66" fmla="*/ 2941138 w 4394"/>
              <a:gd name="T67" fmla="*/ 146432 h 208"/>
              <a:gd name="T68" fmla="*/ 4662919 w 4394"/>
              <a:gd name="T69" fmla="*/ 142288 h 208"/>
              <a:gd name="T70" fmla="*/ 4746658 w 4394"/>
              <a:gd name="T71" fmla="*/ 138143 h 208"/>
              <a:gd name="T72" fmla="*/ 4820072 w 4394"/>
              <a:gd name="T73" fmla="*/ 127092 h 208"/>
              <a:gd name="T74" fmla="*/ 4886603 w 4394"/>
              <a:gd name="T75" fmla="*/ 111896 h 208"/>
              <a:gd name="T76" fmla="*/ 4945105 w 4394"/>
              <a:gd name="T77" fmla="*/ 92556 h 208"/>
              <a:gd name="T78" fmla="*/ 4979517 w 4394"/>
              <a:gd name="T79" fmla="*/ 73216 h 208"/>
              <a:gd name="T80" fmla="*/ 4999018 w 4394"/>
              <a:gd name="T81" fmla="*/ 62164 h 208"/>
              <a:gd name="T82" fmla="*/ 5015077 w 4394"/>
              <a:gd name="T83" fmla="*/ 49732 h 208"/>
              <a:gd name="T84" fmla="*/ 5027695 w 4394"/>
              <a:gd name="T85" fmla="*/ 34536 h 208"/>
              <a:gd name="T86" fmla="*/ 5034578 w 4394"/>
              <a:gd name="T87" fmla="*/ 23484 h 208"/>
              <a:gd name="T88" fmla="*/ 5040313 w 4394"/>
              <a:gd name="T89" fmla="*/ 8289 h 20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4394"/>
              <a:gd name="T136" fmla="*/ 0 h 208"/>
              <a:gd name="T137" fmla="*/ 4394 w 4394"/>
              <a:gd name="T138" fmla="*/ 208 h 20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4394" h="208">
                <a:moveTo>
                  <a:pt x="0" y="0"/>
                </a:moveTo>
                <a:lnTo>
                  <a:pt x="0" y="6"/>
                </a:lnTo>
                <a:lnTo>
                  <a:pt x="3" y="11"/>
                </a:lnTo>
                <a:lnTo>
                  <a:pt x="3" y="17"/>
                </a:lnTo>
                <a:lnTo>
                  <a:pt x="9" y="22"/>
                </a:lnTo>
                <a:lnTo>
                  <a:pt x="11" y="25"/>
                </a:lnTo>
                <a:lnTo>
                  <a:pt x="17" y="31"/>
                </a:lnTo>
                <a:lnTo>
                  <a:pt x="23" y="36"/>
                </a:lnTo>
                <a:lnTo>
                  <a:pt x="28" y="42"/>
                </a:lnTo>
                <a:lnTo>
                  <a:pt x="37" y="45"/>
                </a:lnTo>
                <a:lnTo>
                  <a:pt x="45" y="50"/>
                </a:lnTo>
                <a:lnTo>
                  <a:pt x="53" y="53"/>
                </a:lnTo>
                <a:lnTo>
                  <a:pt x="62" y="59"/>
                </a:lnTo>
                <a:lnTo>
                  <a:pt x="84" y="67"/>
                </a:lnTo>
                <a:lnTo>
                  <a:pt x="106" y="75"/>
                </a:lnTo>
                <a:lnTo>
                  <a:pt x="134" y="81"/>
                </a:lnTo>
                <a:lnTo>
                  <a:pt x="162" y="86"/>
                </a:lnTo>
                <a:lnTo>
                  <a:pt x="193" y="92"/>
                </a:lnTo>
                <a:lnTo>
                  <a:pt x="223" y="97"/>
                </a:lnTo>
                <a:lnTo>
                  <a:pt x="257" y="100"/>
                </a:lnTo>
                <a:lnTo>
                  <a:pt x="293" y="103"/>
                </a:lnTo>
                <a:lnTo>
                  <a:pt x="329" y="103"/>
                </a:lnTo>
                <a:lnTo>
                  <a:pt x="366" y="106"/>
                </a:lnTo>
                <a:lnTo>
                  <a:pt x="1830" y="106"/>
                </a:lnTo>
                <a:lnTo>
                  <a:pt x="1869" y="106"/>
                </a:lnTo>
                <a:lnTo>
                  <a:pt x="1906" y="106"/>
                </a:lnTo>
                <a:lnTo>
                  <a:pt x="1939" y="109"/>
                </a:lnTo>
                <a:lnTo>
                  <a:pt x="1973" y="111"/>
                </a:lnTo>
                <a:lnTo>
                  <a:pt x="2006" y="117"/>
                </a:lnTo>
                <a:lnTo>
                  <a:pt x="2037" y="122"/>
                </a:lnTo>
                <a:lnTo>
                  <a:pt x="2065" y="128"/>
                </a:lnTo>
                <a:lnTo>
                  <a:pt x="2090" y="136"/>
                </a:lnTo>
                <a:lnTo>
                  <a:pt x="2112" y="142"/>
                </a:lnTo>
                <a:lnTo>
                  <a:pt x="2134" y="150"/>
                </a:lnTo>
                <a:lnTo>
                  <a:pt x="2143" y="156"/>
                </a:lnTo>
                <a:lnTo>
                  <a:pt x="2154" y="158"/>
                </a:lnTo>
                <a:lnTo>
                  <a:pt x="2160" y="164"/>
                </a:lnTo>
                <a:lnTo>
                  <a:pt x="2168" y="167"/>
                </a:lnTo>
                <a:lnTo>
                  <a:pt x="2174" y="172"/>
                </a:lnTo>
                <a:lnTo>
                  <a:pt x="2179" y="178"/>
                </a:lnTo>
                <a:lnTo>
                  <a:pt x="2185" y="183"/>
                </a:lnTo>
                <a:lnTo>
                  <a:pt x="2190" y="186"/>
                </a:lnTo>
                <a:lnTo>
                  <a:pt x="2193" y="192"/>
                </a:lnTo>
                <a:lnTo>
                  <a:pt x="2196" y="197"/>
                </a:lnTo>
                <a:lnTo>
                  <a:pt x="2196" y="203"/>
                </a:lnTo>
                <a:lnTo>
                  <a:pt x="2196" y="208"/>
                </a:lnTo>
                <a:lnTo>
                  <a:pt x="2199" y="203"/>
                </a:lnTo>
                <a:lnTo>
                  <a:pt x="2199" y="197"/>
                </a:lnTo>
                <a:lnTo>
                  <a:pt x="2201" y="192"/>
                </a:lnTo>
                <a:lnTo>
                  <a:pt x="2204" y="186"/>
                </a:lnTo>
                <a:lnTo>
                  <a:pt x="2210" y="183"/>
                </a:lnTo>
                <a:lnTo>
                  <a:pt x="2213" y="178"/>
                </a:lnTo>
                <a:lnTo>
                  <a:pt x="2218" y="172"/>
                </a:lnTo>
                <a:lnTo>
                  <a:pt x="2227" y="167"/>
                </a:lnTo>
                <a:lnTo>
                  <a:pt x="2232" y="164"/>
                </a:lnTo>
                <a:lnTo>
                  <a:pt x="2240" y="158"/>
                </a:lnTo>
                <a:lnTo>
                  <a:pt x="2249" y="156"/>
                </a:lnTo>
                <a:lnTo>
                  <a:pt x="2260" y="150"/>
                </a:lnTo>
                <a:lnTo>
                  <a:pt x="2280" y="142"/>
                </a:lnTo>
                <a:lnTo>
                  <a:pt x="2305" y="136"/>
                </a:lnTo>
                <a:lnTo>
                  <a:pt x="2330" y="128"/>
                </a:lnTo>
                <a:lnTo>
                  <a:pt x="2358" y="122"/>
                </a:lnTo>
                <a:lnTo>
                  <a:pt x="2388" y="117"/>
                </a:lnTo>
                <a:lnTo>
                  <a:pt x="2422" y="111"/>
                </a:lnTo>
                <a:lnTo>
                  <a:pt x="2455" y="109"/>
                </a:lnTo>
                <a:lnTo>
                  <a:pt x="2489" y="106"/>
                </a:lnTo>
                <a:lnTo>
                  <a:pt x="2525" y="106"/>
                </a:lnTo>
                <a:lnTo>
                  <a:pt x="2564" y="106"/>
                </a:lnTo>
                <a:lnTo>
                  <a:pt x="4029" y="106"/>
                </a:lnTo>
                <a:lnTo>
                  <a:pt x="4065" y="103"/>
                </a:lnTo>
                <a:lnTo>
                  <a:pt x="4101" y="103"/>
                </a:lnTo>
                <a:lnTo>
                  <a:pt x="4138" y="100"/>
                </a:lnTo>
                <a:lnTo>
                  <a:pt x="4171" y="97"/>
                </a:lnTo>
                <a:lnTo>
                  <a:pt x="4202" y="92"/>
                </a:lnTo>
                <a:lnTo>
                  <a:pt x="4232" y="86"/>
                </a:lnTo>
                <a:lnTo>
                  <a:pt x="4260" y="81"/>
                </a:lnTo>
                <a:lnTo>
                  <a:pt x="4285" y="75"/>
                </a:lnTo>
                <a:lnTo>
                  <a:pt x="4311" y="67"/>
                </a:lnTo>
                <a:lnTo>
                  <a:pt x="4330" y="59"/>
                </a:lnTo>
                <a:lnTo>
                  <a:pt x="4341" y="53"/>
                </a:lnTo>
                <a:lnTo>
                  <a:pt x="4350" y="50"/>
                </a:lnTo>
                <a:lnTo>
                  <a:pt x="4358" y="45"/>
                </a:lnTo>
                <a:lnTo>
                  <a:pt x="4366" y="42"/>
                </a:lnTo>
                <a:lnTo>
                  <a:pt x="4372" y="36"/>
                </a:lnTo>
                <a:lnTo>
                  <a:pt x="4377" y="31"/>
                </a:lnTo>
                <a:lnTo>
                  <a:pt x="4383" y="25"/>
                </a:lnTo>
                <a:lnTo>
                  <a:pt x="4386" y="22"/>
                </a:lnTo>
                <a:lnTo>
                  <a:pt x="4389" y="17"/>
                </a:lnTo>
                <a:lnTo>
                  <a:pt x="4391" y="11"/>
                </a:lnTo>
                <a:lnTo>
                  <a:pt x="4394" y="6"/>
                </a:lnTo>
                <a:lnTo>
                  <a:pt x="4394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cxnSp>
        <p:nvCxnSpPr>
          <p:cNvPr id="68" name="Прямая со стрелкой 67"/>
          <p:cNvCxnSpPr/>
          <p:nvPr/>
        </p:nvCxnSpPr>
        <p:spPr>
          <a:xfrm flipV="1">
            <a:off x="7541979" y="3758103"/>
            <a:ext cx="71438" cy="67627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Представление числа </a:t>
            </a:r>
            <a:r>
              <a:rPr lang="en-US" sz="3200" b="1" i="1">
                <a:latin typeface="Rockwell" pitchFamily="18" charset="0"/>
              </a:rPr>
              <a:t>B</a:t>
            </a:r>
            <a:r>
              <a:rPr lang="en-US" sz="3200" b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в формате Ф2 имеет вид</a:t>
            </a:r>
          </a:p>
        </p:txBody>
      </p:sp>
      <p:pic>
        <p:nvPicPr>
          <p:cNvPr id="1331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124744"/>
            <a:ext cx="897255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0" y="4221088"/>
            <a:ext cx="9144000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solidFill>
                  <a:srgbClr val="FF0000"/>
                </a:solidFill>
                <a:latin typeface="Cambria" pitchFamily="18" charset="0"/>
              </a:rPr>
              <a:t>Замечание. </a:t>
            </a:r>
            <a:r>
              <a:rPr lang="ru-RU" sz="3200">
                <a:latin typeface="Cambria" pitchFamily="18" charset="0"/>
              </a:rPr>
              <a:t>Старший разряд мантиссы в разряд-ной сетке не представляется (так называемый скрытый разряд).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98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5. Заданные числа </a:t>
            </a:r>
            <a:r>
              <a:rPr lang="ru-RU" sz="3200" b="1" i="1">
                <a:latin typeface="Cambria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и </a:t>
            </a:r>
            <a:r>
              <a:rPr lang="ru-RU" sz="3200" b="1" i="1">
                <a:latin typeface="Cambria" pitchFamily="18" charset="0"/>
              </a:rPr>
              <a:t>B</a:t>
            </a:r>
            <a:r>
              <a:rPr lang="ru-RU" sz="3200">
                <a:latin typeface="Cambria" pitchFamily="18" charset="0"/>
              </a:rPr>
              <a:t> представить в форме с плавающей запятой в формате Ф3.</a:t>
            </a:r>
          </a:p>
          <a:p>
            <a:r>
              <a:rPr lang="ru-RU" sz="3200">
                <a:latin typeface="Cambria" pitchFamily="18" charset="0"/>
              </a:rPr>
              <a:t>Представление чисел в формате Ф3 во многом аналогично их представлению в формате Ф2. Основными отличиями являются: </a:t>
            </a:r>
          </a:p>
          <a:p>
            <a:r>
              <a:rPr lang="ru-RU" sz="3200">
                <a:latin typeface="Cambria" pitchFamily="18" charset="0"/>
              </a:rPr>
              <a:t>1) величина смещения равна 127 (в формате Ф2 – 128); </a:t>
            </a:r>
          </a:p>
          <a:p>
            <a:r>
              <a:rPr lang="ru-RU" sz="3200">
                <a:latin typeface="Cambria" pitchFamily="18" charset="0"/>
              </a:rPr>
              <a:t>2) старшая единица мантиссы нормализован-ного числа является единицей целой части мантиссы, т.е. запятая в мантиссе фиксируется после старшей единицы (в формате Ф2 запятая в мантиссе фиксируется перед старшей единицей).</a:t>
            </a:r>
          </a:p>
          <a:p>
            <a:endParaRPr lang="ru-RU" sz="320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5.1. Определение мантиссы и порядка числа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:</a:t>
            </a:r>
          </a:p>
        </p:txBody>
      </p:sp>
      <p:sp>
        <p:nvSpPr>
          <p:cNvPr id="15363" name="Rectangle 1"/>
          <p:cNvSpPr>
            <a:spLocks noChangeArrowheads="1"/>
          </p:cNvSpPr>
          <p:nvPr/>
        </p:nvSpPr>
        <p:spPr bwMode="auto">
          <a:xfrm>
            <a:off x="0" y="549275"/>
            <a:ext cx="9144000" cy="337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ru-RU" sz="3200" b="1" i="1" dirty="0">
                <a:latin typeface="Cambria" pitchFamily="18" charset="0"/>
              </a:rPr>
              <a:t>А=</a:t>
            </a:r>
            <a:r>
              <a:rPr lang="ru-RU" sz="3200" dirty="0">
                <a:latin typeface="Cambria" pitchFamily="18" charset="0"/>
              </a:rPr>
              <a:t>(250)</a:t>
            </a:r>
            <a:r>
              <a:rPr lang="ru-RU" sz="3200" baseline="-25000" dirty="0">
                <a:latin typeface="Cambria" pitchFamily="18" charset="0"/>
              </a:rPr>
              <a:t>10</a:t>
            </a:r>
            <a:r>
              <a:rPr lang="ru-RU" sz="3200" dirty="0">
                <a:latin typeface="Cambria" pitchFamily="18" charset="0"/>
              </a:rPr>
              <a:t> = (11111010)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= (1.111101)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en-US" sz="3200" dirty="0">
                <a:latin typeface="Rockwell" pitchFamily="18" charset="0"/>
                <a:sym typeface="Symbol" pitchFamily="18" charset="2"/>
              </a:rPr>
              <a:t> </a:t>
            </a:r>
            <a:r>
              <a:rPr lang="ru-RU" sz="3200" dirty="0">
                <a:latin typeface="Cambria" pitchFamily="18" charset="0"/>
              </a:rPr>
              <a:t> 2</a:t>
            </a:r>
            <a:r>
              <a:rPr lang="ru-RU" sz="3200" baseline="30000" dirty="0">
                <a:latin typeface="Cambria" pitchFamily="18" charset="0"/>
              </a:rPr>
              <a:t>7</a:t>
            </a: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endParaRPr lang="ru-RU" sz="3200" baseline="30000" dirty="0">
              <a:latin typeface="Cambria" pitchFamily="18" charset="0"/>
            </a:endParaRP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ru-RU" sz="3200" dirty="0">
                <a:latin typeface="Cambria" pitchFamily="18" charset="0"/>
              </a:rPr>
              <a:t>                                                        мантисса   порядок</a:t>
            </a:r>
          </a:p>
          <a:p>
            <a:pPr>
              <a:tabLst>
                <a:tab pos="457200" algn="l"/>
                <a:tab pos="571500" algn="l"/>
                <a:tab pos="630238" algn="l"/>
              </a:tabLst>
            </a:pPr>
            <a:r>
              <a:rPr lang="ru-RU" sz="3200" dirty="0">
                <a:latin typeface="Cambria" pitchFamily="18" charset="0"/>
              </a:rPr>
              <a:t>Характеристика числа </a:t>
            </a:r>
            <a:r>
              <a:rPr lang="en-US" sz="3200" b="1" i="1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:</a:t>
            </a:r>
          </a:p>
          <a:p>
            <a:pPr algn="just">
              <a:tabLst>
                <a:tab pos="457200" algn="l"/>
                <a:tab pos="571500" algn="l"/>
                <a:tab pos="630238" algn="l"/>
              </a:tabLst>
            </a:pPr>
            <a:r>
              <a:rPr lang="en-US" sz="3200" i="1" dirty="0">
                <a:latin typeface="Rockwell" pitchFamily="18" charset="0"/>
              </a:rPr>
              <a:t>X</a:t>
            </a:r>
            <a:r>
              <a:rPr lang="en-US" sz="3200" i="1" baseline="-25000" dirty="0">
                <a:latin typeface="Rockwell" pitchFamily="18" charset="0"/>
              </a:rPr>
              <a:t>A</a:t>
            </a:r>
            <a:r>
              <a:rPr lang="ru-RU" sz="3200" i="1" dirty="0">
                <a:latin typeface="Cambria" pitchFamily="18" charset="0"/>
              </a:rPr>
              <a:t> = </a:t>
            </a:r>
            <a:r>
              <a:rPr lang="en-US" sz="3200" i="1" dirty="0">
                <a:latin typeface="Rockwell" pitchFamily="18" charset="0"/>
              </a:rPr>
              <a:t>P</a:t>
            </a:r>
            <a:r>
              <a:rPr lang="en-US" sz="3200" i="1" baseline="-250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 +</a:t>
            </a:r>
            <a:r>
              <a:rPr lang="en-US" sz="3200" i="1" dirty="0">
                <a:latin typeface="Rockwell" pitchFamily="18" charset="0"/>
              </a:rPr>
              <a:t> d =</a:t>
            </a:r>
            <a:r>
              <a:rPr lang="ru-RU" sz="3200" dirty="0">
                <a:latin typeface="Cambria" pitchFamily="18" charset="0"/>
              </a:rPr>
              <a:t> 7</a:t>
            </a:r>
            <a:r>
              <a:rPr lang="en-US" sz="3200" dirty="0">
                <a:latin typeface="Rockwell" pitchFamily="18" charset="0"/>
              </a:rPr>
              <a:t> </a:t>
            </a:r>
            <a:r>
              <a:rPr lang="en-US" sz="3200" i="1" dirty="0">
                <a:latin typeface="Rockwell" pitchFamily="18" charset="0"/>
              </a:rPr>
              <a:t>+ </a:t>
            </a:r>
            <a:r>
              <a:rPr lang="ru-RU" sz="3200" dirty="0">
                <a:latin typeface="Cambria" pitchFamily="18" charset="0"/>
              </a:rPr>
              <a:t>127 = (134)</a:t>
            </a:r>
            <a:r>
              <a:rPr lang="ru-RU" sz="3200" baseline="-25000" dirty="0">
                <a:latin typeface="Cambria" pitchFamily="18" charset="0"/>
              </a:rPr>
              <a:t>10</a:t>
            </a:r>
            <a:r>
              <a:rPr lang="ru-RU" sz="3200" dirty="0">
                <a:latin typeface="Cambria" pitchFamily="18" charset="0"/>
              </a:rPr>
              <a:t> = (10000110)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.</a:t>
            </a:r>
          </a:p>
          <a:p>
            <a:pPr>
              <a:tabLst>
                <a:tab pos="457200" algn="l"/>
                <a:tab pos="571500" algn="l"/>
                <a:tab pos="630238" algn="l"/>
              </a:tabLst>
            </a:pPr>
            <a:r>
              <a:rPr lang="ru-RU" sz="3200" dirty="0">
                <a:latin typeface="Cambria" pitchFamily="18" charset="0"/>
              </a:rPr>
              <a:t>Смещенный порядок числа </a:t>
            </a:r>
            <a:r>
              <a:rPr lang="ru-RU" sz="3200" b="1" i="1" dirty="0">
                <a:latin typeface="Cambria" pitchFamily="18" charset="0"/>
              </a:rPr>
              <a:t>А</a:t>
            </a:r>
            <a:r>
              <a:rPr lang="ru-RU" sz="3200" dirty="0">
                <a:latin typeface="Cambria" pitchFamily="18" charset="0"/>
              </a:rPr>
              <a:t>:</a:t>
            </a:r>
          </a:p>
          <a:p>
            <a:pPr>
              <a:tabLst>
                <a:tab pos="457200" algn="l"/>
                <a:tab pos="571500" algn="l"/>
                <a:tab pos="630238" algn="l"/>
              </a:tabLst>
            </a:pPr>
            <a:r>
              <a:rPr lang="en-US" sz="3200" i="1" dirty="0">
                <a:latin typeface="Rockwell" pitchFamily="18" charset="0"/>
              </a:rPr>
              <a:t>X</a:t>
            </a:r>
            <a:r>
              <a:rPr lang="en-US" sz="3200" i="1" baseline="-25000" dirty="0">
                <a:latin typeface="Rockwell" pitchFamily="18" charset="0"/>
              </a:rPr>
              <a:t>A</a:t>
            </a:r>
            <a:r>
              <a:rPr lang="ru-RU" sz="3200" i="1" dirty="0">
                <a:latin typeface="Cambria" pitchFamily="18" charset="0"/>
              </a:rPr>
              <a:t> = </a:t>
            </a:r>
            <a:r>
              <a:rPr lang="en-US" sz="3200" i="1" dirty="0">
                <a:latin typeface="Rockwell" pitchFamily="18" charset="0"/>
              </a:rPr>
              <a:t>P</a:t>
            </a:r>
            <a:r>
              <a:rPr lang="en-US" sz="3200" i="1" baseline="-250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 + 127 = 134 = (10000110)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.</a:t>
            </a:r>
          </a:p>
        </p:txBody>
      </p:sp>
      <p:sp>
        <p:nvSpPr>
          <p:cNvPr id="5" name="Левая фигурная скобка 4"/>
          <p:cNvSpPr/>
          <p:nvPr/>
        </p:nvSpPr>
        <p:spPr>
          <a:xfrm rot="5400000" flipH="1" flipV="1">
            <a:off x="5833269" y="369094"/>
            <a:ext cx="358775" cy="1871663"/>
          </a:xfrm>
          <a:prstGeom prst="leftBrace">
            <a:avLst>
              <a:gd name="adj1" fmla="val 8333"/>
              <a:gd name="adj2" fmla="val 4906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6" name="Прямая со стрелкой 5"/>
          <p:cNvCxnSpPr/>
          <p:nvPr/>
        </p:nvCxnSpPr>
        <p:spPr>
          <a:xfrm flipH="1" flipV="1">
            <a:off x="7740352" y="908050"/>
            <a:ext cx="1587" cy="6492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0" y="3933825"/>
            <a:ext cx="91440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Число </a:t>
            </a:r>
            <a:r>
              <a:rPr lang="en-US" sz="3200" b="1" i="1">
                <a:latin typeface="Rockwell" pitchFamily="18" charset="0"/>
              </a:rPr>
              <a:t>A</a:t>
            </a:r>
            <a:r>
              <a:rPr lang="ru-RU" sz="3200">
                <a:latin typeface="Cambria" pitchFamily="18" charset="0"/>
              </a:rPr>
              <a:t> представляется в формате Ф3 в виде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622800"/>
            <a:ext cx="9144000" cy="223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49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1">
                <a:latin typeface="Cambria" pitchFamily="18" charset="0"/>
              </a:rPr>
              <a:t>Следует отметить, что:</a:t>
            </a:r>
            <a:endParaRPr lang="ru-RU" sz="3200">
              <a:latin typeface="Cambria" pitchFamily="18" charset="0"/>
            </a:endParaRPr>
          </a:p>
          <a:p>
            <a:pPr>
              <a:buFont typeface="Arial" charset="0"/>
              <a:buChar char="•"/>
            </a:pPr>
            <a:r>
              <a:rPr lang="ru-RU" sz="3200" i="1">
                <a:latin typeface="Cambria" pitchFamily="18" charset="0"/>
              </a:rPr>
              <a:t> в отличие от представления чисел в форма-тах Ф1 и Ф2 в Ф3 не принято называть сме-щенный порядок характеристикой;</a:t>
            </a:r>
            <a:endParaRPr lang="ru-RU" sz="3200">
              <a:latin typeface="Cambria" pitchFamily="18" charset="0"/>
            </a:endParaRPr>
          </a:p>
          <a:p>
            <a:pPr>
              <a:buFont typeface="Arial" charset="0"/>
              <a:buChar char="•"/>
            </a:pPr>
            <a:r>
              <a:rPr lang="ru-RU" sz="3200" i="1">
                <a:latin typeface="Cambria" pitchFamily="18" charset="0"/>
              </a:rPr>
              <a:t> по аналогии с представлением чисел в формате Ф2 в Ф3 используется скрытый разряд (единица целой части мантиссы в формате не представляется);</a:t>
            </a:r>
            <a:endParaRPr lang="ru-RU" sz="3200">
              <a:latin typeface="Cambria" pitchFamily="18" charset="0"/>
            </a:endParaRPr>
          </a:p>
          <a:p>
            <a:pPr>
              <a:buFont typeface="Arial" charset="0"/>
              <a:buChar char="•"/>
            </a:pPr>
            <a:r>
              <a:rPr lang="ru-RU" sz="3200" i="1">
                <a:latin typeface="Cambria" pitchFamily="18" charset="0"/>
              </a:rPr>
              <a:t> представление числа в  формате Ф3 отли-чается от представления в Ф2 только значе-нием смещенного порядка (его величина умень-шается на 2).</a:t>
            </a:r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85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dirty="0">
                <a:latin typeface="Cambria" pitchFamily="18" charset="0"/>
              </a:rPr>
              <a:t>5.2. Определение мантиссы и порядка числа </a:t>
            </a:r>
            <a:r>
              <a:rPr lang="ru-RU" sz="3200" b="1" i="1" dirty="0">
                <a:latin typeface="Cambria" pitchFamily="18" charset="0"/>
              </a:rPr>
              <a:t>В</a:t>
            </a:r>
            <a:r>
              <a:rPr lang="ru-RU" sz="3200" dirty="0">
                <a:latin typeface="Cambria" pitchFamily="18" charset="0"/>
              </a:rPr>
              <a:t>:</a:t>
            </a:r>
          </a:p>
          <a:p>
            <a:r>
              <a:rPr lang="ru-RU" sz="3200" b="1" i="1" dirty="0">
                <a:latin typeface="Cambria" pitchFamily="18" charset="0"/>
              </a:rPr>
              <a:t>В=</a:t>
            </a:r>
            <a:r>
              <a:rPr lang="ru-RU" sz="3200" dirty="0">
                <a:latin typeface="Cambria" pitchFamily="18" charset="0"/>
              </a:rPr>
              <a:t>0,0025=(0,00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3</a:t>
            </a:r>
            <a:r>
              <a:rPr lang="en-US" sz="3200" dirty="0">
                <a:latin typeface="Rockwell" pitchFamily="18" charset="0"/>
              </a:rPr>
              <a:t>D</a:t>
            </a:r>
            <a:r>
              <a:rPr lang="ru-RU" sz="3200" dirty="0">
                <a:latin typeface="Cambria" pitchFamily="18" charset="0"/>
              </a:rPr>
              <a:t>70</a:t>
            </a:r>
            <a:r>
              <a:rPr lang="en-US" sz="3200" dirty="0">
                <a:latin typeface="Rockwell" pitchFamily="18" charset="0"/>
              </a:rPr>
              <a:t>A</a:t>
            </a:r>
            <a:r>
              <a:rPr lang="ru-RU" sz="3200" dirty="0">
                <a:latin typeface="Cambria" pitchFamily="18" charset="0"/>
              </a:rPr>
              <a:t>)</a:t>
            </a:r>
            <a:r>
              <a:rPr lang="ru-RU" sz="3200" baseline="-25000" dirty="0">
                <a:latin typeface="Cambria" pitchFamily="18" charset="0"/>
              </a:rPr>
              <a:t>16</a:t>
            </a:r>
            <a:r>
              <a:rPr lang="ru-RU" sz="3200" dirty="0">
                <a:latin typeface="Cambria" pitchFamily="18" charset="0"/>
              </a:rPr>
              <a:t> =</a:t>
            </a:r>
          </a:p>
          <a:p>
            <a:r>
              <a:rPr lang="ru-RU" sz="3200" dirty="0">
                <a:latin typeface="Cambria" pitchFamily="18" charset="0"/>
              </a:rPr>
              <a:t>=</a:t>
            </a:r>
          </a:p>
          <a:p>
            <a:r>
              <a:rPr lang="ru-RU" sz="3200" dirty="0">
                <a:latin typeface="Cambria" pitchFamily="18" charset="0"/>
              </a:rPr>
              <a:t>              0         0         А         3         </a:t>
            </a:r>
            <a:r>
              <a:rPr lang="en-US" sz="3200" dirty="0">
                <a:latin typeface="Rockwell" pitchFamily="18" charset="0"/>
              </a:rPr>
              <a:t>D       7        0        A=(1</a:t>
            </a:r>
            <a:r>
              <a:rPr lang="ru-RU" sz="3200" dirty="0">
                <a:latin typeface="Cambria" pitchFamily="18" charset="0"/>
              </a:rPr>
              <a:t>,</a:t>
            </a:r>
            <a:r>
              <a:rPr lang="en-US" sz="3200" dirty="0">
                <a:latin typeface="Rockwell" pitchFamily="18" charset="0"/>
              </a:rPr>
              <a:t>0100011110101110000101)</a:t>
            </a:r>
            <a:r>
              <a:rPr lang="ru-RU" sz="3200" baseline="-25000" dirty="0">
                <a:latin typeface="Cambria" pitchFamily="18" charset="0"/>
              </a:rPr>
              <a:t> 2</a:t>
            </a:r>
            <a:r>
              <a:rPr lang="en-US" sz="3200" dirty="0">
                <a:latin typeface="Rockwell" pitchFamily="18" charset="0"/>
                <a:sym typeface="Symbol" pitchFamily="18" charset="2"/>
              </a:rPr>
              <a:t> </a:t>
            </a:r>
            <a:r>
              <a:rPr lang="ru-RU" sz="3200" dirty="0">
                <a:latin typeface="Cambria" pitchFamily="18" charset="0"/>
              </a:rPr>
              <a:t> 2</a:t>
            </a:r>
            <a:r>
              <a:rPr lang="en-US" sz="3200" baseline="30000" dirty="0">
                <a:latin typeface="Rockwell" pitchFamily="18" charset="0"/>
              </a:rPr>
              <a:t>-</a:t>
            </a:r>
            <a:r>
              <a:rPr lang="ru-RU" sz="3200" baseline="30000" dirty="0">
                <a:latin typeface="Cambria" pitchFamily="18" charset="0"/>
              </a:rPr>
              <a:t>9</a:t>
            </a:r>
          </a:p>
          <a:p>
            <a:endParaRPr lang="ru-RU" sz="3200" baseline="30000" dirty="0">
              <a:latin typeface="Cambria" pitchFamily="18" charset="0"/>
            </a:endParaRPr>
          </a:p>
          <a:p>
            <a:r>
              <a:rPr lang="ru-RU" sz="3200" dirty="0">
                <a:latin typeface="Cambria" pitchFamily="18" charset="0"/>
              </a:rPr>
              <a:t>                            мантисса                      порядок</a:t>
            </a:r>
          </a:p>
          <a:p>
            <a:r>
              <a:rPr lang="ru-RU" sz="3200" dirty="0">
                <a:latin typeface="Cambria" pitchFamily="18" charset="0"/>
              </a:rPr>
              <a:t>Характеристика числа </a:t>
            </a:r>
            <a:r>
              <a:rPr lang="en-US" sz="3200" b="1" i="1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:</a:t>
            </a:r>
          </a:p>
          <a:p>
            <a:r>
              <a:rPr lang="ru-RU" sz="3200" i="1" dirty="0">
                <a:latin typeface="Cambria" pitchFamily="18" charset="0"/>
              </a:rPr>
              <a:t> </a:t>
            </a:r>
            <a:r>
              <a:rPr lang="en-US" sz="3200" i="1" dirty="0">
                <a:latin typeface="Rockwell" pitchFamily="18" charset="0"/>
              </a:rPr>
              <a:t>X</a:t>
            </a:r>
            <a:r>
              <a:rPr lang="en-US" sz="3200" i="1" baseline="-25000" dirty="0">
                <a:latin typeface="Rockwell" pitchFamily="18" charset="0"/>
              </a:rPr>
              <a:t>B</a:t>
            </a:r>
            <a:r>
              <a:rPr lang="ru-RU" sz="3200" i="1" dirty="0">
                <a:latin typeface="Cambria" pitchFamily="18" charset="0"/>
              </a:rPr>
              <a:t> = </a:t>
            </a:r>
            <a:r>
              <a:rPr lang="en-US" sz="3200" i="1" dirty="0">
                <a:latin typeface="Rockwell" pitchFamily="18" charset="0"/>
              </a:rPr>
              <a:t>P</a:t>
            </a:r>
            <a:r>
              <a:rPr lang="en-US" sz="3200" i="1" baseline="-25000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 + 127= 118= (01110110)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.</a:t>
            </a:r>
          </a:p>
          <a:p>
            <a:r>
              <a:rPr lang="ru-RU" sz="3200" dirty="0">
                <a:latin typeface="Cambria" pitchFamily="18" charset="0"/>
              </a:rPr>
              <a:t>Представление числа </a:t>
            </a:r>
            <a:r>
              <a:rPr lang="en-US" sz="3200" b="1" i="1" dirty="0">
                <a:latin typeface="Rockwell" pitchFamily="18" charset="0"/>
              </a:rPr>
              <a:t>B</a:t>
            </a:r>
            <a:r>
              <a:rPr lang="ru-RU" sz="3200" dirty="0">
                <a:latin typeface="Cambria" pitchFamily="18" charset="0"/>
              </a:rPr>
              <a:t> в формате Ф3 имеет вид</a:t>
            </a:r>
          </a:p>
        </p:txBody>
      </p:sp>
      <p:sp>
        <p:nvSpPr>
          <p:cNvPr id="17411" name="Rectangle 1"/>
          <p:cNvSpPr>
            <a:spLocks noChangeArrowheads="1"/>
          </p:cNvSpPr>
          <p:nvPr/>
        </p:nvSpPr>
        <p:spPr bwMode="auto">
          <a:xfrm>
            <a:off x="539750" y="1116013"/>
            <a:ext cx="8604250" cy="430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0,0000</a:t>
            </a:r>
            <a:r>
              <a:rPr lang="en-US" sz="2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0000</a:t>
            </a:r>
            <a:r>
              <a:rPr lang="en-US" sz="2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1010</a:t>
            </a:r>
            <a:r>
              <a:rPr lang="en-US" sz="2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0011</a:t>
            </a:r>
            <a:r>
              <a:rPr lang="en-US" sz="2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1101</a:t>
            </a:r>
            <a:r>
              <a:rPr lang="en-US" sz="2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0111</a:t>
            </a:r>
            <a:r>
              <a:rPr lang="en-US" sz="240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800">
                <a:solidFill>
                  <a:srgbClr val="000000"/>
                </a:solidFill>
                <a:latin typeface="Courier New" pitchFamily="49" charset="0"/>
              </a:rPr>
              <a:t>0000 1010</a:t>
            </a:r>
            <a:endParaRPr lang="ru-RU" sz="2800"/>
          </a:p>
        </p:txBody>
      </p:sp>
      <p:sp>
        <p:nvSpPr>
          <p:cNvPr id="17412" name="Freeform 114"/>
          <p:cNvSpPr>
            <a:spLocks/>
          </p:cNvSpPr>
          <p:nvPr/>
        </p:nvSpPr>
        <p:spPr bwMode="auto">
          <a:xfrm>
            <a:off x="827583" y="2426494"/>
            <a:ext cx="5256585" cy="287338"/>
          </a:xfrm>
          <a:custGeom>
            <a:avLst/>
            <a:gdLst>
              <a:gd name="T0" fmla="*/ 0 w 4394"/>
              <a:gd name="T1" fmla="*/ 8289 h 208"/>
              <a:gd name="T2" fmla="*/ 3686 w 4394"/>
              <a:gd name="T3" fmla="*/ 23484 h 208"/>
              <a:gd name="T4" fmla="*/ 13516 w 4394"/>
              <a:gd name="T5" fmla="*/ 34536 h 208"/>
              <a:gd name="T6" fmla="*/ 28261 w 4394"/>
              <a:gd name="T7" fmla="*/ 49732 h 208"/>
              <a:gd name="T8" fmla="*/ 45463 w 4394"/>
              <a:gd name="T9" fmla="*/ 62164 h 208"/>
              <a:gd name="T10" fmla="*/ 65123 w 4394"/>
              <a:gd name="T11" fmla="*/ 73216 h 208"/>
              <a:gd name="T12" fmla="*/ 103214 w 4394"/>
              <a:gd name="T13" fmla="*/ 92556 h 208"/>
              <a:gd name="T14" fmla="*/ 164651 w 4394"/>
              <a:gd name="T15" fmla="*/ 111896 h 208"/>
              <a:gd name="T16" fmla="*/ 237147 w 4394"/>
              <a:gd name="T17" fmla="*/ 127092 h 208"/>
              <a:gd name="T18" fmla="*/ 315786 w 4394"/>
              <a:gd name="T19" fmla="*/ 138143 h 208"/>
              <a:gd name="T20" fmla="*/ 404256 w 4394"/>
              <a:gd name="T21" fmla="*/ 142288 h 208"/>
              <a:gd name="T22" fmla="*/ 2248595 w 4394"/>
              <a:gd name="T23" fmla="*/ 146432 h 208"/>
              <a:gd name="T24" fmla="*/ 2341979 w 4394"/>
              <a:gd name="T25" fmla="*/ 146432 h 208"/>
              <a:gd name="T26" fmla="*/ 2424305 w 4394"/>
              <a:gd name="T27" fmla="*/ 153339 h 208"/>
              <a:gd name="T28" fmla="*/ 2502944 w 4394"/>
              <a:gd name="T29" fmla="*/ 168535 h 208"/>
              <a:gd name="T30" fmla="*/ 2568068 w 4394"/>
              <a:gd name="T31" fmla="*/ 187875 h 208"/>
              <a:gd name="T32" fmla="*/ 2622133 w 4394"/>
              <a:gd name="T33" fmla="*/ 207215 h 208"/>
              <a:gd name="T34" fmla="*/ 2646708 w 4394"/>
              <a:gd name="T35" fmla="*/ 218266 h 208"/>
              <a:gd name="T36" fmla="*/ 2663910 w 4394"/>
              <a:gd name="T37" fmla="*/ 230699 h 208"/>
              <a:gd name="T38" fmla="*/ 2677426 w 4394"/>
              <a:gd name="T39" fmla="*/ 245895 h 208"/>
              <a:gd name="T40" fmla="*/ 2690942 w 4394"/>
              <a:gd name="T41" fmla="*/ 256946 h 208"/>
              <a:gd name="T42" fmla="*/ 2698315 w 4394"/>
              <a:gd name="T43" fmla="*/ 272142 h 208"/>
              <a:gd name="T44" fmla="*/ 2698315 w 4394"/>
              <a:gd name="T45" fmla="*/ 287338 h 208"/>
              <a:gd name="T46" fmla="*/ 2702001 w 4394"/>
              <a:gd name="T47" fmla="*/ 272142 h 208"/>
              <a:gd name="T48" fmla="*/ 2708145 w 4394"/>
              <a:gd name="T49" fmla="*/ 256946 h 208"/>
              <a:gd name="T50" fmla="*/ 2719203 w 4394"/>
              <a:gd name="T51" fmla="*/ 245895 h 208"/>
              <a:gd name="T52" fmla="*/ 2736406 w 4394"/>
              <a:gd name="T53" fmla="*/ 230699 h 208"/>
              <a:gd name="T54" fmla="*/ 2752379 w 4394"/>
              <a:gd name="T55" fmla="*/ 218266 h 208"/>
              <a:gd name="T56" fmla="*/ 2776954 w 4394"/>
              <a:gd name="T57" fmla="*/ 207215 h 208"/>
              <a:gd name="T58" fmla="*/ 2832247 w 4394"/>
              <a:gd name="T59" fmla="*/ 187875 h 208"/>
              <a:gd name="T60" fmla="*/ 2897371 w 4394"/>
              <a:gd name="T61" fmla="*/ 168535 h 208"/>
              <a:gd name="T62" fmla="*/ 2976010 w 4394"/>
              <a:gd name="T63" fmla="*/ 153339 h 208"/>
              <a:gd name="T64" fmla="*/ 3058336 w 4394"/>
              <a:gd name="T65" fmla="*/ 146432 h 208"/>
              <a:gd name="T66" fmla="*/ 3150491 w 4394"/>
              <a:gd name="T67" fmla="*/ 146432 h 208"/>
              <a:gd name="T68" fmla="*/ 4994830 w 4394"/>
              <a:gd name="T69" fmla="*/ 142288 h 208"/>
              <a:gd name="T70" fmla="*/ 5084529 w 4394"/>
              <a:gd name="T71" fmla="*/ 138143 h 208"/>
              <a:gd name="T72" fmla="*/ 5163169 w 4394"/>
              <a:gd name="T73" fmla="*/ 127092 h 208"/>
              <a:gd name="T74" fmla="*/ 5234436 w 4394"/>
              <a:gd name="T75" fmla="*/ 111896 h 208"/>
              <a:gd name="T76" fmla="*/ 5297102 w 4394"/>
              <a:gd name="T77" fmla="*/ 92556 h 208"/>
              <a:gd name="T78" fmla="*/ 5333964 w 4394"/>
              <a:gd name="T79" fmla="*/ 73216 h 208"/>
              <a:gd name="T80" fmla="*/ 5354852 w 4394"/>
              <a:gd name="T81" fmla="*/ 62164 h 208"/>
              <a:gd name="T82" fmla="*/ 5372055 w 4394"/>
              <a:gd name="T83" fmla="*/ 49732 h 208"/>
              <a:gd name="T84" fmla="*/ 5385571 w 4394"/>
              <a:gd name="T85" fmla="*/ 34536 h 208"/>
              <a:gd name="T86" fmla="*/ 5392943 w 4394"/>
              <a:gd name="T87" fmla="*/ 23484 h 208"/>
              <a:gd name="T88" fmla="*/ 5399087 w 4394"/>
              <a:gd name="T89" fmla="*/ 8289 h 208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4394"/>
              <a:gd name="T136" fmla="*/ 0 h 208"/>
              <a:gd name="T137" fmla="*/ 4394 w 4394"/>
              <a:gd name="T138" fmla="*/ 208 h 208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4394" h="208">
                <a:moveTo>
                  <a:pt x="0" y="0"/>
                </a:moveTo>
                <a:lnTo>
                  <a:pt x="0" y="6"/>
                </a:lnTo>
                <a:lnTo>
                  <a:pt x="3" y="11"/>
                </a:lnTo>
                <a:lnTo>
                  <a:pt x="3" y="17"/>
                </a:lnTo>
                <a:lnTo>
                  <a:pt x="9" y="22"/>
                </a:lnTo>
                <a:lnTo>
                  <a:pt x="11" y="25"/>
                </a:lnTo>
                <a:lnTo>
                  <a:pt x="17" y="31"/>
                </a:lnTo>
                <a:lnTo>
                  <a:pt x="23" y="36"/>
                </a:lnTo>
                <a:lnTo>
                  <a:pt x="28" y="42"/>
                </a:lnTo>
                <a:lnTo>
                  <a:pt x="37" y="45"/>
                </a:lnTo>
                <a:lnTo>
                  <a:pt x="45" y="50"/>
                </a:lnTo>
                <a:lnTo>
                  <a:pt x="53" y="53"/>
                </a:lnTo>
                <a:lnTo>
                  <a:pt x="62" y="59"/>
                </a:lnTo>
                <a:lnTo>
                  <a:pt x="84" y="67"/>
                </a:lnTo>
                <a:lnTo>
                  <a:pt x="106" y="75"/>
                </a:lnTo>
                <a:lnTo>
                  <a:pt x="134" y="81"/>
                </a:lnTo>
                <a:lnTo>
                  <a:pt x="162" y="86"/>
                </a:lnTo>
                <a:lnTo>
                  <a:pt x="193" y="92"/>
                </a:lnTo>
                <a:lnTo>
                  <a:pt x="223" y="97"/>
                </a:lnTo>
                <a:lnTo>
                  <a:pt x="257" y="100"/>
                </a:lnTo>
                <a:lnTo>
                  <a:pt x="293" y="103"/>
                </a:lnTo>
                <a:lnTo>
                  <a:pt x="329" y="103"/>
                </a:lnTo>
                <a:lnTo>
                  <a:pt x="366" y="106"/>
                </a:lnTo>
                <a:lnTo>
                  <a:pt x="1830" y="106"/>
                </a:lnTo>
                <a:lnTo>
                  <a:pt x="1869" y="106"/>
                </a:lnTo>
                <a:lnTo>
                  <a:pt x="1906" y="106"/>
                </a:lnTo>
                <a:lnTo>
                  <a:pt x="1939" y="109"/>
                </a:lnTo>
                <a:lnTo>
                  <a:pt x="1973" y="111"/>
                </a:lnTo>
                <a:lnTo>
                  <a:pt x="2006" y="117"/>
                </a:lnTo>
                <a:lnTo>
                  <a:pt x="2037" y="122"/>
                </a:lnTo>
                <a:lnTo>
                  <a:pt x="2065" y="128"/>
                </a:lnTo>
                <a:lnTo>
                  <a:pt x="2090" y="136"/>
                </a:lnTo>
                <a:lnTo>
                  <a:pt x="2112" y="142"/>
                </a:lnTo>
                <a:lnTo>
                  <a:pt x="2134" y="150"/>
                </a:lnTo>
                <a:lnTo>
                  <a:pt x="2143" y="156"/>
                </a:lnTo>
                <a:lnTo>
                  <a:pt x="2154" y="158"/>
                </a:lnTo>
                <a:lnTo>
                  <a:pt x="2160" y="164"/>
                </a:lnTo>
                <a:lnTo>
                  <a:pt x="2168" y="167"/>
                </a:lnTo>
                <a:lnTo>
                  <a:pt x="2174" y="172"/>
                </a:lnTo>
                <a:lnTo>
                  <a:pt x="2179" y="178"/>
                </a:lnTo>
                <a:lnTo>
                  <a:pt x="2185" y="183"/>
                </a:lnTo>
                <a:lnTo>
                  <a:pt x="2190" y="186"/>
                </a:lnTo>
                <a:lnTo>
                  <a:pt x="2193" y="192"/>
                </a:lnTo>
                <a:lnTo>
                  <a:pt x="2196" y="197"/>
                </a:lnTo>
                <a:lnTo>
                  <a:pt x="2196" y="203"/>
                </a:lnTo>
                <a:lnTo>
                  <a:pt x="2196" y="208"/>
                </a:lnTo>
                <a:lnTo>
                  <a:pt x="2199" y="203"/>
                </a:lnTo>
                <a:lnTo>
                  <a:pt x="2199" y="197"/>
                </a:lnTo>
                <a:lnTo>
                  <a:pt x="2201" y="192"/>
                </a:lnTo>
                <a:lnTo>
                  <a:pt x="2204" y="186"/>
                </a:lnTo>
                <a:lnTo>
                  <a:pt x="2210" y="183"/>
                </a:lnTo>
                <a:lnTo>
                  <a:pt x="2213" y="178"/>
                </a:lnTo>
                <a:lnTo>
                  <a:pt x="2218" y="172"/>
                </a:lnTo>
                <a:lnTo>
                  <a:pt x="2227" y="167"/>
                </a:lnTo>
                <a:lnTo>
                  <a:pt x="2232" y="164"/>
                </a:lnTo>
                <a:lnTo>
                  <a:pt x="2240" y="158"/>
                </a:lnTo>
                <a:lnTo>
                  <a:pt x="2249" y="156"/>
                </a:lnTo>
                <a:lnTo>
                  <a:pt x="2260" y="150"/>
                </a:lnTo>
                <a:lnTo>
                  <a:pt x="2280" y="142"/>
                </a:lnTo>
                <a:lnTo>
                  <a:pt x="2305" y="136"/>
                </a:lnTo>
                <a:lnTo>
                  <a:pt x="2330" y="128"/>
                </a:lnTo>
                <a:lnTo>
                  <a:pt x="2358" y="122"/>
                </a:lnTo>
                <a:lnTo>
                  <a:pt x="2388" y="117"/>
                </a:lnTo>
                <a:lnTo>
                  <a:pt x="2422" y="111"/>
                </a:lnTo>
                <a:lnTo>
                  <a:pt x="2455" y="109"/>
                </a:lnTo>
                <a:lnTo>
                  <a:pt x="2489" y="106"/>
                </a:lnTo>
                <a:lnTo>
                  <a:pt x="2525" y="106"/>
                </a:lnTo>
                <a:lnTo>
                  <a:pt x="2564" y="106"/>
                </a:lnTo>
                <a:lnTo>
                  <a:pt x="4029" y="106"/>
                </a:lnTo>
                <a:lnTo>
                  <a:pt x="4065" y="103"/>
                </a:lnTo>
                <a:lnTo>
                  <a:pt x="4101" y="103"/>
                </a:lnTo>
                <a:lnTo>
                  <a:pt x="4138" y="100"/>
                </a:lnTo>
                <a:lnTo>
                  <a:pt x="4171" y="97"/>
                </a:lnTo>
                <a:lnTo>
                  <a:pt x="4202" y="92"/>
                </a:lnTo>
                <a:lnTo>
                  <a:pt x="4232" y="86"/>
                </a:lnTo>
                <a:lnTo>
                  <a:pt x="4260" y="81"/>
                </a:lnTo>
                <a:lnTo>
                  <a:pt x="4285" y="75"/>
                </a:lnTo>
                <a:lnTo>
                  <a:pt x="4311" y="67"/>
                </a:lnTo>
                <a:lnTo>
                  <a:pt x="4330" y="59"/>
                </a:lnTo>
                <a:lnTo>
                  <a:pt x="4341" y="53"/>
                </a:lnTo>
                <a:lnTo>
                  <a:pt x="4350" y="50"/>
                </a:lnTo>
                <a:lnTo>
                  <a:pt x="4358" y="45"/>
                </a:lnTo>
                <a:lnTo>
                  <a:pt x="4366" y="42"/>
                </a:lnTo>
                <a:lnTo>
                  <a:pt x="4372" y="36"/>
                </a:lnTo>
                <a:lnTo>
                  <a:pt x="4377" y="31"/>
                </a:lnTo>
                <a:lnTo>
                  <a:pt x="4383" y="25"/>
                </a:lnTo>
                <a:lnTo>
                  <a:pt x="4386" y="22"/>
                </a:lnTo>
                <a:lnTo>
                  <a:pt x="4389" y="17"/>
                </a:lnTo>
                <a:lnTo>
                  <a:pt x="4391" y="11"/>
                </a:lnTo>
                <a:lnTo>
                  <a:pt x="4394" y="6"/>
                </a:lnTo>
                <a:lnTo>
                  <a:pt x="4394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cxnSp>
        <p:nvCxnSpPr>
          <p:cNvPr id="5" name="Прямая со стрелкой 4"/>
          <p:cNvCxnSpPr/>
          <p:nvPr/>
        </p:nvCxnSpPr>
        <p:spPr>
          <a:xfrm flipV="1">
            <a:off x="7092280" y="2348880"/>
            <a:ext cx="0" cy="50323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4" name="Freeform 55"/>
          <p:cNvSpPr>
            <a:spLocks/>
          </p:cNvSpPr>
          <p:nvPr/>
        </p:nvSpPr>
        <p:spPr bwMode="auto">
          <a:xfrm>
            <a:off x="1044575" y="1412875"/>
            <a:ext cx="790575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67 w 837"/>
              <a:gd name="T7" fmla="*/ 29170 h 208"/>
              <a:gd name="T8" fmla="*/ 10390 w 837"/>
              <a:gd name="T9" fmla="*/ 40977 h 208"/>
              <a:gd name="T10" fmla="*/ 18891 w 837"/>
              <a:gd name="T11" fmla="*/ 52090 h 208"/>
              <a:gd name="T12" fmla="*/ 23613 w 837"/>
              <a:gd name="T13" fmla="*/ 56257 h 208"/>
              <a:gd name="T14" fmla="*/ 29281 w 837"/>
              <a:gd name="T15" fmla="*/ 59730 h 208"/>
              <a:gd name="T16" fmla="*/ 34003 w 837"/>
              <a:gd name="T17" fmla="*/ 63897 h 208"/>
              <a:gd name="T18" fmla="*/ 39670 w 837"/>
              <a:gd name="T19" fmla="*/ 67370 h 208"/>
              <a:gd name="T20" fmla="*/ 44393 w 837"/>
              <a:gd name="T21" fmla="*/ 69453 h 208"/>
              <a:gd name="T22" fmla="*/ 52894 w 837"/>
              <a:gd name="T23" fmla="*/ 71537 h 208"/>
              <a:gd name="T24" fmla="*/ 57617 w 837"/>
              <a:gd name="T25" fmla="*/ 71537 h 208"/>
              <a:gd name="T26" fmla="*/ 66117 w 837"/>
              <a:gd name="T27" fmla="*/ 73621 h 208"/>
              <a:gd name="T28" fmla="*/ 329642 w 837"/>
              <a:gd name="T29" fmla="*/ 73621 h 208"/>
              <a:gd name="T30" fmla="*/ 334365 w 837"/>
              <a:gd name="T31" fmla="*/ 73621 h 208"/>
              <a:gd name="T32" fmla="*/ 342866 w 837"/>
              <a:gd name="T33" fmla="*/ 73621 h 208"/>
              <a:gd name="T34" fmla="*/ 347589 w 837"/>
              <a:gd name="T35" fmla="*/ 75010 h 208"/>
              <a:gd name="T36" fmla="*/ 353256 w 837"/>
              <a:gd name="T37" fmla="*/ 77093 h 208"/>
              <a:gd name="T38" fmla="*/ 360812 w 837"/>
              <a:gd name="T39" fmla="*/ 81260 h 208"/>
              <a:gd name="T40" fmla="*/ 366479 w 837"/>
              <a:gd name="T41" fmla="*/ 84733 h 208"/>
              <a:gd name="T42" fmla="*/ 371202 w 837"/>
              <a:gd name="T43" fmla="*/ 88900 h 208"/>
              <a:gd name="T44" fmla="*/ 374035 w 837"/>
              <a:gd name="T45" fmla="*/ 94457 h 208"/>
              <a:gd name="T46" fmla="*/ 382536 w 837"/>
              <a:gd name="T47" fmla="*/ 104180 h 208"/>
              <a:gd name="T48" fmla="*/ 390093 w 837"/>
              <a:gd name="T49" fmla="*/ 115987 h 208"/>
              <a:gd name="T50" fmla="*/ 392926 w 837"/>
              <a:gd name="T51" fmla="*/ 129183 h 208"/>
              <a:gd name="T52" fmla="*/ 394815 w 837"/>
              <a:gd name="T53" fmla="*/ 136823 h 208"/>
              <a:gd name="T54" fmla="*/ 394815 w 837"/>
              <a:gd name="T55" fmla="*/ 144463 h 208"/>
              <a:gd name="T56" fmla="*/ 394815 w 837"/>
              <a:gd name="T57" fmla="*/ 136823 h 208"/>
              <a:gd name="T58" fmla="*/ 394815 w 837"/>
              <a:gd name="T59" fmla="*/ 129183 h 208"/>
              <a:gd name="T60" fmla="*/ 400482 w 837"/>
              <a:gd name="T61" fmla="*/ 115987 h 208"/>
              <a:gd name="T62" fmla="*/ 406150 w 837"/>
              <a:gd name="T63" fmla="*/ 104180 h 208"/>
              <a:gd name="T64" fmla="*/ 413706 w 837"/>
              <a:gd name="T65" fmla="*/ 94457 h 208"/>
              <a:gd name="T66" fmla="*/ 419373 w 837"/>
              <a:gd name="T67" fmla="*/ 88900 h 208"/>
              <a:gd name="T68" fmla="*/ 424096 w 837"/>
              <a:gd name="T69" fmla="*/ 84733 h 208"/>
              <a:gd name="T70" fmla="*/ 429763 w 837"/>
              <a:gd name="T71" fmla="*/ 81260 h 208"/>
              <a:gd name="T72" fmla="*/ 434486 w 837"/>
              <a:gd name="T73" fmla="*/ 77093 h 208"/>
              <a:gd name="T74" fmla="*/ 440153 w 837"/>
              <a:gd name="T75" fmla="*/ 75010 h 208"/>
              <a:gd name="T76" fmla="*/ 447709 w 837"/>
              <a:gd name="T77" fmla="*/ 73621 h 208"/>
              <a:gd name="T78" fmla="*/ 453376 w 837"/>
              <a:gd name="T79" fmla="*/ 73621 h 208"/>
              <a:gd name="T80" fmla="*/ 460933 w 837"/>
              <a:gd name="T81" fmla="*/ 73621 h 208"/>
              <a:gd name="T82" fmla="*/ 724458 w 837"/>
              <a:gd name="T83" fmla="*/ 73621 h 208"/>
              <a:gd name="T84" fmla="*/ 730125 w 837"/>
              <a:gd name="T85" fmla="*/ 71537 h 208"/>
              <a:gd name="T86" fmla="*/ 737681 w 837"/>
              <a:gd name="T87" fmla="*/ 71537 h 208"/>
              <a:gd name="T88" fmla="*/ 743348 w 837"/>
              <a:gd name="T89" fmla="*/ 69453 h 208"/>
              <a:gd name="T90" fmla="*/ 748071 w 837"/>
              <a:gd name="T91" fmla="*/ 67370 h 208"/>
              <a:gd name="T92" fmla="*/ 756572 w 837"/>
              <a:gd name="T93" fmla="*/ 63897 h 208"/>
              <a:gd name="T94" fmla="*/ 761294 w 837"/>
              <a:gd name="T95" fmla="*/ 59730 h 208"/>
              <a:gd name="T96" fmla="*/ 766962 w 837"/>
              <a:gd name="T97" fmla="*/ 56257 h 208"/>
              <a:gd name="T98" fmla="*/ 769795 w 837"/>
              <a:gd name="T99" fmla="*/ 52090 h 208"/>
              <a:gd name="T100" fmla="*/ 777352 w 837"/>
              <a:gd name="T101" fmla="*/ 40977 h 208"/>
              <a:gd name="T102" fmla="*/ 784908 w 837"/>
              <a:gd name="T103" fmla="*/ 29170 h 208"/>
              <a:gd name="T104" fmla="*/ 787741 w 837"/>
              <a:gd name="T105" fmla="*/ 15280 h 208"/>
              <a:gd name="T106" fmla="*/ 790575 w 837"/>
              <a:gd name="T107" fmla="*/ 7640 h 208"/>
              <a:gd name="T108" fmla="*/ 790575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15" name="Freeform 55"/>
          <p:cNvSpPr>
            <a:spLocks/>
          </p:cNvSpPr>
          <p:nvPr/>
        </p:nvSpPr>
        <p:spPr bwMode="auto">
          <a:xfrm>
            <a:off x="2051050" y="1412875"/>
            <a:ext cx="792163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79 w 837"/>
              <a:gd name="T7" fmla="*/ 29170 h 208"/>
              <a:gd name="T8" fmla="*/ 10411 w 837"/>
              <a:gd name="T9" fmla="*/ 40977 h 208"/>
              <a:gd name="T10" fmla="*/ 18929 w 837"/>
              <a:gd name="T11" fmla="*/ 52090 h 208"/>
              <a:gd name="T12" fmla="*/ 23661 w 837"/>
              <a:gd name="T13" fmla="*/ 56257 h 208"/>
              <a:gd name="T14" fmla="*/ 29339 w 837"/>
              <a:gd name="T15" fmla="*/ 59730 h 208"/>
              <a:gd name="T16" fmla="*/ 34072 w 837"/>
              <a:gd name="T17" fmla="*/ 63897 h 208"/>
              <a:gd name="T18" fmla="*/ 39750 w 837"/>
              <a:gd name="T19" fmla="*/ 67370 h 208"/>
              <a:gd name="T20" fmla="*/ 44482 w 837"/>
              <a:gd name="T21" fmla="*/ 69453 h 208"/>
              <a:gd name="T22" fmla="*/ 53000 w 837"/>
              <a:gd name="T23" fmla="*/ 71537 h 208"/>
              <a:gd name="T24" fmla="*/ 57732 w 837"/>
              <a:gd name="T25" fmla="*/ 71537 h 208"/>
              <a:gd name="T26" fmla="*/ 66250 w 837"/>
              <a:gd name="T27" fmla="*/ 73621 h 208"/>
              <a:gd name="T28" fmla="*/ 330305 w 837"/>
              <a:gd name="T29" fmla="*/ 73621 h 208"/>
              <a:gd name="T30" fmla="*/ 335037 w 837"/>
              <a:gd name="T31" fmla="*/ 73621 h 208"/>
              <a:gd name="T32" fmla="*/ 343555 w 837"/>
              <a:gd name="T33" fmla="*/ 73621 h 208"/>
              <a:gd name="T34" fmla="*/ 348287 w 837"/>
              <a:gd name="T35" fmla="*/ 75010 h 208"/>
              <a:gd name="T36" fmla="*/ 353965 w 837"/>
              <a:gd name="T37" fmla="*/ 77093 h 208"/>
              <a:gd name="T38" fmla="*/ 361537 w 837"/>
              <a:gd name="T39" fmla="*/ 81260 h 208"/>
              <a:gd name="T40" fmla="*/ 367215 w 837"/>
              <a:gd name="T41" fmla="*/ 84733 h 208"/>
              <a:gd name="T42" fmla="*/ 371948 w 837"/>
              <a:gd name="T43" fmla="*/ 88900 h 208"/>
              <a:gd name="T44" fmla="*/ 374787 w 837"/>
              <a:gd name="T45" fmla="*/ 94457 h 208"/>
              <a:gd name="T46" fmla="*/ 383305 w 837"/>
              <a:gd name="T47" fmla="*/ 104180 h 208"/>
              <a:gd name="T48" fmla="*/ 390876 w 837"/>
              <a:gd name="T49" fmla="*/ 115987 h 208"/>
              <a:gd name="T50" fmla="*/ 393715 w 837"/>
              <a:gd name="T51" fmla="*/ 129183 h 208"/>
              <a:gd name="T52" fmla="*/ 395608 w 837"/>
              <a:gd name="T53" fmla="*/ 136823 h 208"/>
              <a:gd name="T54" fmla="*/ 395608 w 837"/>
              <a:gd name="T55" fmla="*/ 144463 h 208"/>
              <a:gd name="T56" fmla="*/ 395608 w 837"/>
              <a:gd name="T57" fmla="*/ 136823 h 208"/>
              <a:gd name="T58" fmla="*/ 395608 w 837"/>
              <a:gd name="T59" fmla="*/ 129183 h 208"/>
              <a:gd name="T60" fmla="*/ 401287 w 837"/>
              <a:gd name="T61" fmla="*/ 115987 h 208"/>
              <a:gd name="T62" fmla="*/ 406965 w 837"/>
              <a:gd name="T63" fmla="*/ 104180 h 208"/>
              <a:gd name="T64" fmla="*/ 414537 w 837"/>
              <a:gd name="T65" fmla="*/ 94457 h 208"/>
              <a:gd name="T66" fmla="*/ 420215 w 837"/>
              <a:gd name="T67" fmla="*/ 88900 h 208"/>
              <a:gd name="T68" fmla="*/ 424948 w 837"/>
              <a:gd name="T69" fmla="*/ 84733 h 208"/>
              <a:gd name="T70" fmla="*/ 430626 w 837"/>
              <a:gd name="T71" fmla="*/ 81260 h 208"/>
              <a:gd name="T72" fmla="*/ 435358 w 837"/>
              <a:gd name="T73" fmla="*/ 77093 h 208"/>
              <a:gd name="T74" fmla="*/ 441037 w 837"/>
              <a:gd name="T75" fmla="*/ 75010 h 208"/>
              <a:gd name="T76" fmla="*/ 448608 w 837"/>
              <a:gd name="T77" fmla="*/ 73621 h 208"/>
              <a:gd name="T78" fmla="*/ 454287 w 837"/>
              <a:gd name="T79" fmla="*/ 73621 h 208"/>
              <a:gd name="T80" fmla="*/ 461858 w 837"/>
              <a:gd name="T81" fmla="*/ 73621 h 208"/>
              <a:gd name="T82" fmla="*/ 725913 w 837"/>
              <a:gd name="T83" fmla="*/ 73621 h 208"/>
              <a:gd name="T84" fmla="*/ 731591 w 837"/>
              <a:gd name="T85" fmla="*/ 71537 h 208"/>
              <a:gd name="T86" fmla="*/ 739163 w 837"/>
              <a:gd name="T87" fmla="*/ 71537 h 208"/>
              <a:gd name="T88" fmla="*/ 744841 w 837"/>
              <a:gd name="T89" fmla="*/ 69453 h 208"/>
              <a:gd name="T90" fmla="*/ 749574 w 837"/>
              <a:gd name="T91" fmla="*/ 67370 h 208"/>
              <a:gd name="T92" fmla="*/ 758091 w 837"/>
              <a:gd name="T93" fmla="*/ 63897 h 208"/>
              <a:gd name="T94" fmla="*/ 762824 w 837"/>
              <a:gd name="T95" fmla="*/ 59730 h 208"/>
              <a:gd name="T96" fmla="*/ 768502 w 837"/>
              <a:gd name="T97" fmla="*/ 56257 h 208"/>
              <a:gd name="T98" fmla="*/ 771342 w 837"/>
              <a:gd name="T99" fmla="*/ 52090 h 208"/>
              <a:gd name="T100" fmla="*/ 778913 w 837"/>
              <a:gd name="T101" fmla="*/ 40977 h 208"/>
              <a:gd name="T102" fmla="*/ 786484 w 837"/>
              <a:gd name="T103" fmla="*/ 29170 h 208"/>
              <a:gd name="T104" fmla="*/ 789324 w 837"/>
              <a:gd name="T105" fmla="*/ 15280 h 208"/>
              <a:gd name="T106" fmla="*/ 792163 w 837"/>
              <a:gd name="T107" fmla="*/ 7640 h 208"/>
              <a:gd name="T108" fmla="*/ 792163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16" name="Freeform 55"/>
          <p:cNvSpPr>
            <a:spLocks/>
          </p:cNvSpPr>
          <p:nvPr/>
        </p:nvSpPr>
        <p:spPr bwMode="auto">
          <a:xfrm>
            <a:off x="3059113" y="1412875"/>
            <a:ext cx="792162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79 w 837"/>
              <a:gd name="T7" fmla="*/ 29170 h 208"/>
              <a:gd name="T8" fmla="*/ 10411 w 837"/>
              <a:gd name="T9" fmla="*/ 40977 h 208"/>
              <a:gd name="T10" fmla="*/ 18929 w 837"/>
              <a:gd name="T11" fmla="*/ 52090 h 208"/>
              <a:gd name="T12" fmla="*/ 23661 w 837"/>
              <a:gd name="T13" fmla="*/ 56257 h 208"/>
              <a:gd name="T14" fmla="*/ 29339 w 837"/>
              <a:gd name="T15" fmla="*/ 59730 h 208"/>
              <a:gd name="T16" fmla="*/ 34071 w 837"/>
              <a:gd name="T17" fmla="*/ 63897 h 208"/>
              <a:gd name="T18" fmla="*/ 39750 w 837"/>
              <a:gd name="T19" fmla="*/ 67370 h 208"/>
              <a:gd name="T20" fmla="*/ 44482 w 837"/>
              <a:gd name="T21" fmla="*/ 69453 h 208"/>
              <a:gd name="T22" fmla="*/ 53000 w 837"/>
              <a:gd name="T23" fmla="*/ 71537 h 208"/>
              <a:gd name="T24" fmla="*/ 57732 w 837"/>
              <a:gd name="T25" fmla="*/ 71537 h 208"/>
              <a:gd name="T26" fmla="*/ 66250 w 837"/>
              <a:gd name="T27" fmla="*/ 73621 h 208"/>
              <a:gd name="T28" fmla="*/ 330304 w 837"/>
              <a:gd name="T29" fmla="*/ 73621 h 208"/>
              <a:gd name="T30" fmla="*/ 335036 w 837"/>
              <a:gd name="T31" fmla="*/ 73621 h 208"/>
              <a:gd name="T32" fmla="*/ 343554 w 837"/>
              <a:gd name="T33" fmla="*/ 73621 h 208"/>
              <a:gd name="T34" fmla="*/ 348286 w 837"/>
              <a:gd name="T35" fmla="*/ 75010 h 208"/>
              <a:gd name="T36" fmla="*/ 353965 w 837"/>
              <a:gd name="T37" fmla="*/ 77093 h 208"/>
              <a:gd name="T38" fmla="*/ 361536 w 837"/>
              <a:gd name="T39" fmla="*/ 81260 h 208"/>
              <a:gd name="T40" fmla="*/ 367215 w 837"/>
              <a:gd name="T41" fmla="*/ 84733 h 208"/>
              <a:gd name="T42" fmla="*/ 371947 w 837"/>
              <a:gd name="T43" fmla="*/ 88900 h 208"/>
              <a:gd name="T44" fmla="*/ 374786 w 837"/>
              <a:gd name="T45" fmla="*/ 94457 h 208"/>
              <a:gd name="T46" fmla="*/ 383304 w 837"/>
              <a:gd name="T47" fmla="*/ 104180 h 208"/>
              <a:gd name="T48" fmla="*/ 390876 w 837"/>
              <a:gd name="T49" fmla="*/ 115987 h 208"/>
              <a:gd name="T50" fmla="*/ 393715 w 837"/>
              <a:gd name="T51" fmla="*/ 129183 h 208"/>
              <a:gd name="T52" fmla="*/ 395608 w 837"/>
              <a:gd name="T53" fmla="*/ 136823 h 208"/>
              <a:gd name="T54" fmla="*/ 395608 w 837"/>
              <a:gd name="T55" fmla="*/ 144463 h 208"/>
              <a:gd name="T56" fmla="*/ 395608 w 837"/>
              <a:gd name="T57" fmla="*/ 136823 h 208"/>
              <a:gd name="T58" fmla="*/ 395608 w 837"/>
              <a:gd name="T59" fmla="*/ 129183 h 208"/>
              <a:gd name="T60" fmla="*/ 401286 w 837"/>
              <a:gd name="T61" fmla="*/ 115987 h 208"/>
              <a:gd name="T62" fmla="*/ 406965 w 837"/>
              <a:gd name="T63" fmla="*/ 104180 h 208"/>
              <a:gd name="T64" fmla="*/ 414536 w 837"/>
              <a:gd name="T65" fmla="*/ 94457 h 208"/>
              <a:gd name="T66" fmla="*/ 420215 w 837"/>
              <a:gd name="T67" fmla="*/ 88900 h 208"/>
              <a:gd name="T68" fmla="*/ 424947 w 837"/>
              <a:gd name="T69" fmla="*/ 84733 h 208"/>
              <a:gd name="T70" fmla="*/ 430626 w 837"/>
              <a:gd name="T71" fmla="*/ 81260 h 208"/>
              <a:gd name="T72" fmla="*/ 435358 w 837"/>
              <a:gd name="T73" fmla="*/ 77093 h 208"/>
              <a:gd name="T74" fmla="*/ 441036 w 837"/>
              <a:gd name="T75" fmla="*/ 75010 h 208"/>
              <a:gd name="T76" fmla="*/ 448608 w 837"/>
              <a:gd name="T77" fmla="*/ 73621 h 208"/>
              <a:gd name="T78" fmla="*/ 454286 w 837"/>
              <a:gd name="T79" fmla="*/ 73621 h 208"/>
              <a:gd name="T80" fmla="*/ 461858 w 837"/>
              <a:gd name="T81" fmla="*/ 73621 h 208"/>
              <a:gd name="T82" fmla="*/ 725912 w 837"/>
              <a:gd name="T83" fmla="*/ 73621 h 208"/>
              <a:gd name="T84" fmla="*/ 731590 w 837"/>
              <a:gd name="T85" fmla="*/ 71537 h 208"/>
              <a:gd name="T86" fmla="*/ 739162 w 837"/>
              <a:gd name="T87" fmla="*/ 71537 h 208"/>
              <a:gd name="T88" fmla="*/ 744841 w 837"/>
              <a:gd name="T89" fmla="*/ 69453 h 208"/>
              <a:gd name="T90" fmla="*/ 749573 w 837"/>
              <a:gd name="T91" fmla="*/ 67370 h 208"/>
              <a:gd name="T92" fmla="*/ 758091 w 837"/>
              <a:gd name="T93" fmla="*/ 63897 h 208"/>
              <a:gd name="T94" fmla="*/ 762823 w 837"/>
              <a:gd name="T95" fmla="*/ 59730 h 208"/>
              <a:gd name="T96" fmla="*/ 768501 w 837"/>
              <a:gd name="T97" fmla="*/ 56257 h 208"/>
              <a:gd name="T98" fmla="*/ 771341 w 837"/>
              <a:gd name="T99" fmla="*/ 52090 h 208"/>
              <a:gd name="T100" fmla="*/ 778912 w 837"/>
              <a:gd name="T101" fmla="*/ 40977 h 208"/>
              <a:gd name="T102" fmla="*/ 786483 w 837"/>
              <a:gd name="T103" fmla="*/ 29170 h 208"/>
              <a:gd name="T104" fmla="*/ 789323 w 837"/>
              <a:gd name="T105" fmla="*/ 15280 h 208"/>
              <a:gd name="T106" fmla="*/ 792162 w 837"/>
              <a:gd name="T107" fmla="*/ 7640 h 208"/>
              <a:gd name="T108" fmla="*/ 792162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17" name="Freeform 55"/>
          <p:cNvSpPr>
            <a:spLocks/>
          </p:cNvSpPr>
          <p:nvPr/>
        </p:nvSpPr>
        <p:spPr bwMode="auto">
          <a:xfrm>
            <a:off x="4067175" y="1412875"/>
            <a:ext cx="792163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79 w 837"/>
              <a:gd name="T7" fmla="*/ 29170 h 208"/>
              <a:gd name="T8" fmla="*/ 10411 w 837"/>
              <a:gd name="T9" fmla="*/ 40977 h 208"/>
              <a:gd name="T10" fmla="*/ 18929 w 837"/>
              <a:gd name="T11" fmla="*/ 52090 h 208"/>
              <a:gd name="T12" fmla="*/ 23661 w 837"/>
              <a:gd name="T13" fmla="*/ 56257 h 208"/>
              <a:gd name="T14" fmla="*/ 29339 w 837"/>
              <a:gd name="T15" fmla="*/ 59730 h 208"/>
              <a:gd name="T16" fmla="*/ 34072 w 837"/>
              <a:gd name="T17" fmla="*/ 63897 h 208"/>
              <a:gd name="T18" fmla="*/ 39750 w 837"/>
              <a:gd name="T19" fmla="*/ 67370 h 208"/>
              <a:gd name="T20" fmla="*/ 44482 w 837"/>
              <a:gd name="T21" fmla="*/ 69453 h 208"/>
              <a:gd name="T22" fmla="*/ 53000 w 837"/>
              <a:gd name="T23" fmla="*/ 71537 h 208"/>
              <a:gd name="T24" fmla="*/ 57732 w 837"/>
              <a:gd name="T25" fmla="*/ 71537 h 208"/>
              <a:gd name="T26" fmla="*/ 66250 w 837"/>
              <a:gd name="T27" fmla="*/ 73621 h 208"/>
              <a:gd name="T28" fmla="*/ 330305 w 837"/>
              <a:gd name="T29" fmla="*/ 73621 h 208"/>
              <a:gd name="T30" fmla="*/ 335037 w 837"/>
              <a:gd name="T31" fmla="*/ 73621 h 208"/>
              <a:gd name="T32" fmla="*/ 343555 w 837"/>
              <a:gd name="T33" fmla="*/ 73621 h 208"/>
              <a:gd name="T34" fmla="*/ 348287 w 837"/>
              <a:gd name="T35" fmla="*/ 75010 h 208"/>
              <a:gd name="T36" fmla="*/ 353965 w 837"/>
              <a:gd name="T37" fmla="*/ 77093 h 208"/>
              <a:gd name="T38" fmla="*/ 361537 w 837"/>
              <a:gd name="T39" fmla="*/ 81260 h 208"/>
              <a:gd name="T40" fmla="*/ 367215 w 837"/>
              <a:gd name="T41" fmla="*/ 84733 h 208"/>
              <a:gd name="T42" fmla="*/ 371948 w 837"/>
              <a:gd name="T43" fmla="*/ 88900 h 208"/>
              <a:gd name="T44" fmla="*/ 374787 w 837"/>
              <a:gd name="T45" fmla="*/ 94457 h 208"/>
              <a:gd name="T46" fmla="*/ 383305 w 837"/>
              <a:gd name="T47" fmla="*/ 104180 h 208"/>
              <a:gd name="T48" fmla="*/ 390876 w 837"/>
              <a:gd name="T49" fmla="*/ 115987 h 208"/>
              <a:gd name="T50" fmla="*/ 393715 w 837"/>
              <a:gd name="T51" fmla="*/ 129183 h 208"/>
              <a:gd name="T52" fmla="*/ 395608 w 837"/>
              <a:gd name="T53" fmla="*/ 136823 h 208"/>
              <a:gd name="T54" fmla="*/ 395608 w 837"/>
              <a:gd name="T55" fmla="*/ 144463 h 208"/>
              <a:gd name="T56" fmla="*/ 395608 w 837"/>
              <a:gd name="T57" fmla="*/ 136823 h 208"/>
              <a:gd name="T58" fmla="*/ 395608 w 837"/>
              <a:gd name="T59" fmla="*/ 129183 h 208"/>
              <a:gd name="T60" fmla="*/ 401287 w 837"/>
              <a:gd name="T61" fmla="*/ 115987 h 208"/>
              <a:gd name="T62" fmla="*/ 406965 w 837"/>
              <a:gd name="T63" fmla="*/ 104180 h 208"/>
              <a:gd name="T64" fmla="*/ 414537 w 837"/>
              <a:gd name="T65" fmla="*/ 94457 h 208"/>
              <a:gd name="T66" fmla="*/ 420215 w 837"/>
              <a:gd name="T67" fmla="*/ 88900 h 208"/>
              <a:gd name="T68" fmla="*/ 424948 w 837"/>
              <a:gd name="T69" fmla="*/ 84733 h 208"/>
              <a:gd name="T70" fmla="*/ 430626 w 837"/>
              <a:gd name="T71" fmla="*/ 81260 h 208"/>
              <a:gd name="T72" fmla="*/ 435358 w 837"/>
              <a:gd name="T73" fmla="*/ 77093 h 208"/>
              <a:gd name="T74" fmla="*/ 441037 w 837"/>
              <a:gd name="T75" fmla="*/ 75010 h 208"/>
              <a:gd name="T76" fmla="*/ 448608 w 837"/>
              <a:gd name="T77" fmla="*/ 73621 h 208"/>
              <a:gd name="T78" fmla="*/ 454287 w 837"/>
              <a:gd name="T79" fmla="*/ 73621 h 208"/>
              <a:gd name="T80" fmla="*/ 461858 w 837"/>
              <a:gd name="T81" fmla="*/ 73621 h 208"/>
              <a:gd name="T82" fmla="*/ 725913 w 837"/>
              <a:gd name="T83" fmla="*/ 73621 h 208"/>
              <a:gd name="T84" fmla="*/ 731591 w 837"/>
              <a:gd name="T85" fmla="*/ 71537 h 208"/>
              <a:gd name="T86" fmla="*/ 739163 w 837"/>
              <a:gd name="T87" fmla="*/ 71537 h 208"/>
              <a:gd name="T88" fmla="*/ 744841 w 837"/>
              <a:gd name="T89" fmla="*/ 69453 h 208"/>
              <a:gd name="T90" fmla="*/ 749574 w 837"/>
              <a:gd name="T91" fmla="*/ 67370 h 208"/>
              <a:gd name="T92" fmla="*/ 758091 w 837"/>
              <a:gd name="T93" fmla="*/ 63897 h 208"/>
              <a:gd name="T94" fmla="*/ 762824 w 837"/>
              <a:gd name="T95" fmla="*/ 59730 h 208"/>
              <a:gd name="T96" fmla="*/ 768502 w 837"/>
              <a:gd name="T97" fmla="*/ 56257 h 208"/>
              <a:gd name="T98" fmla="*/ 771342 w 837"/>
              <a:gd name="T99" fmla="*/ 52090 h 208"/>
              <a:gd name="T100" fmla="*/ 778913 w 837"/>
              <a:gd name="T101" fmla="*/ 40977 h 208"/>
              <a:gd name="T102" fmla="*/ 786484 w 837"/>
              <a:gd name="T103" fmla="*/ 29170 h 208"/>
              <a:gd name="T104" fmla="*/ 789324 w 837"/>
              <a:gd name="T105" fmla="*/ 15280 h 208"/>
              <a:gd name="T106" fmla="*/ 792163 w 837"/>
              <a:gd name="T107" fmla="*/ 7640 h 208"/>
              <a:gd name="T108" fmla="*/ 792163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18" name="Freeform 55"/>
          <p:cNvSpPr>
            <a:spLocks/>
          </p:cNvSpPr>
          <p:nvPr/>
        </p:nvSpPr>
        <p:spPr bwMode="auto">
          <a:xfrm>
            <a:off x="5148263" y="1412875"/>
            <a:ext cx="792162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79 w 837"/>
              <a:gd name="T7" fmla="*/ 29170 h 208"/>
              <a:gd name="T8" fmla="*/ 10411 w 837"/>
              <a:gd name="T9" fmla="*/ 40977 h 208"/>
              <a:gd name="T10" fmla="*/ 18929 w 837"/>
              <a:gd name="T11" fmla="*/ 52090 h 208"/>
              <a:gd name="T12" fmla="*/ 23661 w 837"/>
              <a:gd name="T13" fmla="*/ 56257 h 208"/>
              <a:gd name="T14" fmla="*/ 29339 w 837"/>
              <a:gd name="T15" fmla="*/ 59730 h 208"/>
              <a:gd name="T16" fmla="*/ 34071 w 837"/>
              <a:gd name="T17" fmla="*/ 63897 h 208"/>
              <a:gd name="T18" fmla="*/ 39750 w 837"/>
              <a:gd name="T19" fmla="*/ 67370 h 208"/>
              <a:gd name="T20" fmla="*/ 44482 w 837"/>
              <a:gd name="T21" fmla="*/ 69453 h 208"/>
              <a:gd name="T22" fmla="*/ 53000 w 837"/>
              <a:gd name="T23" fmla="*/ 71537 h 208"/>
              <a:gd name="T24" fmla="*/ 57732 w 837"/>
              <a:gd name="T25" fmla="*/ 71537 h 208"/>
              <a:gd name="T26" fmla="*/ 66250 w 837"/>
              <a:gd name="T27" fmla="*/ 73621 h 208"/>
              <a:gd name="T28" fmla="*/ 330304 w 837"/>
              <a:gd name="T29" fmla="*/ 73621 h 208"/>
              <a:gd name="T30" fmla="*/ 335036 w 837"/>
              <a:gd name="T31" fmla="*/ 73621 h 208"/>
              <a:gd name="T32" fmla="*/ 343554 w 837"/>
              <a:gd name="T33" fmla="*/ 73621 h 208"/>
              <a:gd name="T34" fmla="*/ 348286 w 837"/>
              <a:gd name="T35" fmla="*/ 75010 h 208"/>
              <a:gd name="T36" fmla="*/ 353965 w 837"/>
              <a:gd name="T37" fmla="*/ 77093 h 208"/>
              <a:gd name="T38" fmla="*/ 361536 w 837"/>
              <a:gd name="T39" fmla="*/ 81260 h 208"/>
              <a:gd name="T40" fmla="*/ 367215 w 837"/>
              <a:gd name="T41" fmla="*/ 84733 h 208"/>
              <a:gd name="T42" fmla="*/ 371947 w 837"/>
              <a:gd name="T43" fmla="*/ 88900 h 208"/>
              <a:gd name="T44" fmla="*/ 374786 w 837"/>
              <a:gd name="T45" fmla="*/ 94457 h 208"/>
              <a:gd name="T46" fmla="*/ 383304 w 837"/>
              <a:gd name="T47" fmla="*/ 104180 h 208"/>
              <a:gd name="T48" fmla="*/ 390876 w 837"/>
              <a:gd name="T49" fmla="*/ 115987 h 208"/>
              <a:gd name="T50" fmla="*/ 393715 w 837"/>
              <a:gd name="T51" fmla="*/ 129183 h 208"/>
              <a:gd name="T52" fmla="*/ 395608 w 837"/>
              <a:gd name="T53" fmla="*/ 136823 h 208"/>
              <a:gd name="T54" fmla="*/ 395608 w 837"/>
              <a:gd name="T55" fmla="*/ 144463 h 208"/>
              <a:gd name="T56" fmla="*/ 395608 w 837"/>
              <a:gd name="T57" fmla="*/ 136823 h 208"/>
              <a:gd name="T58" fmla="*/ 395608 w 837"/>
              <a:gd name="T59" fmla="*/ 129183 h 208"/>
              <a:gd name="T60" fmla="*/ 401286 w 837"/>
              <a:gd name="T61" fmla="*/ 115987 h 208"/>
              <a:gd name="T62" fmla="*/ 406965 w 837"/>
              <a:gd name="T63" fmla="*/ 104180 h 208"/>
              <a:gd name="T64" fmla="*/ 414536 w 837"/>
              <a:gd name="T65" fmla="*/ 94457 h 208"/>
              <a:gd name="T66" fmla="*/ 420215 w 837"/>
              <a:gd name="T67" fmla="*/ 88900 h 208"/>
              <a:gd name="T68" fmla="*/ 424947 w 837"/>
              <a:gd name="T69" fmla="*/ 84733 h 208"/>
              <a:gd name="T70" fmla="*/ 430626 w 837"/>
              <a:gd name="T71" fmla="*/ 81260 h 208"/>
              <a:gd name="T72" fmla="*/ 435358 w 837"/>
              <a:gd name="T73" fmla="*/ 77093 h 208"/>
              <a:gd name="T74" fmla="*/ 441036 w 837"/>
              <a:gd name="T75" fmla="*/ 75010 h 208"/>
              <a:gd name="T76" fmla="*/ 448608 w 837"/>
              <a:gd name="T77" fmla="*/ 73621 h 208"/>
              <a:gd name="T78" fmla="*/ 454286 w 837"/>
              <a:gd name="T79" fmla="*/ 73621 h 208"/>
              <a:gd name="T80" fmla="*/ 461858 w 837"/>
              <a:gd name="T81" fmla="*/ 73621 h 208"/>
              <a:gd name="T82" fmla="*/ 725912 w 837"/>
              <a:gd name="T83" fmla="*/ 73621 h 208"/>
              <a:gd name="T84" fmla="*/ 731590 w 837"/>
              <a:gd name="T85" fmla="*/ 71537 h 208"/>
              <a:gd name="T86" fmla="*/ 739162 w 837"/>
              <a:gd name="T87" fmla="*/ 71537 h 208"/>
              <a:gd name="T88" fmla="*/ 744841 w 837"/>
              <a:gd name="T89" fmla="*/ 69453 h 208"/>
              <a:gd name="T90" fmla="*/ 749573 w 837"/>
              <a:gd name="T91" fmla="*/ 67370 h 208"/>
              <a:gd name="T92" fmla="*/ 758091 w 837"/>
              <a:gd name="T93" fmla="*/ 63897 h 208"/>
              <a:gd name="T94" fmla="*/ 762823 w 837"/>
              <a:gd name="T95" fmla="*/ 59730 h 208"/>
              <a:gd name="T96" fmla="*/ 768501 w 837"/>
              <a:gd name="T97" fmla="*/ 56257 h 208"/>
              <a:gd name="T98" fmla="*/ 771341 w 837"/>
              <a:gd name="T99" fmla="*/ 52090 h 208"/>
              <a:gd name="T100" fmla="*/ 778912 w 837"/>
              <a:gd name="T101" fmla="*/ 40977 h 208"/>
              <a:gd name="T102" fmla="*/ 786483 w 837"/>
              <a:gd name="T103" fmla="*/ 29170 h 208"/>
              <a:gd name="T104" fmla="*/ 789323 w 837"/>
              <a:gd name="T105" fmla="*/ 15280 h 208"/>
              <a:gd name="T106" fmla="*/ 792162 w 837"/>
              <a:gd name="T107" fmla="*/ 7640 h 208"/>
              <a:gd name="T108" fmla="*/ 792162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19" name="Freeform 55"/>
          <p:cNvSpPr>
            <a:spLocks/>
          </p:cNvSpPr>
          <p:nvPr/>
        </p:nvSpPr>
        <p:spPr bwMode="auto">
          <a:xfrm>
            <a:off x="6156325" y="1412875"/>
            <a:ext cx="792163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79 w 837"/>
              <a:gd name="T7" fmla="*/ 29170 h 208"/>
              <a:gd name="T8" fmla="*/ 10411 w 837"/>
              <a:gd name="T9" fmla="*/ 40977 h 208"/>
              <a:gd name="T10" fmla="*/ 18929 w 837"/>
              <a:gd name="T11" fmla="*/ 52090 h 208"/>
              <a:gd name="T12" fmla="*/ 23661 w 837"/>
              <a:gd name="T13" fmla="*/ 56257 h 208"/>
              <a:gd name="T14" fmla="*/ 29339 w 837"/>
              <a:gd name="T15" fmla="*/ 59730 h 208"/>
              <a:gd name="T16" fmla="*/ 34072 w 837"/>
              <a:gd name="T17" fmla="*/ 63897 h 208"/>
              <a:gd name="T18" fmla="*/ 39750 w 837"/>
              <a:gd name="T19" fmla="*/ 67370 h 208"/>
              <a:gd name="T20" fmla="*/ 44482 w 837"/>
              <a:gd name="T21" fmla="*/ 69453 h 208"/>
              <a:gd name="T22" fmla="*/ 53000 w 837"/>
              <a:gd name="T23" fmla="*/ 71537 h 208"/>
              <a:gd name="T24" fmla="*/ 57732 w 837"/>
              <a:gd name="T25" fmla="*/ 71537 h 208"/>
              <a:gd name="T26" fmla="*/ 66250 w 837"/>
              <a:gd name="T27" fmla="*/ 73621 h 208"/>
              <a:gd name="T28" fmla="*/ 330305 w 837"/>
              <a:gd name="T29" fmla="*/ 73621 h 208"/>
              <a:gd name="T30" fmla="*/ 335037 w 837"/>
              <a:gd name="T31" fmla="*/ 73621 h 208"/>
              <a:gd name="T32" fmla="*/ 343555 w 837"/>
              <a:gd name="T33" fmla="*/ 73621 h 208"/>
              <a:gd name="T34" fmla="*/ 348287 w 837"/>
              <a:gd name="T35" fmla="*/ 75010 h 208"/>
              <a:gd name="T36" fmla="*/ 353965 w 837"/>
              <a:gd name="T37" fmla="*/ 77093 h 208"/>
              <a:gd name="T38" fmla="*/ 361537 w 837"/>
              <a:gd name="T39" fmla="*/ 81260 h 208"/>
              <a:gd name="T40" fmla="*/ 367215 w 837"/>
              <a:gd name="T41" fmla="*/ 84733 h 208"/>
              <a:gd name="T42" fmla="*/ 371948 w 837"/>
              <a:gd name="T43" fmla="*/ 88900 h 208"/>
              <a:gd name="T44" fmla="*/ 374787 w 837"/>
              <a:gd name="T45" fmla="*/ 94457 h 208"/>
              <a:gd name="T46" fmla="*/ 383305 w 837"/>
              <a:gd name="T47" fmla="*/ 104180 h 208"/>
              <a:gd name="T48" fmla="*/ 390876 w 837"/>
              <a:gd name="T49" fmla="*/ 115987 h 208"/>
              <a:gd name="T50" fmla="*/ 393715 w 837"/>
              <a:gd name="T51" fmla="*/ 129183 h 208"/>
              <a:gd name="T52" fmla="*/ 395608 w 837"/>
              <a:gd name="T53" fmla="*/ 136823 h 208"/>
              <a:gd name="T54" fmla="*/ 395608 w 837"/>
              <a:gd name="T55" fmla="*/ 144463 h 208"/>
              <a:gd name="T56" fmla="*/ 395608 w 837"/>
              <a:gd name="T57" fmla="*/ 136823 h 208"/>
              <a:gd name="T58" fmla="*/ 395608 w 837"/>
              <a:gd name="T59" fmla="*/ 129183 h 208"/>
              <a:gd name="T60" fmla="*/ 401287 w 837"/>
              <a:gd name="T61" fmla="*/ 115987 h 208"/>
              <a:gd name="T62" fmla="*/ 406965 w 837"/>
              <a:gd name="T63" fmla="*/ 104180 h 208"/>
              <a:gd name="T64" fmla="*/ 414537 w 837"/>
              <a:gd name="T65" fmla="*/ 94457 h 208"/>
              <a:gd name="T66" fmla="*/ 420215 w 837"/>
              <a:gd name="T67" fmla="*/ 88900 h 208"/>
              <a:gd name="T68" fmla="*/ 424948 w 837"/>
              <a:gd name="T69" fmla="*/ 84733 h 208"/>
              <a:gd name="T70" fmla="*/ 430626 w 837"/>
              <a:gd name="T71" fmla="*/ 81260 h 208"/>
              <a:gd name="T72" fmla="*/ 435358 w 837"/>
              <a:gd name="T73" fmla="*/ 77093 h 208"/>
              <a:gd name="T74" fmla="*/ 441037 w 837"/>
              <a:gd name="T75" fmla="*/ 75010 h 208"/>
              <a:gd name="T76" fmla="*/ 448608 w 837"/>
              <a:gd name="T77" fmla="*/ 73621 h 208"/>
              <a:gd name="T78" fmla="*/ 454287 w 837"/>
              <a:gd name="T79" fmla="*/ 73621 h 208"/>
              <a:gd name="T80" fmla="*/ 461858 w 837"/>
              <a:gd name="T81" fmla="*/ 73621 h 208"/>
              <a:gd name="T82" fmla="*/ 725913 w 837"/>
              <a:gd name="T83" fmla="*/ 73621 h 208"/>
              <a:gd name="T84" fmla="*/ 731591 w 837"/>
              <a:gd name="T85" fmla="*/ 71537 h 208"/>
              <a:gd name="T86" fmla="*/ 739163 w 837"/>
              <a:gd name="T87" fmla="*/ 71537 h 208"/>
              <a:gd name="T88" fmla="*/ 744841 w 837"/>
              <a:gd name="T89" fmla="*/ 69453 h 208"/>
              <a:gd name="T90" fmla="*/ 749574 w 837"/>
              <a:gd name="T91" fmla="*/ 67370 h 208"/>
              <a:gd name="T92" fmla="*/ 758091 w 837"/>
              <a:gd name="T93" fmla="*/ 63897 h 208"/>
              <a:gd name="T94" fmla="*/ 762824 w 837"/>
              <a:gd name="T95" fmla="*/ 59730 h 208"/>
              <a:gd name="T96" fmla="*/ 768502 w 837"/>
              <a:gd name="T97" fmla="*/ 56257 h 208"/>
              <a:gd name="T98" fmla="*/ 771342 w 837"/>
              <a:gd name="T99" fmla="*/ 52090 h 208"/>
              <a:gd name="T100" fmla="*/ 778913 w 837"/>
              <a:gd name="T101" fmla="*/ 40977 h 208"/>
              <a:gd name="T102" fmla="*/ 786484 w 837"/>
              <a:gd name="T103" fmla="*/ 29170 h 208"/>
              <a:gd name="T104" fmla="*/ 789324 w 837"/>
              <a:gd name="T105" fmla="*/ 15280 h 208"/>
              <a:gd name="T106" fmla="*/ 792163 w 837"/>
              <a:gd name="T107" fmla="*/ 7640 h 208"/>
              <a:gd name="T108" fmla="*/ 792163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20" name="Freeform 55"/>
          <p:cNvSpPr>
            <a:spLocks/>
          </p:cNvSpPr>
          <p:nvPr/>
        </p:nvSpPr>
        <p:spPr bwMode="auto">
          <a:xfrm>
            <a:off x="7237413" y="1412875"/>
            <a:ext cx="790575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67 w 837"/>
              <a:gd name="T7" fmla="*/ 29170 h 208"/>
              <a:gd name="T8" fmla="*/ 10390 w 837"/>
              <a:gd name="T9" fmla="*/ 40977 h 208"/>
              <a:gd name="T10" fmla="*/ 18891 w 837"/>
              <a:gd name="T11" fmla="*/ 52090 h 208"/>
              <a:gd name="T12" fmla="*/ 23613 w 837"/>
              <a:gd name="T13" fmla="*/ 56257 h 208"/>
              <a:gd name="T14" fmla="*/ 29281 w 837"/>
              <a:gd name="T15" fmla="*/ 59730 h 208"/>
              <a:gd name="T16" fmla="*/ 34003 w 837"/>
              <a:gd name="T17" fmla="*/ 63897 h 208"/>
              <a:gd name="T18" fmla="*/ 39670 w 837"/>
              <a:gd name="T19" fmla="*/ 67370 h 208"/>
              <a:gd name="T20" fmla="*/ 44393 w 837"/>
              <a:gd name="T21" fmla="*/ 69453 h 208"/>
              <a:gd name="T22" fmla="*/ 52894 w 837"/>
              <a:gd name="T23" fmla="*/ 71537 h 208"/>
              <a:gd name="T24" fmla="*/ 57617 w 837"/>
              <a:gd name="T25" fmla="*/ 71537 h 208"/>
              <a:gd name="T26" fmla="*/ 66117 w 837"/>
              <a:gd name="T27" fmla="*/ 73621 h 208"/>
              <a:gd name="T28" fmla="*/ 329642 w 837"/>
              <a:gd name="T29" fmla="*/ 73621 h 208"/>
              <a:gd name="T30" fmla="*/ 334365 w 837"/>
              <a:gd name="T31" fmla="*/ 73621 h 208"/>
              <a:gd name="T32" fmla="*/ 342866 w 837"/>
              <a:gd name="T33" fmla="*/ 73621 h 208"/>
              <a:gd name="T34" fmla="*/ 347589 w 837"/>
              <a:gd name="T35" fmla="*/ 75010 h 208"/>
              <a:gd name="T36" fmla="*/ 353256 w 837"/>
              <a:gd name="T37" fmla="*/ 77093 h 208"/>
              <a:gd name="T38" fmla="*/ 360812 w 837"/>
              <a:gd name="T39" fmla="*/ 81260 h 208"/>
              <a:gd name="T40" fmla="*/ 366479 w 837"/>
              <a:gd name="T41" fmla="*/ 84733 h 208"/>
              <a:gd name="T42" fmla="*/ 371202 w 837"/>
              <a:gd name="T43" fmla="*/ 88900 h 208"/>
              <a:gd name="T44" fmla="*/ 374035 w 837"/>
              <a:gd name="T45" fmla="*/ 94457 h 208"/>
              <a:gd name="T46" fmla="*/ 382536 w 837"/>
              <a:gd name="T47" fmla="*/ 104180 h 208"/>
              <a:gd name="T48" fmla="*/ 390093 w 837"/>
              <a:gd name="T49" fmla="*/ 115987 h 208"/>
              <a:gd name="T50" fmla="*/ 392926 w 837"/>
              <a:gd name="T51" fmla="*/ 129183 h 208"/>
              <a:gd name="T52" fmla="*/ 394815 w 837"/>
              <a:gd name="T53" fmla="*/ 136823 h 208"/>
              <a:gd name="T54" fmla="*/ 394815 w 837"/>
              <a:gd name="T55" fmla="*/ 144463 h 208"/>
              <a:gd name="T56" fmla="*/ 394815 w 837"/>
              <a:gd name="T57" fmla="*/ 136823 h 208"/>
              <a:gd name="T58" fmla="*/ 394815 w 837"/>
              <a:gd name="T59" fmla="*/ 129183 h 208"/>
              <a:gd name="T60" fmla="*/ 400482 w 837"/>
              <a:gd name="T61" fmla="*/ 115987 h 208"/>
              <a:gd name="T62" fmla="*/ 406150 w 837"/>
              <a:gd name="T63" fmla="*/ 104180 h 208"/>
              <a:gd name="T64" fmla="*/ 413706 w 837"/>
              <a:gd name="T65" fmla="*/ 94457 h 208"/>
              <a:gd name="T66" fmla="*/ 419373 w 837"/>
              <a:gd name="T67" fmla="*/ 88900 h 208"/>
              <a:gd name="T68" fmla="*/ 424096 w 837"/>
              <a:gd name="T69" fmla="*/ 84733 h 208"/>
              <a:gd name="T70" fmla="*/ 429763 w 837"/>
              <a:gd name="T71" fmla="*/ 81260 h 208"/>
              <a:gd name="T72" fmla="*/ 434486 w 837"/>
              <a:gd name="T73" fmla="*/ 77093 h 208"/>
              <a:gd name="T74" fmla="*/ 440153 w 837"/>
              <a:gd name="T75" fmla="*/ 75010 h 208"/>
              <a:gd name="T76" fmla="*/ 447709 w 837"/>
              <a:gd name="T77" fmla="*/ 73621 h 208"/>
              <a:gd name="T78" fmla="*/ 453376 w 837"/>
              <a:gd name="T79" fmla="*/ 73621 h 208"/>
              <a:gd name="T80" fmla="*/ 460933 w 837"/>
              <a:gd name="T81" fmla="*/ 73621 h 208"/>
              <a:gd name="T82" fmla="*/ 724458 w 837"/>
              <a:gd name="T83" fmla="*/ 73621 h 208"/>
              <a:gd name="T84" fmla="*/ 730125 w 837"/>
              <a:gd name="T85" fmla="*/ 71537 h 208"/>
              <a:gd name="T86" fmla="*/ 737681 w 837"/>
              <a:gd name="T87" fmla="*/ 71537 h 208"/>
              <a:gd name="T88" fmla="*/ 743348 w 837"/>
              <a:gd name="T89" fmla="*/ 69453 h 208"/>
              <a:gd name="T90" fmla="*/ 748071 w 837"/>
              <a:gd name="T91" fmla="*/ 67370 h 208"/>
              <a:gd name="T92" fmla="*/ 756572 w 837"/>
              <a:gd name="T93" fmla="*/ 63897 h 208"/>
              <a:gd name="T94" fmla="*/ 761294 w 837"/>
              <a:gd name="T95" fmla="*/ 59730 h 208"/>
              <a:gd name="T96" fmla="*/ 766962 w 837"/>
              <a:gd name="T97" fmla="*/ 56257 h 208"/>
              <a:gd name="T98" fmla="*/ 769795 w 837"/>
              <a:gd name="T99" fmla="*/ 52090 h 208"/>
              <a:gd name="T100" fmla="*/ 777352 w 837"/>
              <a:gd name="T101" fmla="*/ 40977 h 208"/>
              <a:gd name="T102" fmla="*/ 784908 w 837"/>
              <a:gd name="T103" fmla="*/ 29170 h 208"/>
              <a:gd name="T104" fmla="*/ 787741 w 837"/>
              <a:gd name="T105" fmla="*/ 15280 h 208"/>
              <a:gd name="T106" fmla="*/ 790575 w 837"/>
              <a:gd name="T107" fmla="*/ 7640 h 208"/>
              <a:gd name="T108" fmla="*/ 790575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7421" name="Freeform 55"/>
          <p:cNvSpPr>
            <a:spLocks/>
          </p:cNvSpPr>
          <p:nvPr/>
        </p:nvSpPr>
        <p:spPr bwMode="auto">
          <a:xfrm>
            <a:off x="8316913" y="1412875"/>
            <a:ext cx="792162" cy="144463"/>
          </a:xfrm>
          <a:custGeom>
            <a:avLst/>
            <a:gdLst>
              <a:gd name="T0" fmla="*/ 0 w 837"/>
              <a:gd name="T1" fmla="*/ 0 h 208"/>
              <a:gd name="T2" fmla="*/ 0 w 837"/>
              <a:gd name="T3" fmla="*/ 7640 h 208"/>
              <a:gd name="T4" fmla="*/ 0 w 837"/>
              <a:gd name="T5" fmla="*/ 15280 h 208"/>
              <a:gd name="T6" fmla="*/ 5679 w 837"/>
              <a:gd name="T7" fmla="*/ 29170 h 208"/>
              <a:gd name="T8" fmla="*/ 10411 w 837"/>
              <a:gd name="T9" fmla="*/ 40977 h 208"/>
              <a:gd name="T10" fmla="*/ 18929 w 837"/>
              <a:gd name="T11" fmla="*/ 52090 h 208"/>
              <a:gd name="T12" fmla="*/ 23661 w 837"/>
              <a:gd name="T13" fmla="*/ 56257 h 208"/>
              <a:gd name="T14" fmla="*/ 29339 w 837"/>
              <a:gd name="T15" fmla="*/ 59730 h 208"/>
              <a:gd name="T16" fmla="*/ 34071 w 837"/>
              <a:gd name="T17" fmla="*/ 63897 h 208"/>
              <a:gd name="T18" fmla="*/ 39750 w 837"/>
              <a:gd name="T19" fmla="*/ 67370 h 208"/>
              <a:gd name="T20" fmla="*/ 44482 w 837"/>
              <a:gd name="T21" fmla="*/ 69453 h 208"/>
              <a:gd name="T22" fmla="*/ 53000 w 837"/>
              <a:gd name="T23" fmla="*/ 71537 h 208"/>
              <a:gd name="T24" fmla="*/ 57732 w 837"/>
              <a:gd name="T25" fmla="*/ 71537 h 208"/>
              <a:gd name="T26" fmla="*/ 66250 w 837"/>
              <a:gd name="T27" fmla="*/ 73621 h 208"/>
              <a:gd name="T28" fmla="*/ 330304 w 837"/>
              <a:gd name="T29" fmla="*/ 73621 h 208"/>
              <a:gd name="T30" fmla="*/ 335036 w 837"/>
              <a:gd name="T31" fmla="*/ 73621 h 208"/>
              <a:gd name="T32" fmla="*/ 343554 w 837"/>
              <a:gd name="T33" fmla="*/ 73621 h 208"/>
              <a:gd name="T34" fmla="*/ 348286 w 837"/>
              <a:gd name="T35" fmla="*/ 75010 h 208"/>
              <a:gd name="T36" fmla="*/ 353965 w 837"/>
              <a:gd name="T37" fmla="*/ 77093 h 208"/>
              <a:gd name="T38" fmla="*/ 361536 w 837"/>
              <a:gd name="T39" fmla="*/ 81260 h 208"/>
              <a:gd name="T40" fmla="*/ 367215 w 837"/>
              <a:gd name="T41" fmla="*/ 84733 h 208"/>
              <a:gd name="T42" fmla="*/ 371947 w 837"/>
              <a:gd name="T43" fmla="*/ 88900 h 208"/>
              <a:gd name="T44" fmla="*/ 374786 w 837"/>
              <a:gd name="T45" fmla="*/ 94457 h 208"/>
              <a:gd name="T46" fmla="*/ 383304 w 837"/>
              <a:gd name="T47" fmla="*/ 104180 h 208"/>
              <a:gd name="T48" fmla="*/ 390876 w 837"/>
              <a:gd name="T49" fmla="*/ 115987 h 208"/>
              <a:gd name="T50" fmla="*/ 393715 w 837"/>
              <a:gd name="T51" fmla="*/ 129183 h 208"/>
              <a:gd name="T52" fmla="*/ 395608 w 837"/>
              <a:gd name="T53" fmla="*/ 136823 h 208"/>
              <a:gd name="T54" fmla="*/ 395608 w 837"/>
              <a:gd name="T55" fmla="*/ 144463 h 208"/>
              <a:gd name="T56" fmla="*/ 395608 w 837"/>
              <a:gd name="T57" fmla="*/ 136823 h 208"/>
              <a:gd name="T58" fmla="*/ 395608 w 837"/>
              <a:gd name="T59" fmla="*/ 129183 h 208"/>
              <a:gd name="T60" fmla="*/ 401286 w 837"/>
              <a:gd name="T61" fmla="*/ 115987 h 208"/>
              <a:gd name="T62" fmla="*/ 406965 w 837"/>
              <a:gd name="T63" fmla="*/ 104180 h 208"/>
              <a:gd name="T64" fmla="*/ 414536 w 837"/>
              <a:gd name="T65" fmla="*/ 94457 h 208"/>
              <a:gd name="T66" fmla="*/ 420215 w 837"/>
              <a:gd name="T67" fmla="*/ 88900 h 208"/>
              <a:gd name="T68" fmla="*/ 424947 w 837"/>
              <a:gd name="T69" fmla="*/ 84733 h 208"/>
              <a:gd name="T70" fmla="*/ 430626 w 837"/>
              <a:gd name="T71" fmla="*/ 81260 h 208"/>
              <a:gd name="T72" fmla="*/ 435358 w 837"/>
              <a:gd name="T73" fmla="*/ 77093 h 208"/>
              <a:gd name="T74" fmla="*/ 441036 w 837"/>
              <a:gd name="T75" fmla="*/ 75010 h 208"/>
              <a:gd name="T76" fmla="*/ 448608 w 837"/>
              <a:gd name="T77" fmla="*/ 73621 h 208"/>
              <a:gd name="T78" fmla="*/ 454286 w 837"/>
              <a:gd name="T79" fmla="*/ 73621 h 208"/>
              <a:gd name="T80" fmla="*/ 461858 w 837"/>
              <a:gd name="T81" fmla="*/ 73621 h 208"/>
              <a:gd name="T82" fmla="*/ 725912 w 837"/>
              <a:gd name="T83" fmla="*/ 73621 h 208"/>
              <a:gd name="T84" fmla="*/ 731590 w 837"/>
              <a:gd name="T85" fmla="*/ 71537 h 208"/>
              <a:gd name="T86" fmla="*/ 739162 w 837"/>
              <a:gd name="T87" fmla="*/ 71537 h 208"/>
              <a:gd name="T88" fmla="*/ 744841 w 837"/>
              <a:gd name="T89" fmla="*/ 69453 h 208"/>
              <a:gd name="T90" fmla="*/ 749573 w 837"/>
              <a:gd name="T91" fmla="*/ 67370 h 208"/>
              <a:gd name="T92" fmla="*/ 758091 w 837"/>
              <a:gd name="T93" fmla="*/ 63897 h 208"/>
              <a:gd name="T94" fmla="*/ 762823 w 837"/>
              <a:gd name="T95" fmla="*/ 59730 h 208"/>
              <a:gd name="T96" fmla="*/ 768501 w 837"/>
              <a:gd name="T97" fmla="*/ 56257 h 208"/>
              <a:gd name="T98" fmla="*/ 771341 w 837"/>
              <a:gd name="T99" fmla="*/ 52090 h 208"/>
              <a:gd name="T100" fmla="*/ 778912 w 837"/>
              <a:gd name="T101" fmla="*/ 40977 h 208"/>
              <a:gd name="T102" fmla="*/ 786483 w 837"/>
              <a:gd name="T103" fmla="*/ 29170 h 208"/>
              <a:gd name="T104" fmla="*/ 789323 w 837"/>
              <a:gd name="T105" fmla="*/ 15280 h 208"/>
              <a:gd name="T106" fmla="*/ 792162 w 837"/>
              <a:gd name="T107" fmla="*/ 7640 h 208"/>
              <a:gd name="T108" fmla="*/ 792162 w 837"/>
              <a:gd name="T109" fmla="*/ 0 h 208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837"/>
              <a:gd name="T166" fmla="*/ 0 h 208"/>
              <a:gd name="T167" fmla="*/ 837 w 837"/>
              <a:gd name="T168" fmla="*/ 208 h 208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837" h="208">
                <a:moveTo>
                  <a:pt x="0" y="0"/>
                </a:moveTo>
                <a:lnTo>
                  <a:pt x="0" y="11"/>
                </a:lnTo>
                <a:lnTo>
                  <a:pt x="0" y="22"/>
                </a:lnTo>
                <a:lnTo>
                  <a:pt x="6" y="42"/>
                </a:lnTo>
                <a:lnTo>
                  <a:pt x="11" y="59"/>
                </a:lnTo>
                <a:lnTo>
                  <a:pt x="20" y="75"/>
                </a:lnTo>
                <a:lnTo>
                  <a:pt x="25" y="81"/>
                </a:lnTo>
                <a:lnTo>
                  <a:pt x="31" y="86"/>
                </a:lnTo>
                <a:lnTo>
                  <a:pt x="36" y="92"/>
                </a:lnTo>
                <a:lnTo>
                  <a:pt x="42" y="97"/>
                </a:lnTo>
                <a:lnTo>
                  <a:pt x="47" y="100"/>
                </a:lnTo>
                <a:lnTo>
                  <a:pt x="56" y="103"/>
                </a:lnTo>
                <a:lnTo>
                  <a:pt x="61" y="103"/>
                </a:lnTo>
                <a:lnTo>
                  <a:pt x="70" y="106"/>
                </a:lnTo>
                <a:lnTo>
                  <a:pt x="349" y="106"/>
                </a:lnTo>
                <a:lnTo>
                  <a:pt x="354" y="106"/>
                </a:lnTo>
                <a:lnTo>
                  <a:pt x="363" y="106"/>
                </a:lnTo>
                <a:lnTo>
                  <a:pt x="368" y="108"/>
                </a:lnTo>
                <a:lnTo>
                  <a:pt x="374" y="111"/>
                </a:lnTo>
                <a:lnTo>
                  <a:pt x="382" y="117"/>
                </a:lnTo>
                <a:lnTo>
                  <a:pt x="388" y="122"/>
                </a:lnTo>
                <a:lnTo>
                  <a:pt x="393" y="128"/>
                </a:lnTo>
                <a:lnTo>
                  <a:pt x="396" y="136"/>
                </a:lnTo>
                <a:lnTo>
                  <a:pt x="405" y="150"/>
                </a:lnTo>
                <a:lnTo>
                  <a:pt x="413" y="167"/>
                </a:lnTo>
                <a:lnTo>
                  <a:pt x="416" y="186"/>
                </a:lnTo>
                <a:lnTo>
                  <a:pt x="418" y="197"/>
                </a:lnTo>
                <a:lnTo>
                  <a:pt x="418" y="208"/>
                </a:lnTo>
                <a:lnTo>
                  <a:pt x="418" y="197"/>
                </a:lnTo>
                <a:lnTo>
                  <a:pt x="418" y="186"/>
                </a:lnTo>
                <a:lnTo>
                  <a:pt x="424" y="167"/>
                </a:lnTo>
                <a:lnTo>
                  <a:pt x="430" y="150"/>
                </a:lnTo>
                <a:lnTo>
                  <a:pt x="438" y="136"/>
                </a:lnTo>
                <a:lnTo>
                  <a:pt x="444" y="128"/>
                </a:lnTo>
                <a:lnTo>
                  <a:pt x="449" y="122"/>
                </a:lnTo>
                <a:lnTo>
                  <a:pt x="455" y="117"/>
                </a:lnTo>
                <a:lnTo>
                  <a:pt x="460" y="111"/>
                </a:lnTo>
                <a:lnTo>
                  <a:pt x="466" y="108"/>
                </a:lnTo>
                <a:lnTo>
                  <a:pt x="474" y="106"/>
                </a:lnTo>
                <a:lnTo>
                  <a:pt x="480" y="106"/>
                </a:lnTo>
                <a:lnTo>
                  <a:pt x="488" y="106"/>
                </a:lnTo>
                <a:lnTo>
                  <a:pt x="767" y="106"/>
                </a:lnTo>
                <a:lnTo>
                  <a:pt x="773" y="103"/>
                </a:lnTo>
                <a:lnTo>
                  <a:pt x="781" y="103"/>
                </a:lnTo>
                <a:lnTo>
                  <a:pt x="787" y="100"/>
                </a:lnTo>
                <a:lnTo>
                  <a:pt x="792" y="97"/>
                </a:lnTo>
                <a:lnTo>
                  <a:pt x="801" y="92"/>
                </a:lnTo>
                <a:lnTo>
                  <a:pt x="806" y="86"/>
                </a:lnTo>
                <a:lnTo>
                  <a:pt x="812" y="81"/>
                </a:lnTo>
                <a:lnTo>
                  <a:pt x="815" y="75"/>
                </a:lnTo>
                <a:lnTo>
                  <a:pt x="823" y="59"/>
                </a:lnTo>
                <a:lnTo>
                  <a:pt x="831" y="42"/>
                </a:lnTo>
                <a:lnTo>
                  <a:pt x="834" y="22"/>
                </a:lnTo>
                <a:lnTo>
                  <a:pt x="837" y="11"/>
                </a:lnTo>
                <a:lnTo>
                  <a:pt x="837" y="0"/>
                </a:lnTo>
              </a:path>
            </a:pathLst>
          </a:custGeom>
          <a:noFill/>
          <a:ln w="1079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174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7338" y="4868863"/>
            <a:ext cx="8677275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6. Найти значения чисел </a:t>
            </a:r>
            <a:r>
              <a:rPr lang="ru-RU" sz="3200" b="1" i="1">
                <a:latin typeface="Cambria" pitchFamily="18" charset="0"/>
              </a:rPr>
              <a:t>Y</a:t>
            </a:r>
            <a:r>
              <a:rPr lang="ru-RU" sz="3200">
                <a:latin typeface="Cambria" pitchFamily="18" charset="0"/>
              </a:rPr>
              <a:t> и </a:t>
            </a:r>
            <a:r>
              <a:rPr lang="ru-RU" sz="3200" b="1" i="1">
                <a:latin typeface="Cambria" pitchFamily="18" charset="0"/>
              </a:rPr>
              <a:t>Z</a:t>
            </a:r>
            <a:r>
              <a:rPr lang="ru-RU" sz="3200">
                <a:latin typeface="Cambria" pitchFamily="18" charset="0"/>
              </a:rPr>
              <a:t> по их заданным шестнадцатеричным представлениям </a:t>
            </a:r>
            <a:r>
              <a:rPr lang="ru-RU" sz="3200" b="1" i="1">
                <a:latin typeface="Cambria" pitchFamily="18" charset="0"/>
              </a:rPr>
              <a:t>R</a:t>
            </a:r>
            <a:r>
              <a:rPr lang="ru-RU" sz="3200">
                <a:latin typeface="Cambria" pitchFamily="18" charset="0"/>
              </a:rPr>
              <a:t> и </a:t>
            </a:r>
            <a:r>
              <a:rPr lang="ru-RU" sz="3200" b="1" i="1">
                <a:latin typeface="Cambria" pitchFamily="18" charset="0"/>
              </a:rPr>
              <a:t>S</a:t>
            </a:r>
            <a:r>
              <a:rPr lang="ru-RU" sz="3200">
                <a:latin typeface="Cambria" pitchFamily="18" charset="0"/>
              </a:rPr>
              <a:t> в форме с плавающей запятой в формате Ф1.</a:t>
            </a:r>
          </a:p>
          <a:p>
            <a:r>
              <a:rPr lang="en-US" sz="3200" b="1" i="1">
                <a:latin typeface="Rockwell" pitchFamily="18" charset="0"/>
              </a:rPr>
              <a:t>R</a:t>
            </a:r>
            <a:r>
              <a:rPr lang="en-US" sz="3200" i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= </a:t>
            </a:r>
            <a:r>
              <a:rPr lang="en-US" sz="3200">
                <a:latin typeface="Rockwell" pitchFamily="18" charset="0"/>
              </a:rPr>
              <a:t>C</a:t>
            </a:r>
            <a:r>
              <a:rPr lang="ru-RU" sz="3200">
                <a:latin typeface="Cambria" pitchFamily="18" charset="0"/>
              </a:rPr>
              <a:t>318</a:t>
            </a:r>
            <a:r>
              <a:rPr lang="en-US" sz="3200">
                <a:latin typeface="Rockwell" pitchFamily="18" charset="0"/>
              </a:rPr>
              <a:t>FC</a:t>
            </a:r>
            <a:r>
              <a:rPr lang="ru-RU" sz="3200">
                <a:latin typeface="Cambria" pitchFamily="18" charset="0"/>
              </a:rPr>
              <a:t>00,     </a:t>
            </a:r>
            <a:r>
              <a:rPr lang="en-US" sz="3200" b="1" i="1">
                <a:latin typeface="Rockwell" pitchFamily="18" charset="0"/>
              </a:rPr>
              <a:t>S</a:t>
            </a:r>
            <a:r>
              <a:rPr lang="ru-RU" sz="3200">
                <a:latin typeface="Cambria" pitchFamily="18" charset="0"/>
              </a:rPr>
              <a:t> = 3</a:t>
            </a:r>
            <a:r>
              <a:rPr lang="en-US" sz="3200">
                <a:latin typeface="Rockwell" pitchFamily="18" charset="0"/>
              </a:rPr>
              <a:t>E</a:t>
            </a:r>
            <a:r>
              <a:rPr lang="ru-RU" sz="3200">
                <a:latin typeface="Cambria" pitchFamily="18" charset="0"/>
              </a:rPr>
              <a:t>600000</a:t>
            </a:r>
          </a:p>
          <a:p>
            <a:r>
              <a:rPr lang="ru-RU" sz="3200">
                <a:latin typeface="Cambria" pitchFamily="18" charset="0"/>
              </a:rPr>
              <a:t>6.1. Для определения значения числа </a:t>
            </a:r>
            <a:r>
              <a:rPr lang="ru-RU" sz="3200" b="1" i="1">
                <a:latin typeface="Cambria" pitchFamily="18" charset="0"/>
              </a:rPr>
              <a:t>Y</a:t>
            </a:r>
            <a:r>
              <a:rPr lang="ru-RU" sz="3200" i="1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произ-водится наложение его шестнадцатеричного представления </a:t>
            </a:r>
            <a:r>
              <a:rPr lang="ru-RU" sz="3200" b="1" i="1">
                <a:latin typeface="Cambria" pitchFamily="18" charset="0"/>
              </a:rPr>
              <a:t>R</a:t>
            </a:r>
            <a:r>
              <a:rPr lang="ru-RU" sz="3200">
                <a:latin typeface="Cambria" pitchFamily="18" charset="0"/>
              </a:rPr>
              <a:t> на разрядную сетку формата Ф1:</a:t>
            </a:r>
          </a:p>
        </p:txBody>
      </p:sp>
      <p:pic>
        <p:nvPicPr>
          <p:cNvPr id="1843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7950" y="3860800"/>
            <a:ext cx="9178925" cy="299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747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Из этого представления видно, что число </a:t>
            </a:r>
            <a:r>
              <a:rPr lang="en-US" sz="3200" b="1" i="1">
                <a:latin typeface="Rockwell" pitchFamily="18" charset="0"/>
              </a:rPr>
              <a:t>Y</a:t>
            </a:r>
            <a:r>
              <a:rPr lang="ru-RU" sz="3200">
                <a:latin typeface="Cambria" pitchFamily="18" charset="0"/>
              </a:rPr>
              <a:t> – отрицательное (в знаковом разряде числа – единица).</a:t>
            </a:r>
          </a:p>
          <a:p>
            <a:r>
              <a:rPr lang="ru-RU" sz="3200">
                <a:latin typeface="Cambria" pitchFamily="18" charset="0"/>
              </a:rPr>
              <a:t>Определим порядок числа </a:t>
            </a:r>
            <a:r>
              <a:rPr lang="en-US" sz="3200" b="1" i="1">
                <a:latin typeface="Rockwell" pitchFamily="18" charset="0"/>
              </a:rPr>
              <a:t>Y</a:t>
            </a:r>
            <a:r>
              <a:rPr lang="ru-RU" sz="3200">
                <a:latin typeface="Cambria" pitchFamily="18" charset="0"/>
              </a:rPr>
              <a:t>  по его характе-ристике:</a:t>
            </a: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  <a:p>
            <a:r>
              <a:rPr lang="en-US" sz="3200" i="1">
                <a:latin typeface="Rockwell" pitchFamily="18" charset="0"/>
              </a:rPr>
              <a:t>P</a:t>
            </a:r>
            <a:r>
              <a:rPr lang="en-US" sz="3200" i="1" baseline="-25000">
                <a:latin typeface="Rockwell" pitchFamily="18" charset="0"/>
              </a:rPr>
              <a:t>Y</a:t>
            </a:r>
            <a:r>
              <a:rPr lang="ru-RU" sz="3200" i="1">
                <a:latin typeface="Cambria" pitchFamily="18" charset="0"/>
              </a:rPr>
              <a:t> = </a:t>
            </a:r>
            <a:r>
              <a:rPr lang="en-US" sz="3200" i="1">
                <a:latin typeface="Rockwell" pitchFamily="18" charset="0"/>
              </a:rPr>
              <a:t>X</a:t>
            </a:r>
            <a:r>
              <a:rPr lang="en-US" sz="3200" i="1" baseline="-25000">
                <a:latin typeface="Rockwell" pitchFamily="18" charset="0"/>
              </a:rPr>
              <a:t>Y</a:t>
            </a:r>
            <a:r>
              <a:rPr lang="ru-RU" sz="3200">
                <a:latin typeface="Cambria" pitchFamily="18" charset="0"/>
              </a:rPr>
              <a:t> – 64 = 3.</a:t>
            </a:r>
          </a:p>
          <a:p>
            <a:r>
              <a:rPr lang="ru-RU" sz="3200">
                <a:latin typeface="Cambria" pitchFamily="18" charset="0"/>
              </a:rPr>
              <a:t>Представим число </a:t>
            </a:r>
            <a:r>
              <a:rPr lang="en-US" sz="3200" b="1" i="1">
                <a:latin typeface="Rockwell" pitchFamily="18" charset="0"/>
              </a:rPr>
              <a:t>Y</a:t>
            </a:r>
            <a:r>
              <a:rPr lang="en-US" sz="3200" b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с помощью мантиссы и порядка:</a:t>
            </a:r>
          </a:p>
          <a:p>
            <a:r>
              <a:rPr lang="en-US" sz="3200" b="1" i="1">
                <a:latin typeface="Rockwell" pitchFamily="18" charset="0"/>
              </a:rPr>
              <a:t>Y</a:t>
            </a:r>
            <a:r>
              <a:rPr lang="ru-RU" sz="3200">
                <a:latin typeface="Cambria" pitchFamily="18" charset="0"/>
              </a:rPr>
              <a:t> = – (0,18</a:t>
            </a:r>
            <a:r>
              <a:rPr lang="en-US" sz="3200">
                <a:latin typeface="Rockwell" pitchFamily="18" charset="0"/>
              </a:rPr>
              <a:t>FC</a:t>
            </a:r>
            <a:r>
              <a:rPr lang="ru-RU" sz="3200">
                <a:latin typeface="Cambria" pitchFamily="18" charset="0"/>
              </a:rPr>
              <a:t>)</a:t>
            </a:r>
            <a:r>
              <a:rPr lang="ru-RU" sz="3200" baseline="-25000">
                <a:latin typeface="Cambria" pitchFamily="18" charset="0"/>
              </a:rPr>
              <a:t>16</a:t>
            </a:r>
            <a:r>
              <a:rPr lang="ru-RU" sz="3200">
                <a:latin typeface="Cambria" pitchFamily="18" charset="0"/>
              </a:rPr>
              <a:t>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3</a:t>
            </a:r>
            <a:r>
              <a:rPr lang="ru-RU" sz="3200">
                <a:latin typeface="Cambria" pitchFamily="18" charset="0"/>
              </a:rPr>
              <a:t> = – (18</a:t>
            </a:r>
            <a:r>
              <a:rPr lang="en-US" sz="3200">
                <a:latin typeface="Rockwell" pitchFamily="18" charset="0"/>
              </a:rPr>
              <a:t>F</a:t>
            </a:r>
            <a:r>
              <a:rPr lang="ru-RU" sz="3200">
                <a:latin typeface="Cambria" pitchFamily="18" charset="0"/>
              </a:rPr>
              <a:t>,</a:t>
            </a:r>
            <a:r>
              <a:rPr lang="en-US" sz="3200">
                <a:latin typeface="Rockwell" pitchFamily="18" charset="0"/>
              </a:rPr>
              <a:t>C</a:t>
            </a:r>
            <a:r>
              <a:rPr lang="ru-RU" sz="3200">
                <a:latin typeface="Cambria" pitchFamily="18" charset="0"/>
              </a:rPr>
              <a:t>)</a:t>
            </a:r>
            <a:r>
              <a:rPr lang="ru-RU" sz="3200" baseline="-25000">
                <a:latin typeface="Cambria" pitchFamily="18" charset="0"/>
              </a:rPr>
              <a:t>16</a:t>
            </a:r>
            <a:r>
              <a:rPr lang="ru-RU" sz="3200">
                <a:latin typeface="Cambria" pitchFamily="18" charset="0"/>
              </a:rPr>
              <a:t> = – (1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+</a:t>
            </a:r>
          </a:p>
          <a:p>
            <a:r>
              <a:rPr lang="ru-RU" sz="3200">
                <a:latin typeface="Cambria" pitchFamily="18" charset="0"/>
              </a:rPr>
              <a:t>+ 8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1</a:t>
            </a:r>
            <a:r>
              <a:rPr lang="ru-RU" sz="3200">
                <a:latin typeface="Cambria" pitchFamily="18" charset="0"/>
              </a:rPr>
              <a:t> + 15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0</a:t>
            </a:r>
            <a:r>
              <a:rPr lang="ru-RU" sz="3200">
                <a:latin typeface="Cambria" pitchFamily="18" charset="0"/>
              </a:rPr>
              <a:t> + 12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–1</a:t>
            </a:r>
            <a:r>
              <a:rPr lang="ru-RU" sz="3200">
                <a:latin typeface="Cambria" pitchFamily="18" charset="0"/>
              </a:rPr>
              <a:t>) = </a:t>
            </a:r>
          </a:p>
          <a:p>
            <a:r>
              <a:rPr lang="ru-RU" sz="3200">
                <a:latin typeface="Cambria" pitchFamily="18" charset="0"/>
              </a:rPr>
              <a:t>   = – (256 + 128 +15 + 0,75) =  –399,75.</a:t>
            </a: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</p:txBody>
      </p:sp>
      <p:pic>
        <p:nvPicPr>
          <p:cNvPr id="1945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050" y="2060575"/>
            <a:ext cx="5834063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6494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6.2. Для определения значения числа </a:t>
            </a:r>
            <a:r>
              <a:rPr lang="en-US" sz="3200" b="1" i="1">
                <a:latin typeface="Rockwell" pitchFamily="18" charset="0"/>
              </a:rPr>
              <a:t>Z</a:t>
            </a:r>
            <a:r>
              <a:rPr lang="en-US" sz="3200" i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произ-водится наложение его шестнадцатеричного представления </a:t>
            </a:r>
            <a:r>
              <a:rPr lang="en-US" sz="3200" b="1" i="1">
                <a:latin typeface="Rockwell" pitchFamily="18" charset="0"/>
              </a:rPr>
              <a:t>S</a:t>
            </a:r>
            <a:r>
              <a:rPr lang="ru-RU" sz="3200">
                <a:latin typeface="Cambria" pitchFamily="18" charset="0"/>
              </a:rPr>
              <a:t> на разрядную сетку:</a:t>
            </a: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  <a:p>
            <a:r>
              <a:rPr lang="ru-RU" sz="3200">
                <a:latin typeface="Cambria" pitchFamily="18" charset="0"/>
              </a:rPr>
              <a:t>Порядок числа </a:t>
            </a:r>
            <a:r>
              <a:rPr lang="ru-RU" sz="3200" b="1" i="1">
                <a:latin typeface="Cambria" pitchFamily="18" charset="0"/>
              </a:rPr>
              <a:t>Z</a:t>
            </a:r>
            <a:r>
              <a:rPr lang="ru-RU" sz="3200">
                <a:latin typeface="Cambria" pitchFamily="18" charset="0"/>
              </a:rPr>
              <a:t>:  </a:t>
            </a:r>
            <a:r>
              <a:rPr lang="en-US" sz="3200" i="1">
                <a:latin typeface="Rockwell" pitchFamily="18" charset="0"/>
              </a:rPr>
              <a:t>P</a:t>
            </a:r>
            <a:r>
              <a:rPr lang="ru-RU" sz="3200" i="1" baseline="-25000">
                <a:latin typeface="Cambria" pitchFamily="18" charset="0"/>
              </a:rPr>
              <a:t>Z</a:t>
            </a:r>
            <a:r>
              <a:rPr lang="ru-RU" sz="3200" i="1">
                <a:latin typeface="Cambria" pitchFamily="18" charset="0"/>
              </a:rPr>
              <a:t> = X</a:t>
            </a:r>
            <a:r>
              <a:rPr lang="en-US" sz="3200" i="1" baseline="-25000">
                <a:latin typeface="Rockwell" pitchFamily="18" charset="0"/>
              </a:rPr>
              <a:t>Z</a:t>
            </a:r>
            <a:r>
              <a:rPr lang="ru-RU" sz="3200">
                <a:latin typeface="Cambria" pitchFamily="18" charset="0"/>
              </a:rPr>
              <a:t> – 64 = 62 – 64 = –2.</a:t>
            </a:r>
          </a:p>
          <a:p>
            <a:r>
              <a:rPr lang="ru-RU" sz="3200">
                <a:latin typeface="Cambria" pitchFamily="18" charset="0"/>
              </a:rPr>
              <a:t>Значение числа </a:t>
            </a:r>
            <a:r>
              <a:rPr lang="ru-RU" sz="3200" b="1" i="1">
                <a:latin typeface="Cambria" pitchFamily="18" charset="0"/>
              </a:rPr>
              <a:t>Z</a:t>
            </a:r>
            <a:r>
              <a:rPr lang="ru-RU" sz="3200">
                <a:latin typeface="Cambria" pitchFamily="18" charset="0"/>
              </a:rPr>
              <a:t>:</a:t>
            </a:r>
          </a:p>
          <a:p>
            <a:r>
              <a:rPr lang="en-US" sz="3200" b="1" i="1">
                <a:latin typeface="Rockwell" pitchFamily="18" charset="0"/>
              </a:rPr>
              <a:t>Z</a:t>
            </a:r>
            <a:r>
              <a:rPr lang="en-US" sz="3200" i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= (0,6)</a:t>
            </a:r>
            <a:r>
              <a:rPr lang="ru-RU" sz="3200" baseline="-25000">
                <a:latin typeface="Cambria" pitchFamily="18" charset="0"/>
              </a:rPr>
              <a:t>16</a:t>
            </a:r>
            <a:r>
              <a:rPr lang="ru-RU" sz="3200">
                <a:latin typeface="Cambria" pitchFamily="18" charset="0"/>
              </a:rPr>
              <a:t>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16</a:t>
            </a:r>
            <a:r>
              <a:rPr lang="ru-RU" sz="3200" baseline="30000">
                <a:latin typeface="Cambria" pitchFamily="18" charset="0"/>
              </a:rPr>
              <a:t>–2</a:t>
            </a:r>
            <a:r>
              <a:rPr lang="ru-RU" sz="3200">
                <a:latin typeface="Cambria" pitchFamily="18" charset="0"/>
              </a:rPr>
              <a:t> = (0,006)</a:t>
            </a:r>
            <a:r>
              <a:rPr lang="ru-RU" sz="3200" baseline="-25000">
                <a:latin typeface="Cambria" pitchFamily="18" charset="0"/>
              </a:rPr>
              <a:t>16</a:t>
            </a:r>
            <a:r>
              <a:rPr lang="ru-RU" sz="3200">
                <a:latin typeface="Cambria" pitchFamily="18" charset="0"/>
              </a:rPr>
              <a:t> = 6/16</a:t>
            </a:r>
            <a:r>
              <a:rPr lang="ru-RU" sz="3200" baseline="30000">
                <a:latin typeface="Cambria" pitchFamily="18" charset="0"/>
              </a:rPr>
              <a:t>3</a:t>
            </a:r>
            <a:r>
              <a:rPr lang="ru-RU" sz="3200">
                <a:latin typeface="Cambria" pitchFamily="18" charset="0"/>
              </a:rPr>
              <a:t> = 6/2</a:t>
            </a:r>
            <a:r>
              <a:rPr lang="ru-RU" sz="3200" baseline="30000">
                <a:latin typeface="Cambria" pitchFamily="18" charset="0"/>
              </a:rPr>
              <a:t>12</a:t>
            </a:r>
            <a:r>
              <a:rPr lang="ru-RU" sz="3200">
                <a:latin typeface="Cambria" pitchFamily="18" charset="0"/>
              </a:rPr>
              <a:t> = =3/2</a:t>
            </a:r>
            <a:r>
              <a:rPr lang="ru-RU" sz="3200" baseline="30000">
                <a:latin typeface="Cambria" pitchFamily="18" charset="0"/>
              </a:rPr>
              <a:t>11</a:t>
            </a:r>
            <a:r>
              <a:rPr lang="ru-RU" sz="3200" i="1">
                <a:latin typeface="Cambria" pitchFamily="18" charset="0"/>
              </a:rPr>
              <a:t>=</a:t>
            </a:r>
            <a:r>
              <a:rPr lang="ru-RU" sz="3200">
                <a:latin typeface="Cambria" pitchFamily="18" charset="0"/>
              </a:rPr>
              <a:t> (3/2)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(1/2</a:t>
            </a:r>
            <a:r>
              <a:rPr lang="ru-RU" sz="3200" baseline="30000">
                <a:latin typeface="Cambria" pitchFamily="18" charset="0"/>
              </a:rPr>
              <a:t>10</a:t>
            </a:r>
            <a:r>
              <a:rPr lang="ru-RU" sz="3200">
                <a:latin typeface="Cambria" pitchFamily="18" charset="0"/>
              </a:rPr>
              <a:t>) = (3/2)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en-US" sz="3200">
                <a:latin typeface="Rockwell" pitchFamily="18" charset="0"/>
              </a:rPr>
              <a:t>  </a:t>
            </a:r>
            <a:r>
              <a:rPr lang="ru-RU" sz="3200">
                <a:latin typeface="Cambria" pitchFamily="18" charset="0"/>
              </a:rPr>
              <a:t>(1/1024)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</a:t>
            </a:r>
            <a:endParaRPr lang="ru-RU" sz="3200">
              <a:latin typeface="Cambria" pitchFamily="18" charset="0"/>
              <a:sym typeface="Symbol" pitchFamily="18" charset="2"/>
            </a:endParaRPr>
          </a:p>
          <a:p>
            <a:r>
              <a:rPr lang="en-US" sz="3200">
                <a:latin typeface="Rockwell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1,5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10</a:t>
            </a:r>
            <a:r>
              <a:rPr lang="ru-RU" sz="3200" baseline="30000">
                <a:latin typeface="Cambria" pitchFamily="18" charset="0"/>
              </a:rPr>
              <a:t>-3</a:t>
            </a:r>
            <a:r>
              <a:rPr lang="ru-RU" sz="3200">
                <a:latin typeface="Cambria" pitchFamily="18" charset="0"/>
              </a:rPr>
              <a:t>.</a:t>
            </a:r>
          </a:p>
          <a:p>
            <a:endParaRPr lang="ru-RU" sz="3200">
              <a:latin typeface="Cambria" pitchFamily="18" charset="0"/>
            </a:endParaRPr>
          </a:p>
        </p:txBody>
      </p:sp>
      <p:pic>
        <p:nvPicPr>
          <p:cNvPr id="20483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1913" y="1628775"/>
            <a:ext cx="908208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747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dirty="0">
                <a:latin typeface="Cambria" pitchFamily="18" charset="0"/>
              </a:rPr>
              <a:t>7. Найти значения чисел </a:t>
            </a:r>
            <a:r>
              <a:rPr lang="ru-RU" sz="3200" b="1" i="1" dirty="0">
                <a:latin typeface="Cambria" pitchFamily="18" charset="0"/>
              </a:rPr>
              <a:t>V</a:t>
            </a:r>
            <a:r>
              <a:rPr lang="ru-RU" sz="3200" dirty="0">
                <a:latin typeface="Cambria" pitchFamily="18" charset="0"/>
              </a:rPr>
              <a:t> и </a:t>
            </a:r>
            <a:r>
              <a:rPr lang="ru-RU" sz="3200" b="1" i="1" dirty="0">
                <a:latin typeface="Cambria" pitchFamily="18" charset="0"/>
              </a:rPr>
              <a:t>W</a:t>
            </a:r>
            <a:r>
              <a:rPr lang="ru-RU" sz="3200" dirty="0">
                <a:latin typeface="Cambria" pitchFamily="18" charset="0"/>
              </a:rPr>
              <a:t> по их заданным шестнадцатеричным представлениям </a:t>
            </a:r>
            <a:r>
              <a:rPr lang="ru-RU" sz="3200" b="1" i="1" dirty="0">
                <a:latin typeface="Cambria" pitchFamily="18" charset="0"/>
              </a:rPr>
              <a:t>R</a:t>
            </a:r>
            <a:r>
              <a:rPr lang="ru-RU" sz="3200" dirty="0">
                <a:latin typeface="Cambria" pitchFamily="18" charset="0"/>
              </a:rPr>
              <a:t> и </a:t>
            </a:r>
            <a:r>
              <a:rPr lang="ru-RU" sz="3200" b="1" i="1" dirty="0">
                <a:latin typeface="Cambria" pitchFamily="18" charset="0"/>
              </a:rPr>
              <a:t>S</a:t>
            </a:r>
            <a:r>
              <a:rPr lang="ru-RU" sz="3200" dirty="0">
                <a:latin typeface="Cambria" pitchFamily="18" charset="0"/>
              </a:rPr>
              <a:t> в форме с плавающей запятой в формате Ф2.</a:t>
            </a:r>
          </a:p>
          <a:p>
            <a:r>
              <a:rPr lang="ru-RU" sz="3200" dirty="0">
                <a:latin typeface="Cambria" pitchFamily="18" charset="0"/>
              </a:rPr>
              <a:t>7.1. Представление числа </a:t>
            </a:r>
            <a:r>
              <a:rPr lang="ru-RU" sz="3200" b="1" i="1" dirty="0">
                <a:latin typeface="Cambria" pitchFamily="18" charset="0"/>
              </a:rPr>
              <a:t>V</a:t>
            </a:r>
            <a:r>
              <a:rPr lang="ru-RU" sz="3200" dirty="0">
                <a:latin typeface="Cambria" pitchFamily="18" charset="0"/>
              </a:rPr>
              <a:t> в формате Ф2 имеет вид</a:t>
            </a:r>
          </a:p>
          <a:p>
            <a:endParaRPr lang="ru-RU" sz="3200" dirty="0">
              <a:latin typeface="Cambria" pitchFamily="18" charset="0"/>
            </a:endParaRPr>
          </a:p>
          <a:p>
            <a:endParaRPr lang="ru-RU" sz="3200" dirty="0">
              <a:latin typeface="Cambria" pitchFamily="18" charset="0"/>
            </a:endParaRPr>
          </a:p>
          <a:p>
            <a:endParaRPr lang="ru-RU" sz="3200" dirty="0">
              <a:latin typeface="Cambria" pitchFamily="18" charset="0"/>
            </a:endParaRPr>
          </a:p>
          <a:p>
            <a:endParaRPr lang="ru-RU" sz="3200" dirty="0">
              <a:latin typeface="Cambria" pitchFamily="18" charset="0"/>
            </a:endParaRPr>
          </a:p>
          <a:p>
            <a:endParaRPr lang="ru-RU" sz="3200" dirty="0">
              <a:latin typeface="Cambria" pitchFamily="18" charset="0"/>
            </a:endParaRPr>
          </a:p>
          <a:p>
            <a:endParaRPr lang="ru-RU" sz="3200" dirty="0">
              <a:latin typeface="Cambria" pitchFamily="18" charset="0"/>
            </a:endParaRPr>
          </a:p>
          <a:p>
            <a:r>
              <a:rPr lang="ru-RU" sz="3200" dirty="0">
                <a:latin typeface="Cambria" pitchFamily="18" charset="0"/>
              </a:rPr>
              <a:t>Порядок числа </a:t>
            </a:r>
            <a:r>
              <a:rPr lang="ru-RU" sz="3200" b="1" i="1" dirty="0">
                <a:latin typeface="Cambria" pitchFamily="18" charset="0"/>
              </a:rPr>
              <a:t>V</a:t>
            </a:r>
            <a:r>
              <a:rPr lang="ru-RU" sz="3200" dirty="0">
                <a:latin typeface="Cambria" pitchFamily="18" charset="0"/>
              </a:rPr>
              <a:t>: </a:t>
            </a:r>
          </a:p>
          <a:p>
            <a:r>
              <a:rPr lang="en-US" sz="3200" i="1" dirty="0">
                <a:latin typeface="Rockwell" pitchFamily="18" charset="0"/>
              </a:rPr>
              <a:t>P</a:t>
            </a:r>
            <a:r>
              <a:rPr lang="en-US" sz="3200" i="1" baseline="-25000" dirty="0">
                <a:latin typeface="Rockwell" pitchFamily="18" charset="0"/>
              </a:rPr>
              <a:t>V</a:t>
            </a:r>
            <a:r>
              <a:rPr lang="ru-RU" sz="3200" i="1" dirty="0">
                <a:latin typeface="Cambria" pitchFamily="18" charset="0"/>
              </a:rPr>
              <a:t> = </a:t>
            </a:r>
            <a:r>
              <a:rPr lang="en-US" sz="3200" i="1" dirty="0">
                <a:latin typeface="Rockwell" pitchFamily="18" charset="0"/>
              </a:rPr>
              <a:t>X</a:t>
            </a:r>
            <a:r>
              <a:rPr lang="en-US" sz="3200" i="1" baseline="-25000" dirty="0">
                <a:latin typeface="Rockwell" pitchFamily="18" charset="0"/>
              </a:rPr>
              <a:t>V</a:t>
            </a:r>
            <a:r>
              <a:rPr lang="ru-RU" sz="3200" dirty="0">
                <a:latin typeface="Cambria" pitchFamily="18" charset="0"/>
              </a:rPr>
              <a:t> – 128 = 134 – 128 = 6.</a:t>
            </a:r>
          </a:p>
          <a:p>
            <a:r>
              <a:rPr lang="ru-RU" sz="3200" dirty="0">
                <a:latin typeface="Cambria" pitchFamily="18" charset="0"/>
              </a:rPr>
              <a:t>Значение числа </a:t>
            </a:r>
            <a:r>
              <a:rPr lang="en-US" sz="3200" b="1" i="1" dirty="0">
                <a:latin typeface="Rockwell" pitchFamily="18" charset="0"/>
              </a:rPr>
              <a:t>V</a:t>
            </a:r>
            <a:r>
              <a:rPr lang="ru-RU" sz="3200" dirty="0">
                <a:latin typeface="Cambria" pitchFamily="18" charset="0"/>
              </a:rPr>
              <a:t> в нормальной форме:</a:t>
            </a:r>
          </a:p>
          <a:p>
            <a:endParaRPr lang="ru-RU" sz="3200" dirty="0">
              <a:latin typeface="Cambria" pitchFamily="18" charset="0"/>
            </a:endParaRPr>
          </a:p>
        </p:txBody>
      </p:sp>
      <p:sp>
        <p:nvSpPr>
          <p:cNvPr id="21507" name="Rectangle 1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mbria" pitchFamily="18" charset="0"/>
            </a:endParaRPr>
          </a:p>
        </p:txBody>
      </p:sp>
      <p:pic>
        <p:nvPicPr>
          <p:cNvPr id="2150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4925" y="2348880"/>
            <a:ext cx="9178925" cy="2995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2" name="Прямая соединительная линия 121"/>
          <p:cNvCxnSpPr/>
          <p:nvPr/>
        </p:nvCxnSpPr>
        <p:spPr>
          <a:xfrm>
            <a:off x="2843213" y="3213100"/>
            <a:ext cx="0" cy="64770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Прямоугольник 123"/>
          <p:cNvSpPr/>
          <p:nvPr/>
        </p:nvSpPr>
        <p:spPr>
          <a:xfrm>
            <a:off x="250825" y="3933825"/>
            <a:ext cx="8893175" cy="5746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400" dirty="0">
                <a:solidFill>
                  <a:schemeClr val="tx1"/>
                </a:solidFill>
              </a:rPr>
              <a:t>3130                       23 22                                                                                  0 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ru-RU">
              <a:latin typeface="Cambria" pitchFamily="18" charset="0"/>
            </a:endParaRPr>
          </a:p>
        </p:txBody>
      </p:sp>
      <p:grpSp>
        <p:nvGrpSpPr>
          <p:cNvPr id="22531" name="Group 1"/>
          <p:cNvGrpSpPr>
            <a:grpSpLocks noChangeAspect="1"/>
          </p:cNvGrpSpPr>
          <p:nvPr/>
        </p:nvGrpSpPr>
        <p:grpSpPr bwMode="auto">
          <a:xfrm>
            <a:off x="0" y="404813"/>
            <a:ext cx="8672513" cy="3021012"/>
            <a:chOff x="0" y="-2"/>
            <a:chExt cx="4543" cy="1463"/>
          </a:xfrm>
        </p:grpSpPr>
        <p:sp>
          <p:nvSpPr>
            <p:cNvPr id="22533" name="Rectangle 25"/>
            <p:cNvSpPr>
              <a:spLocks noChangeArrowheads="1"/>
            </p:cNvSpPr>
            <p:nvPr/>
          </p:nvSpPr>
          <p:spPr bwMode="auto">
            <a:xfrm>
              <a:off x="8" y="1252"/>
              <a:ext cx="4009" cy="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 sz="2800"/>
            </a:p>
          </p:txBody>
        </p:sp>
        <p:sp>
          <p:nvSpPr>
            <p:cNvPr id="22534" name="Rectangle 24"/>
            <p:cNvSpPr>
              <a:spLocks noChangeArrowheads="1"/>
            </p:cNvSpPr>
            <p:nvPr/>
          </p:nvSpPr>
          <p:spPr bwMode="auto">
            <a:xfrm>
              <a:off x="0" y="26"/>
              <a:ext cx="38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 b="1" i="1">
                  <a:solidFill>
                    <a:srgbClr val="000000"/>
                  </a:solidFill>
                  <a:cs typeface="Times New Roman" pitchFamily="18" charset="0"/>
                </a:rPr>
                <a:t>V</a:t>
              </a:r>
              <a:r>
                <a:rPr lang="en-US" sz="3200">
                  <a:solidFill>
                    <a:srgbClr val="000000"/>
                  </a:solidFill>
                  <a:cs typeface="Times New Roman" pitchFamily="18" charset="0"/>
                </a:rPr>
                <a:t> = </a:t>
              </a:r>
              <a:endParaRPr lang="en-US" sz="3200"/>
            </a:p>
          </p:txBody>
        </p:sp>
        <p:sp>
          <p:nvSpPr>
            <p:cNvPr id="22535" name="Rectangle 22"/>
            <p:cNvSpPr>
              <a:spLocks noChangeArrowheads="1"/>
            </p:cNvSpPr>
            <p:nvPr/>
          </p:nvSpPr>
          <p:spPr bwMode="auto">
            <a:xfrm>
              <a:off x="358" y="-2"/>
              <a:ext cx="202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r>
                <a:rPr lang="ru-RU" sz="3200">
                  <a:solidFill>
                    <a:srgbClr val="000000"/>
                  </a:solidFill>
                  <a:cs typeface="Times New Roman" pitchFamily="18" charset="0"/>
                </a:rPr>
                <a:t>-</a:t>
              </a:r>
              <a:r>
                <a:rPr lang="en-US" sz="3200">
                  <a:solidFill>
                    <a:srgbClr val="000000"/>
                  </a:solidFill>
                  <a:cs typeface="Times New Roman" pitchFamily="18" charset="0"/>
                </a:rPr>
                <a:t>(</a:t>
              </a:r>
              <a:endParaRPr lang="en-US" sz="3200"/>
            </a:p>
          </p:txBody>
        </p:sp>
        <p:sp>
          <p:nvSpPr>
            <p:cNvPr id="22536" name="Rectangle 21"/>
            <p:cNvSpPr>
              <a:spLocks noChangeArrowheads="1"/>
            </p:cNvSpPr>
            <p:nvPr/>
          </p:nvSpPr>
          <p:spPr bwMode="auto">
            <a:xfrm>
              <a:off x="547" y="-2"/>
              <a:ext cx="219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0,10011000111111</a:t>
              </a:r>
              <a:r>
                <a:rPr lang="ru-RU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)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22537" name="Rectangle 19"/>
            <p:cNvSpPr>
              <a:spLocks noChangeArrowheads="1"/>
            </p:cNvSpPr>
            <p:nvPr/>
          </p:nvSpPr>
          <p:spPr bwMode="auto">
            <a:xfrm>
              <a:off x="2697" y="145"/>
              <a:ext cx="75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000">
                  <a:solidFill>
                    <a:srgbClr val="000000"/>
                  </a:solidFill>
                  <a:cs typeface="Times New Roman" pitchFamily="18" charset="0"/>
                </a:rPr>
                <a:t>2</a:t>
              </a:r>
              <a:endParaRPr lang="en-US" sz="2000"/>
            </a:p>
          </p:txBody>
        </p:sp>
        <p:sp>
          <p:nvSpPr>
            <p:cNvPr id="22538" name="Rectangle 18"/>
            <p:cNvSpPr>
              <a:spLocks noChangeArrowheads="1"/>
            </p:cNvSpPr>
            <p:nvPr/>
          </p:nvSpPr>
          <p:spPr bwMode="auto">
            <a:xfrm>
              <a:off x="3693" y="2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22539" name="Rectangle 17"/>
            <p:cNvSpPr>
              <a:spLocks noChangeArrowheads="1"/>
            </p:cNvSpPr>
            <p:nvPr/>
          </p:nvSpPr>
          <p:spPr bwMode="auto">
            <a:xfrm>
              <a:off x="3763" y="-2"/>
              <a:ext cx="165" cy="34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ea typeface="Times New Roman" pitchFamily="18" charset="0"/>
                  <a:cs typeface="Symbol" pitchFamily="18" charset="2"/>
                </a:rPr>
                <a:t>´</a:t>
              </a:r>
              <a:endParaRPr lang="en-US">
                <a:ea typeface="Times New Roman" pitchFamily="18" charset="0"/>
                <a:cs typeface="Symbol" pitchFamily="18" charset="2"/>
              </a:endParaRPr>
            </a:p>
          </p:txBody>
        </p:sp>
        <p:sp>
          <p:nvSpPr>
            <p:cNvPr id="22540" name="Rectangle 16"/>
            <p:cNvSpPr>
              <a:spLocks noChangeArrowheads="1"/>
            </p:cNvSpPr>
            <p:nvPr/>
          </p:nvSpPr>
          <p:spPr bwMode="auto">
            <a:xfrm>
              <a:off x="3917" y="2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22541" name="Rectangle 15"/>
            <p:cNvSpPr>
              <a:spLocks noChangeArrowheads="1"/>
            </p:cNvSpPr>
            <p:nvPr/>
          </p:nvSpPr>
          <p:spPr bwMode="auto">
            <a:xfrm>
              <a:off x="2772" y="21"/>
              <a:ext cx="12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2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2</a:t>
              </a:r>
              <a:endParaRPr lang="en-US" sz="32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22542" name="Rectangle 14"/>
            <p:cNvSpPr>
              <a:spLocks noChangeArrowheads="1"/>
            </p:cNvSpPr>
            <p:nvPr/>
          </p:nvSpPr>
          <p:spPr bwMode="auto">
            <a:xfrm flipH="1">
              <a:off x="2886" y="-2"/>
              <a:ext cx="264" cy="1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2400">
                  <a:solidFill>
                    <a:srgbClr val="000000"/>
                  </a:solidFill>
                  <a:latin typeface="Courier New" pitchFamily="49" charset="0"/>
                  <a:ea typeface="Times New Roman" pitchFamily="18" charset="0"/>
                  <a:cs typeface="Courier New" pitchFamily="49" charset="0"/>
                </a:rPr>
                <a:t>6</a:t>
              </a:r>
              <a:endParaRPr lang="en-US" sz="2400">
                <a:ea typeface="Times New Roman" pitchFamily="18" charset="0"/>
                <a:cs typeface="Courier New" pitchFamily="49" charset="0"/>
              </a:endParaRPr>
            </a:p>
          </p:txBody>
        </p:sp>
        <p:sp>
          <p:nvSpPr>
            <p:cNvPr id="22543" name="Rectangle 13"/>
            <p:cNvSpPr>
              <a:spLocks noChangeArrowheads="1"/>
            </p:cNvSpPr>
            <p:nvPr/>
          </p:nvSpPr>
          <p:spPr bwMode="auto">
            <a:xfrm>
              <a:off x="4265" y="26"/>
              <a:ext cx="71" cy="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.</a:t>
              </a:r>
              <a:endParaRPr lang="en-US"/>
            </a:p>
          </p:txBody>
        </p:sp>
        <p:sp>
          <p:nvSpPr>
            <p:cNvPr id="22544" name="Rectangle 12"/>
            <p:cNvSpPr>
              <a:spLocks noChangeArrowheads="1"/>
            </p:cNvSpPr>
            <p:nvPr/>
          </p:nvSpPr>
          <p:spPr bwMode="auto">
            <a:xfrm>
              <a:off x="4335" y="26"/>
              <a:ext cx="75" cy="3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4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22545" name="Rectangle 11"/>
            <p:cNvSpPr>
              <a:spLocks noChangeArrowheads="1"/>
            </p:cNvSpPr>
            <p:nvPr/>
          </p:nvSpPr>
          <p:spPr bwMode="auto">
            <a:xfrm>
              <a:off x="1301" y="511"/>
              <a:ext cx="823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cs typeface="Times New Roman" pitchFamily="18" charset="0"/>
                </a:rPr>
                <a:t>мантисса</a:t>
              </a:r>
              <a:endParaRPr lang="en-US" sz="2800"/>
            </a:p>
          </p:txBody>
        </p:sp>
        <p:sp>
          <p:nvSpPr>
            <p:cNvPr id="22546" name="Rectangle 10"/>
            <p:cNvSpPr>
              <a:spLocks noChangeArrowheads="1"/>
            </p:cNvSpPr>
            <p:nvPr/>
          </p:nvSpPr>
          <p:spPr bwMode="auto">
            <a:xfrm>
              <a:off x="2650" y="684"/>
              <a:ext cx="60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22547" name="Freeform 9"/>
            <p:cNvSpPr>
              <a:spLocks/>
            </p:cNvSpPr>
            <p:nvPr/>
          </p:nvSpPr>
          <p:spPr bwMode="auto">
            <a:xfrm>
              <a:off x="773" y="210"/>
              <a:ext cx="1811" cy="248"/>
            </a:xfrm>
            <a:custGeom>
              <a:avLst/>
              <a:gdLst>
                <a:gd name="T0" fmla="*/ 0 w 2720"/>
                <a:gd name="T1" fmla="*/ 13 h 210"/>
                <a:gd name="T2" fmla="*/ 5 w 2720"/>
                <a:gd name="T3" fmla="*/ 37 h 210"/>
                <a:gd name="T4" fmla="*/ 17 w 2720"/>
                <a:gd name="T5" fmla="*/ 60 h 210"/>
                <a:gd name="T6" fmla="*/ 33 w 2720"/>
                <a:gd name="T7" fmla="*/ 79 h 210"/>
                <a:gd name="T8" fmla="*/ 54 w 2720"/>
                <a:gd name="T9" fmla="*/ 96 h 210"/>
                <a:gd name="T10" fmla="*/ 78 w 2720"/>
                <a:gd name="T11" fmla="*/ 109 h 210"/>
                <a:gd name="T12" fmla="*/ 106 w 2720"/>
                <a:gd name="T13" fmla="*/ 119 h 210"/>
                <a:gd name="T14" fmla="*/ 135 w 2720"/>
                <a:gd name="T15" fmla="*/ 123 h 210"/>
                <a:gd name="T16" fmla="*/ 754 w 2720"/>
                <a:gd name="T17" fmla="*/ 125 h 210"/>
                <a:gd name="T18" fmla="*/ 784 w 2720"/>
                <a:gd name="T19" fmla="*/ 125 h 210"/>
                <a:gd name="T20" fmla="*/ 814 w 2720"/>
                <a:gd name="T21" fmla="*/ 132 h 210"/>
                <a:gd name="T22" fmla="*/ 838 w 2720"/>
                <a:gd name="T23" fmla="*/ 145 h 210"/>
                <a:gd name="T24" fmla="*/ 860 w 2720"/>
                <a:gd name="T25" fmla="*/ 158 h 210"/>
                <a:gd name="T26" fmla="*/ 878 w 2720"/>
                <a:gd name="T27" fmla="*/ 178 h 210"/>
                <a:gd name="T28" fmla="*/ 894 w 2720"/>
                <a:gd name="T29" fmla="*/ 198 h 210"/>
                <a:gd name="T30" fmla="*/ 901 w 2720"/>
                <a:gd name="T31" fmla="*/ 221 h 210"/>
                <a:gd name="T32" fmla="*/ 904 w 2720"/>
                <a:gd name="T33" fmla="*/ 248 h 210"/>
                <a:gd name="T34" fmla="*/ 908 w 2720"/>
                <a:gd name="T35" fmla="*/ 221 h 210"/>
                <a:gd name="T36" fmla="*/ 917 w 2720"/>
                <a:gd name="T37" fmla="*/ 198 h 210"/>
                <a:gd name="T38" fmla="*/ 930 w 2720"/>
                <a:gd name="T39" fmla="*/ 178 h 210"/>
                <a:gd name="T40" fmla="*/ 949 w 2720"/>
                <a:gd name="T41" fmla="*/ 158 h 210"/>
                <a:gd name="T42" fmla="*/ 971 w 2720"/>
                <a:gd name="T43" fmla="*/ 145 h 210"/>
                <a:gd name="T44" fmla="*/ 997 w 2720"/>
                <a:gd name="T45" fmla="*/ 132 h 210"/>
                <a:gd name="T46" fmla="*/ 1025 w 2720"/>
                <a:gd name="T47" fmla="*/ 125 h 210"/>
                <a:gd name="T48" fmla="*/ 1055 w 2720"/>
                <a:gd name="T49" fmla="*/ 125 h 210"/>
                <a:gd name="T50" fmla="*/ 1675 w 2720"/>
                <a:gd name="T51" fmla="*/ 123 h 210"/>
                <a:gd name="T52" fmla="*/ 1705 w 2720"/>
                <a:gd name="T53" fmla="*/ 119 h 210"/>
                <a:gd name="T54" fmla="*/ 1731 w 2720"/>
                <a:gd name="T55" fmla="*/ 109 h 210"/>
                <a:gd name="T56" fmla="*/ 1755 w 2720"/>
                <a:gd name="T57" fmla="*/ 96 h 210"/>
                <a:gd name="T58" fmla="*/ 1776 w 2720"/>
                <a:gd name="T59" fmla="*/ 79 h 210"/>
                <a:gd name="T60" fmla="*/ 1792 w 2720"/>
                <a:gd name="T61" fmla="*/ 60 h 210"/>
                <a:gd name="T62" fmla="*/ 1803 w 2720"/>
                <a:gd name="T63" fmla="*/ 37 h 210"/>
                <a:gd name="T64" fmla="*/ 1809 w 2720"/>
                <a:gd name="T65" fmla="*/ 13 h 2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2720"/>
                <a:gd name="T100" fmla="*/ 0 h 210"/>
                <a:gd name="T101" fmla="*/ 2720 w 2720"/>
                <a:gd name="T102" fmla="*/ 210 h 21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2720" h="210">
                  <a:moveTo>
                    <a:pt x="0" y="0"/>
                  </a:moveTo>
                  <a:lnTo>
                    <a:pt x="0" y="11"/>
                  </a:lnTo>
                  <a:lnTo>
                    <a:pt x="3" y="23"/>
                  </a:lnTo>
                  <a:lnTo>
                    <a:pt x="8" y="31"/>
                  </a:lnTo>
                  <a:lnTo>
                    <a:pt x="17" y="42"/>
                  </a:lnTo>
                  <a:lnTo>
                    <a:pt x="25" y="51"/>
                  </a:lnTo>
                  <a:lnTo>
                    <a:pt x="39" y="59"/>
                  </a:lnTo>
                  <a:lnTo>
                    <a:pt x="50" y="67"/>
                  </a:lnTo>
                  <a:lnTo>
                    <a:pt x="64" y="76"/>
                  </a:lnTo>
                  <a:lnTo>
                    <a:pt x="81" y="81"/>
                  </a:lnTo>
                  <a:lnTo>
                    <a:pt x="97" y="87"/>
                  </a:lnTo>
                  <a:lnTo>
                    <a:pt x="117" y="92"/>
                  </a:lnTo>
                  <a:lnTo>
                    <a:pt x="137" y="98"/>
                  </a:lnTo>
                  <a:lnTo>
                    <a:pt x="159" y="101"/>
                  </a:lnTo>
                  <a:lnTo>
                    <a:pt x="181" y="104"/>
                  </a:lnTo>
                  <a:lnTo>
                    <a:pt x="203" y="104"/>
                  </a:lnTo>
                  <a:lnTo>
                    <a:pt x="226" y="106"/>
                  </a:lnTo>
                  <a:lnTo>
                    <a:pt x="1132" y="106"/>
                  </a:lnTo>
                  <a:lnTo>
                    <a:pt x="1155" y="106"/>
                  </a:lnTo>
                  <a:lnTo>
                    <a:pt x="1177" y="106"/>
                  </a:lnTo>
                  <a:lnTo>
                    <a:pt x="1199" y="109"/>
                  </a:lnTo>
                  <a:lnTo>
                    <a:pt x="1222" y="112"/>
                  </a:lnTo>
                  <a:lnTo>
                    <a:pt x="1241" y="118"/>
                  </a:lnTo>
                  <a:lnTo>
                    <a:pt x="1258" y="123"/>
                  </a:lnTo>
                  <a:lnTo>
                    <a:pt x="1277" y="129"/>
                  </a:lnTo>
                  <a:lnTo>
                    <a:pt x="1291" y="134"/>
                  </a:lnTo>
                  <a:lnTo>
                    <a:pt x="1308" y="143"/>
                  </a:lnTo>
                  <a:lnTo>
                    <a:pt x="1319" y="151"/>
                  </a:lnTo>
                  <a:lnTo>
                    <a:pt x="1330" y="160"/>
                  </a:lnTo>
                  <a:lnTo>
                    <a:pt x="1342" y="168"/>
                  </a:lnTo>
                  <a:lnTo>
                    <a:pt x="1347" y="179"/>
                  </a:lnTo>
                  <a:lnTo>
                    <a:pt x="1353" y="187"/>
                  </a:lnTo>
                  <a:lnTo>
                    <a:pt x="1358" y="199"/>
                  </a:lnTo>
                  <a:lnTo>
                    <a:pt x="1358" y="210"/>
                  </a:lnTo>
                  <a:lnTo>
                    <a:pt x="1361" y="199"/>
                  </a:lnTo>
                  <a:lnTo>
                    <a:pt x="1364" y="187"/>
                  </a:lnTo>
                  <a:lnTo>
                    <a:pt x="1370" y="179"/>
                  </a:lnTo>
                  <a:lnTo>
                    <a:pt x="1378" y="168"/>
                  </a:lnTo>
                  <a:lnTo>
                    <a:pt x="1386" y="160"/>
                  </a:lnTo>
                  <a:lnTo>
                    <a:pt x="1397" y="151"/>
                  </a:lnTo>
                  <a:lnTo>
                    <a:pt x="1411" y="143"/>
                  </a:lnTo>
                  <a:lnTo>
                    <a:pt x="1425" y="134"/>
                  </a:lnTo>
                  <a:lnTo>
                    <a:pt x="1442" y="129"/>
                  </a:lnTo>
                  <a:lnTo>
                    <a:pt x="1459" y="123"/>
                  </a:lnTo>
                  <a:lnTo>
                    <a:pt x="1478" y="118"/>
                  </a:lnTo>
                  <a:lnTo>
                    <a:pt x="1498" y="112"/>
                  </a:lnTo>
                  <a:lnTo>
                    <a:pt x="1517" y="109"/>
                  </a:lnTo>
                  <a:lnTo>
                    <a:pt x="1540" y="106"/>
                  </a:lnTo>
                  <a:lnTo>
                    <a:pt x="1562" y="106"/>
                  </a:lnTo>
                  <a:lnTo>
                    <a:pt x="1584" y="106"/>
                  </a:lnTo>
                  <a:lnTo>
                    <a:pt x="2491" y="106"/>
                  </a:lnTo>
                  <a:lnTo>
                    <a:pt x="2516" y="104"/>
                  </a:lnTo>
                  <a:lnTo>
                    <a:pt x="2538" y="104"/>
                  </a:lnTo>
                  <a:lnTo>
                    <a:pt x="2561" y="101"/>
                  </a:lnTo>
                  <a:lnTo>
                    <a:pt x="2580" y="98"/>
                  </a:lnTo>
                  <a:lnTo>
                    <a:pt x="2600" y="92"/>
                  </a:lnTo>
                  <a:lnTo>
                    <a:pt x="2619" y="87"/>
                  </a:lnTo>
                  <a:lnTo>
                    <a:pt x="2636" y="81"/>
                  </a:lnTo>
                  <a:lnTo>
                    <a:pt x="2653" y="76"/>
                  </a:lnTo>
                  <a:lnTo>
                    <a:pt x="2667" y="67"/>
                  </a:lnTo>
                  <a:lnTo>
                    <a:pt x="2681" y="59"/>
                  </a:lnTo>
                  <a:lnTo>
                    <a:pt x="2692" y="51"/>
                  </a:lnTo>
                  <a:lnTo>
                    <a:pt x="2700" y="42"/>
                  </a:lnTo>
                  <a:lnTo>
                    <a:pt x="2708" y="31"/>
                  </a:lnTo>
                  <a:lnTo>
                    <a:pt x="2714" y="23"/>
                  </a:lnTo>
                  <a:lnTo>
                    <a:pt x="2717" y="11"/>
                  </a:lnTo>
                  <a:lnTo>
                    <a:pt x="2720" y="0"/>
                  </a:lnTo>
                </a:path>
              </a:pathLst>
            </a:custGeom>
            <a:noFill/>
            <a:ln w="1079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48" name="Rectangle 8"/>
            <p:cNvSpPr>
              <a:spLocks noChangeArrowheads="1"/>
            </p:cNvSpPr>
            <p:nvPr/>
          </p:nvSpPr>
          <p:spPr bwMode="auto">
            <a:xfrm>
              <a:off x="3150" y="436"/>
              <a:ext cx="840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cs typeface="Times New Roman" pitchFamily="18" charset="0"/>
                </a:rPr>
                <a:t>порядок</a:t>
              </a:r>
              <a:endParaRPr lang="en-US" sz="2800"/>
            </a:p>
          </p:txBody>
        </p:sp>
        <p:sp>
          <p:nvSpPr>
            <p:cNvPr id="22549" name="Rectangle 7"/>
            <p:cNvSpPr>
              <a:spLocks noChangeArrowheads="1"/>
            </p:cNvSpPr>
            <p:nvPr/>
          </p:nvSpPr>
          <p:spPr bwMode="auto">
            <a:xfrm>
              <a:off x="4483" y="684"/>
              <a:ext cx="60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  <p:sp>
          <p:nvSpPr>
            <p:cNvPr id="22550" name="Freeform 6"/>
            <p:cNvSpPr>
              <a:spLocks noEditPoints="1"/>
            </p:cNvSpPr>
            <p:nvPr/>
          </p:nvSpPr>
          <p:spPr bwMode="auto">
            <a:xfrm>
              <a:off x="2848" y="210"/>
              <a:ext cx="139" cy="427"/>
            </a:xfrm>
            <a:custGeom>
              <a:avLst/>
              <a:gdLst>
                <a:gd name="T0" fmla="*/ 61 w 139"/>
                <a:gd name="T1" fmla="*/ 419 h 427"/>
                <a:gd name="T2" fmla="*/ 61 w 139"/>
                <a:gd name="T3" fmla="*/ 117 h 427"/>
                <a:gd name="T4" fmla="*/ 61 w 139"/>
                <a:gd name="T5" fmla="*/ 114 h 427"/>
                <a:gd name="T6" fmla="*/ 61 w 139"/>
                <a:gd name="T7" fmla="*/ 111 h 427"/>
                <a:gd name="T8" fmla="*/ 64 w 139"/>
                <a:gd name="T9" fmla="*/ 109 h 427"/>
                <a:gd name="T10" fmla="*/ 69 w 139"/>
                <a:gd name="T11" fmla="*/ 109 h 427"/>
                <a:gd name="T12" fmla="*/ 72 w 139"/>
                <a:gd name="T13" fmla="*/ 109 h 427"/>
                <a:gd name="T14" fmla="*/ 75 w 139"/>
                <a:gd name="T15" fmla="*/ 111 h 427"/>
                <a:gd name="T16" fmla="*/ 78 w 139"/>
                <a:gd name="T17" fmla="*/ 114 h 427"/>
                <a:gd name="T18" fmla="*/ 78 w 139"/>
                <a:gd name="T19" fmla="*/ 117 h 427"/>
                <a:gd name="T20" fmla="*/ 78 w 139"/>
                <a:gd name="T21" fmla="*/ 419 h 427"/>
                <a:gd name="T22" fmla="*/ 78 w 139"/>
                <a:gd name="T23" fmla="*/ 422 h 427"/>
                <a:gd name="T24" fmla="*/ 75 w 139"/>
                <a:gd name="T25" fmla="*/ 424 h 427"/>
                <a:gd name="T26" fmla="*/ 72 w 139"/>
                <a:gd name="T27" fmla="*/ 427 h 427"/>
                <a:gd name="T28" fmla="*/ 69 w 139"/>
                <a:gd name="T29" fmla="*/ 427 h 427"/>
                <a:gd name="T30" fmla="*/ 64 w 139"/>
                <a:gd name="T31" fmla="*/ 427 h 427"/>
                <a:gd name="T32" fmla="*/ 61 w 139"/>
                <a:gd name="T33" fmla="*/ 424 h 427"/>
                <a:gd name="T34" fmla="*/ 61 w 139"/>
                <a:gd name="T35" fmla="*/ 422 h 427"/>
                <a:gd name="T36" fmla="*/ 61 w 139"/>
                <a:gd name="T37" fmla="*/ 419 h 427"/>
                <a:gd name="T38" fmla="*/ 61 w 139"/>
                <a:gd name="T39" fmla="*/ 419 h 427"/>
                <a:gd name="T40" fmla="*/ 0 w 139"/>
                <a:gd name="T41" fmla="*/ 139 h 427"/>
                <a:gd name="T42" fmla="*/ 69 w 139"/>
                <a:gd name="T43" fmla="*/ 0 h 427"/>
                <a:gd name="T44" fmla="*/ 139 w 139"/>
                <a:gd name="T45" fmla="*/ 139 h 427"/>
                <a:gd name="T46" fmla="*/ 0 w 139"/>
                <a:gd name="T47" fmla="*/ 139 h 427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39"/>
                <a:gd name="T73" fmla="*/ 0 h 427"/>
                <a:gd name="T74" fmla="*/ 139 w 139"/>
                <a:gd name="T75" fmla="*/ 427 h 427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39" h="427">
                  <a:moveTo>
                    <a:pt x="61" y="419"/>
                  </a:moveTo>
                  <a:lnTo>
                    <a:pt x="61" y="117"/>
                  </a:lnTo>
                  <a:lnTo>
                    <a:pt x="61" y="114"/>
                  </a:lnTo>
                  <a:lnTo>
                    <a:pt x="61" y="111"/>
                  </a:lnTo>
                  <a:lnTo>
                    <a:pt x="64" y="109"/>
                  </a:lnTo>
                  <a:lnTo>
                    <a:pt x="69" y="109"/>
                  </a:lnTo>
                  <a:lnTo>
                    <a:pt x="72" y="109"/>
                  </a:lnTo>
                  <a:lnTo>
                    <a:pt x="75" y="111"/>
                  </a:lnTo>
                  <a:lnTo>
                    <a:pt x="78" y="114"/>
                  </a:lnTo>
                  <a:lnTo>
                    <a:pt x="78" y="117"/>
                  </a:lnTo>
                  <a:lnTo>
                    <a:pt x="78" y="419"/>
                  </a:lnTo>
                  <a:lnTo>
                    <a:pt x="78" y="422"/>
                  </a:lnTo>
                  <a:lnTo>
                    <a:pt x="75" y="424"/>
                  </a:lnTo>
                  <a:lnTo>
                    <a:pt x="72" y="427"/>
                  </a:lnTo>
                  <a:lnTo>
                    <a:pt x="69" y="427"/>
                  </a:lnTo>
                  <a:lnTo>
                    <a:pt x="64" y="427"/>
                  </a:lnTo>
                  <a:lnTo>
                    <a:pt x="61" y="424"/>
                  </a:lnTo>
                  <a:lnTo>
                    <a:pt x="61" y="422"/>
                  </a:lnTo>
                  <a:lnTo>
                    <a:pt x="61" y="419"/>
                  </a:lnTo>
                  <a:close/>
                  <a:moveTo>
                    <a:pt x="0" y="139"/>
                  </a:moveTo>
                  <a:lnTo>
                    <a:pt x="69" y="0"/>
                  </a:lnTo>
                  <a:lnTo>
                    <a:pt x="139" y="139"/>
                  </a:lnTo>
                  <a:lnTo>
                    <a:pt x="0" y="139"/>
                  </a:lnTo>
                  <a:close/>
                </a:path>
              </a:pathLst>
            </a:custGeom>
            <a:solidFill>
              <a:srgbClr val="000000"/>
            </a:solidFill>
            <a:ln w="190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1" name="Freeform 5"/>
            <p:cNvSpPr>
              <a:spLocks noEditPoints="1"/>
            </p:cNvSpPr>
            <p:nvPr/>
          </p:nvSpPr>
          <p:spPr bwMode="auto">
            <a:xfrm>
              <a:off x="811" y="210"/>
              <a:ext cx="139" cy="431"/>
            </a:xfrm>
            <a:custGeom>
              <a:avLst/>
              <a:gdLst>
                <a:gd name="T0" fmla="*/ 61 w 139"/>
                <a:gd name="T1" fmla="*/ 419 h 431"/>
                <a:gd name="T2" fmla="*/ 61 w 139"/>
                <a:gd name="T3" fmla="*/ 118 h 431"/>
                <a:gd name="T4" fmla="*/ 64 w 139"/>
                <a:gd name="T5" fmla="*/ 115 h 431"/>
                <a:gd name="T6" fmla="*/ 64 w 139"/>
                <a:gd name="T7" fmla="*/ 112 h 431"/>
                <a:gd name="T8" fmla="*/ 67 w 139"/>
                <a:gd name="T9" fmla="*/ 109 h 431"/>
                <a:gd name="T10" fmla="*/ 69 w 139"/>
                <a:gd name="T11" fmla="*/ 109 h 431"/>
                <a:gd name="T12" fmla="*/ 75 w 139"/>
                <a:gd name="T13" fmla="*/ 109 h 431"/>
                <a:gd name="T14" fmla="*/ 78 w 139"/>
                <a:gd name="T15" fmla="*/ 112 h 431"/>
                <a:gd name="T16" fmla="*/ 78 w 139"/>
                <a:gd name="T17" fmla="*/ 115 h 431"/>
                <a:gd name="T18" fmla="*/ 81 w 139"/>
                <a:gd name="T19" fmla="*/ 118 h 431"/>
                <a:gd name="T20" fmla="*/ 81 w 139"/>
                <a:gd name="T21" fmla="*/ 419 h 431"/>
                <a:gd name="T22" fmla="*/ 78 w 139"/>
                <a:gd name="T23" fmla="*/ 425 h 431"/>
                <a:gd name="T24" fmla="*/ 78 w 139"/>
                <a:gd name="T25" fmla="*/ 428 h 431"/>
                <a:gd name="T26" fmla="*/ 75 w 139"/>
                <a:gd name="T27" fmla="*/ 428 h 431"/>
                <a:gd name="T28" fmla="*/ 69 w 139"/>
                <a:gd name="T29" fmla="*/ 431 h 431"/>
                <a:gd name="T30" fmla="*/ 67 w 139"/>
                <a:gd name="T31" fmla="*/ 428 h 431"/>
                <a:gd name="T32" fmla="*/ 64 w 139"/>
                <a:gd name="T33" fmla="*/ 428 h 431"/>
                <a:gd name="T34" fmla="*/ 64 w 139"/>
                <a:gd name="T35" fmla="*/ 425 h 431"/>
                <a:gd name="T36" fmla="*/ 61 w 139"/>
                <a:gd name="T37" fmla="*/ 419 h 431"/>
                <a:gd name="T38" fmla="*/ 61 w 139"/>
                <a:gd name="T39" fmla="*/ 419 h 431"/>
                <a:gd name="T40" fmla="*/ 0 w 139"/>
                <a:gd name="T41" fmla="*/ 140 h 431"/>
                <a:gd name="T42" fmla="*/ 69 w 139"/>
                <a:gd name="T43" fmla="*/ 0 h 431"/>
                <a:gd name="T44" fmla="*/ 139 w 139"/>
                <a:gd name="T45" fmla="*/ 140 h 431"/>
                <a:gd name="T46" fmla="*/ 0 w 139"/>
                <a:gd name="T47" fmla="*/ 140 h 43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39"/>
                <a:gd name="T73" fmla="*/ 0 h 431"/>
                <a:gd name="T74" fmla="*/ 139 w 139"/>
                <a:gd name="T75" fmla="*/ 431 h 431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39" h="431">
                  <a:moveTo>
                    <a:pt x="61" y="419"/>
                  </a:moveTo>
                  <a:lnTo>
                    <a:pt x="61" y="118"/>
                  </a:lnTo>
                  <a:lnTo>
                    <a:pt x="64" y="115"/>
                  </a:lnTo>
                  <a:lnTo>
                    <a:pt x="64" y="112"/>
                  </a:lnTo>
                  <a:lnTo>
                    <a:pt x="67" y="109"/>
                  </a:lnTo>
                  <a:lnTo>
                    <a:pt x="69" y="109"/>
                  </a:lnTo>
                  <a:lnTo>
                    <a:pt x="75" y="109"/>
                  </a:lnTo>
                  <a:lnTo>
                    <a:pt x="78" y="112"/>
                  </a:lnTo>
                  <a:lnTo>
                    <a:pt x="78" y="115"/>
                  </a:lnTo>
                  <a:lnTo>
                    <a:pt x="81" y="118"/>
                  </a:lnTo>
                  <a:lnTo>
                    <a:pt x="81" y="419"/>
                  </a:lnTo>
                  <a:lnTo>
                    <a:pt x="78" y="425"/>
                  </a:lnTo>
                  <a:lnTo>
                    <a:pt x="78" y="428"/>
                  </a:lnTo>
                  <a:lnTo>
                    <a:pt x="75" y="428"/>
                  </a:lnTo>
                  <a:lnTo>
                    <a:pt x="69" y="431"/>
                  </a:lnTo>
                  <a:lnTo>
                    <a:pt x="67" y="428"/>
                  </a:lnTo>
                  <a:lnTo>
                    <a:pt x="64" y="428"/>
                  </a:lnTo>
                  <a:lnTo>
                    <a:pt x="64" y="425"/>
                  </a:lnTo>
                  <a:lnTo>
                    <a:pt x="61" y="419"/>
                  </a:lnTo>
                  <a:close/>
                  <a:moveTo>
                    <a:pt x="0" y="140"/>
                  </a:moveTo>
                  <a:lnTo>
                    <a:pt x="69" y="0"/>
                  </a:lnTo>
                  <a:lnTo>
                    <a:pt x="139" y="140"/>
                  </a:lnTo>
                  <a:lnTo>
                    <a:pt x="0" y="140"/>
                  </a:lnTo>
                  <a:close/>
                </a:path>
              </a:pathLst>
            </a:custGeom>
            <a:solidFill>
              <a:srgbClr val="000000"/>
            </a:solidFill>
            <a:ln w="190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22552" name="Rectangle 4"/>
            <p:cNvSpPr>
              <a:spLocks noChangeArrowheads="1"/>
            </p:cNvSpPr>
            <p:nvPr/>
          </p:nvSpPr>
          <p:spPr bwMode="auto">
            <a:xfrm>
              <a:off x="56" y="361"/>
              <a:ext cx="795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cs typeface="Times New Roman" pitchFamily="18" charset="0"/>
                </a:rPr>
                <a:t>скрытый </a:t>
              </a:r>
              <a:endParaRPr lang="en-US" sz="2800"/>
            </a:p>
          </p:txBody>
        </p:sp>
        <p:sp>
          <p:nvSpPr>
            <p:cNvPr id="22553" name="Rectangle 3"/>
            <p:cNvSpPr>
              <a:spLocks noChangeArrowheads="1"/>
            </p:cNvSpPr>
            <p:nvPr/>
          </p:nvSpPr>
          <p:spPr bwMode="auto">
            <a:xfrm>
              <a:off x="207" y="587"/>
              <a:ext cx="660" cy="2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2800">
                  <a:solidFill>
                    <a:srgbClr val="000000"/>
                  </a:solidFill>
                  <a:cs typeface="Times New Roman" pitchFamily="18" charset="0"/>
                </a:rPr>
                <a:t>разряд</a:t>
              </a:r>
              <a:endParaRPr lang="en-US" sz="2800"/>
            </a:p>
          </p:txBody>
        </p:sp>
        <p:sp>
          <p:nvSpPr>
            <p:cNvPr id="22554" name="Rectangle 2"/>
            <p:cNvSpPr>
              <a:spLocks noChangeArrowheads="1"/>
            </p:cNvSpPr>
            <p:nvPr/>
          </p:nvSpPr>
          <p:spPr bwMode="auto">
            <a:xfrm>
              <a:off x="1476" y="950"/>
              <a:ext cx="60" cy="2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1200">
                  <a:solidFill>
                    <a:srgbClr val="000000"/>
                  </a:solidFill>
                  <a:cs typeface="Times New Roman" pitchFamily="18" charset="0"/>
                </a:rPr>
                <a:t> </a:t>
              </a:r>
              <a:endParaRPr lang="en-US"/>
            </a:p>
          </p:txBody>
        </p:sp>
      </p:grpSp>
      <p:sp>
        <p:nvSpPr>
          <p:cNvPr id="22532" name="TextBox 28"/>
          <p:cNvSpPr txBox="1">
            <a:spLocks noChangeArrowheads="1"/>
          </p:cNvSpPr>
          <p:nvPr/>
        </p:nvSpPr>
        <p:spPr bwMode="auto">
          <a:xfrm>
            <a:off x="0" y="2276475"/>
            <a:ext cx="9144000" cy="354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 i="1" dirty="0">
                <a:latin typeface="Cambria" pitchFamily="18" charset="0"/>
              </a:rPr>
              <a:t>При </a:t>
            </a:r>
            <a:r>
              <a:rPr lang="ru-RU" sz="3200" i="1">
                <a:latin typeface="Cambria" pitchFamily="18" charset="0"/>
              </a:rPr>
              <a:t>определении значения </a:t>
            </a:r>
            <a:r>
              <a:rPr lang="ru-RU" sz="3200" i="1" dirty="0">
                <a:latin typeface="Cambria" pitchFamily="18" charset="0"/>
              </a:rPr>
              <a:t>мантиссы производятся восстановление ее скрытого старшего разряда, равного 1.</a:t>
            </a:r>
            <a:endParaRPr lang="ru-RU" sz="3200" dirty="0">
              <a:latin typeface="Cambria" pitchFamily="18" charset="0"/>
            </a:endParaRPr>
          </a:p>
          <a:p>
            <a:r>
              <a:rPr lang="ru-RU" sz="3200" dirty="0">
                <a:latin typeface="Cambria" pitchFamily="18" charset="0"/>
              </a:rPr>
              <a:t> Для приведения числа </a:t>
            </a:r>
            <a:r>
              <a:rPr lang="ru-RU" sz="3200" b="1" i="1" dirty="0">
                <a:latin typeface="Cambria" pitchFamily="18" charset="0"/>
              </a:rPr>
              <a:t>V</a:t>
            </a:r>
            <a:r>
              <a:rPr lang="ru-RU" sz="3200" i="1" dirty="0">
                <a:latin typeface="Cambria" pitchFamily="18" charset="0"/>
              </a:rPr>
              <a:t> </a:t>
            </a:r>
            <a:r>
              <a:rPr lang="ru-RU" sz="3200" dirty="0">
                <a:latin typeface="Cambria" pitchFamily="18" charset="0"/>
              </a:rPr>
              <a:t>к естественной форме запятая в его мантиссе переносятся вправо на 6 двоичных разрядов:</a:t>
            </a:r>
          </a:p>
          <a:p>
            <a:r>
              <a:rPr lang="en-US" sz="3200" b="1" i="1" dirty="0">
                <a:latin typeface="Rockwell" pitchFamily="18" charset="0"/>
              </a:rPr>
              <a:t>V</a:t>
            </a:r>
            <a:r>
              <a:rPr lang="en-US" sz="3200" i="1" dirty="0">
                <a:latin typeface="Rockwell" pitchFamily="18" charset="0"/>
              </a:rPr>
              <a:t> </a:t>
            </a:r>
            <a:r>
              <a:rPr lang="ru-RU" sz="3200" dirty="0">
                <a:latin typeface="Cambria" pitchFamily="18" charset="0"/>
              </a:rPr>
              <a:t>= – (100110,00111111)</a:t>
            </a:r>
            <a:r>
              <a:rPr lang="ru-RU" sz="3200" baseline="-25000" dirty="0">
                <a:latin typeface="Cambria" pitchFamily="18" charset="0"/>
              </a:rPr>
              <a:t>2</a:t>
            </a:r>
            <a:r>
              <a:rPr lang="ru-RU" sz="3200" dirty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Перевод числа </a:t>
            </a:r>
            <a:r>
              <a:rPr lang="ru-RU" sz="3200" b="1" i="1">
                <a:latin typeface="Cambria" pitchFamily="18" charset="0"/>
              </a:rPr>
              <a:t>V</a:t>
            </a:r>
            <a:r>
              <a:rPr lang="ru-RU" sz="3200" i="1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из двоичной системы в десятичную:</a:t>
            </a:r>
          </a:p>
          <a:p>
            <a:r>
              <a:rPr lang="ru-RU" sz="3200">
                <a:latin typeface="Cambria" pitchFamily="18" charset="0"/>
              </a:rPr>
              <a:t>целая часть: (100110)</a:t>
            </a:r>
            <a:r>
              <a:rPr lang="ru-RU" sz="3200" baseline="-25000">
                <a:latin typeface="Cambria" pitchFamily="18" charset="0"/>
              </a:rPr>
              <a:t>2  </a:t>
            </a:r>
            <a:r>
              <a:rPr lang="ru-RU" sz="3200">
                <a:latin typeface="Cambria" pitchFamily="18" charset="0"/>
              </a:rPr>
              <a:t>= 2</a:t>
            </a:r>
            <a:r>
              <a:rPr lang="ru-RU" sz="3200" baseline="30000">
                <a:latin typeface="Cambria" pitchFamily="18" charset="0"/>
              </a:rPr>
              <a:t>5</a:t>
            </a:r>
            <a:r>
              <a:rPr lang="ru-RU" sz="3200" baseline="-250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+ 2</a:t>
            </a:r>
            <a:r>
              <a:rPr lang="ru-RU" sz="3200" baseline="30000">
                <a:latin typeface="Cambria" pitchFamily="18" charset="0"/>
              </a:rPr>
              <a:t>2</a:t>
            </a:r>
            <a:r>
              <a:rPr lang="ru-RU" sz="3200" baseline="-250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+ 2</a:t>
            </a:r>
            <a:r>
              <a:rPr lang="ru-RU" sz="3200" baseline="30000">
                <a:latin typeface="Cambria" pitchFamily="18" charset="0"/>
              </a:rPr>
              <a:t>1</a:t>
            </a:r>
            <a:r>
              <a:rPr lang="ru-RU" sz="3200" baseline="-250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= 32 + 4 + 2 = =38;</a:t>
            </a:r>
          </a:p>
          <a:p>
            <a:r>
              <a:rPr lang="ru-RU" sz="3200">
                <a:latin typeface="Cambria" pitchFamily="18" charset="0"/>
              </a:rPr>
              <a:t>дробная часть:</a:t>
            </a:r>
          </a:p>
          <a:p>
            <a:r>
              <a:rPr lang="ru-RU" sz="3200">
                <a:latin typeface="Cambria" pitchFamily="18" charset="0"/>
              </a:rPr>
              <a:t>(0,00111111)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= 2</a:t>
            </a:r>
            <a:r>
              <a:rPr lang="ru-RU" sz="3200" baseline="30000">
                <a:latin typeface="Cambria" pitchFamily="18" charset="0"/>
              </a:rPr>
              <a:t>-3</a:t>
            </a:r>
            <a:r>
              <a:rPr lang="ru-RU" sz="3200" baseline="-250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+ 2</a:t>
            </a:r>
            <a:r>
              <a:rPr lang="ru-RU" sz="3200" baseline="30000">
                <a:latin typeface="Cambria" pitchFamily="18" charset="0"/>
              </a:rPr>
              <a:t>-4</a:t>
            </a:r>
            <a:r>
              <a:rPr lang="ru-RU" sz="3200">
                <a:latin typeface="Cambria" pitchFamily="18" charset="0"/>
              </a:rPr>
              <a:t> + 2</a:t>
            </a:r>
            <a:r>
              <a:rPr lang="ru-RU" sz="3200" baseline="30000">
                <a:latin typeface="Cambria" pitchFamily="18" charset="0"/>
              </a:rPr>
              <a:t>-5</a:t>
            </a:r>
            <a:r>
              <a:rPr lang="ru-RU" sz="3200">
                <a:latin typeface="Cambria" pitchFamily="18" charset="0"/>
              </a:rPr>
              <a:t> + 2</a:t>
            </a:r>
            <a:r>
              <a:rPr lang="ru-RU" sz="3200" baseline="30000">
                <a:latin typeface="Cambria" pitchFamily="18" charset="0"/>
              </a:rPr>
              <a:t>-6</a:t>
            </a:r>
            <a:r>
              <a:rPr lang="ru-RU" sz="3200">
                <a:latin typeface="Cambria" pitchFamily="18" charset="0"/>
              </a:rPr>
              <a:t> + 2</a:t>
            </a:r>
            <a:r>
              <a:rPr lang="ru-RU" sz="3200" baseline="30000">
                <a:latin typeface="Cambria" pitchFamily="18" charset="0"/>
              </a:rPr>
              <a:t>-7</a:t>
            </a:r>
            <a:r>
              <a:rPr lang="ru-RU" sz="3200">
                <a:latin typeface="Cambria" pitchFamily="18" charset="0"/>
              </a:rPr>
              <a:t> + 2</a:t>
            </a:r>
            <a:r>
              <a:rPr lang="ru-RU" sz="3200" baseline="30000">
                <a:latin typeface="Cambria" pitchFamily="18" charset="0"/>
              </a:rPr>
              <a:t>-8</a:t>
            </a:r>
            <a:r>
              <a:rPr lang="ru-RU" sz="3200">
                <a:latin typeface="Cambria" pitchFamily="18" charset="0"/>
              </a:rPr>
              <a:t> =</a:t>
            </a:r>
          </a:p>
          <a:p>
            <a:r>
              <a:rPr lang="ru-RU" sz="3200">
                <a:latin typeface="Cambria" pitchFamily="18" charset="0"/>
              </a:rPr>
              <a:t>= 1/8 + 1/16 + 1/32 + 1/64 + 1/128 + 1/256 = 63/256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0,246;</a:t>
            </a:r>
          </a:p>
          <a:p>
            <a:r>
              <a:rPr lang="ru-RU" sz="3200">
                <a:latin typeface="Cambria" pitchFamily="18" charset="0"/>
              </a:rPr>
              <a:t>Значение числа </a:t>
            </a:r>
            <a:r>
              <a:rPr lang="ru-RU" sz="3200" b="1" i="1">
                <a:latin typeface="Cambria" pitchFamily="18" charset="0"/>
              </a:rPr>
              <a:t>V</a:t>
            </a:r>
            <a:r>
              <a:rPr lang="ru-RU" sz="3200">
                <a:latin typeface="Cambria" pitchFamily="18" charset="0"/>
              </a:rPr>
              <a:t>:  </a:t>
            </a:r>
            <a:r>
              <a:rPr lang="ru-RU" sz="3200" b="1" i="1">
                <a:latin typeface="Cambria" pitchFamily="18" charset="0"/>
              </a:rPr>
              <a:t>V</a:t>
            </a:r>
            <a:r>
              <a:rPr lang="ru-RU" sz="3200">
                <a:latin typeface="Cambria" pitchFamily="18" charset="0"/>
              </a:rPr>
              <a:t>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–38,246.</a:t>
            </a:r>
          </a:p>
          <a:p>
            <a:endParaRPr lang="ru-RU" sz="320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7.2. Представление числа </a:t>
            </a:r>
            <a:r>
              <a:rPr lang="en-US" sz="3200" b="1" i="1">
                <a:latin typeface="Rockwell" pitchFamily="18" charset="0"/>
              </a:rPr>
              <a:t>W</a:t>
            </a:r>
            <a:r>
              <a:rPr lang="en-US" sz="3200" i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в формате:</a:t>
            </a:r>
          </a:p>
          <a:p>
            <a:endParaRPr lang="ru-RU" sz="3200">
              <a:latin typeface="Cambria" pitchFamily="18" charset="0"/>
            </a:endParaRPr>
          </a:p>
        </p:txBody>
      </p:sp>
      <p:pic>
        <p:nvPicPr>
          <p:cNvPr id="2457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476250"/>
            <a:ext cx="914400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0" y="3213100"/>
            <a:ext cx="9144000" cy="353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Порядок числа </a:t>
            </a:r>
            <a:r>
              <a:rPr lang="ru-RU" sz="3200" b="1" i="1">
                <a:latin typeface="Cambria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: </a:t>
            </a:r>
            <a:r>
              <a:rPr lang="en-US" sz="3200" i="1">
                <a:latin typeface="Rockwell" pitchFamily="18" charset="0"/>
              </a:rPr>
              <a:t>P</a:t>
            </a:r>
            <a:r>
              <a:rPr lang="en-US" sz="3200" i="1" baseline="-25000">
                <a:latin typeface="Rockwell" pitchFamily="18" charset="0"/>
              </a:rPr>
              <a:t>W</a:t>
            </a:r>
            <a:r>
              <a:rPr lang="ru-RU" sz="3200" i="1">
                <a:latin typeface="Cambria" pitchFamily="18" charset="0"/>
              </a:rPr>
              <a:t> = </a:t>
            </a:r>
            <a:r>
              <a:rPr lang="en-US" sz="3200" i="1">
                <a:latin typeface="Rockwell" pitchFamily="18" charset="0"/>
              </a:rPr>
              <a:t>X</a:t>
            </a:r>
            <a:r>
              <a:rPr lang="en-US" sz="3200" i="1" baseline="-25000">
                <a:latin typeface="Rockwell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 – 128 = 124 – 128 = –4.</a:t>
            </a:r>
          </a:p>
          <a:p>
            <a:r>
              <a:rPr lang="ru-RU" sz="3200">
                <a:latin typeface="Cambria" pitchFamily="18" charset="0"/>
              </a:rPr>
              <a:t>Число </a:t>
            </a:r>
            <a:r>
              <a:rPr lang="ru-RU" sz="3200" b="1" i="1">
                <a:latin typeface="Cambria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 в нормальной форме: </a:t>
            </a:r>
            <a:r>
              <a:rPr lang="en-US" sz="3200" b="1" i="1">
                <a:latin typeface="Rockwell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 = (0,111)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2</a:t>
            </a:r>
            <a:r>
              <a:rPr lang="ru-RU" sz="3200" baseline="30000">
                <a:latin typeface="Cambria" pitchFamily="18" charset="0"/>
              </a:rPr>
              <a:t>–4</a:t>
            </a:r>
            <a:r>
              <a:rPr lang="ru-RU" sz="3200">
                <a:latin typeface="Cambria" pitchFamily="18" charset="0"/>
              </a:rPr>
              <a:t>.</a:t>
            </a:r>
          </a:p>
          <a:p>
            <a:r>
              <a:rPr lang="ru-RU" sz="3200">
                <a:latin typeface="Cambria" pitchFamily="18" charset="0"/>
              </a:rPr>
              <a:t>Число </a:t>
            </a:r>
            <a:r>
              <a:rPr lang="en-US" sz="3200" b="1" i="1">
                <a:latin typeface="Rockwell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 в естественной форме получается переносом запятой в мантиссе влево на четыре двоичных разряда: </a:t>
            </a:r>
            <a:r>
              <a:rPr lang="en-US" sz="3200" b="1" i="1">
                <a:latin typeface="Rockwell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 = (0,0000111)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.</a:t>
            </a:r>
          </a:p>
          <a:p>
            <a:r>
              <a:rPr lang="ru-RU" sz="3200">
                <a:latin typeface="Cambria" pitchFamily="18" charset="0"/>
              </a:rPr>
              <a:t>Значение числа </a:t>
            </a:r>
            <a:r>
              <a:rPr lang="ru-RU" sz="3200" b="1" i="1">
                <a:latin typeface="Cambria" pitchFamily="18" charset="0"/>
              </a:rPr>
              <a:t>W</a:t>
            </a:r>
            <a:r>
              <a:rPr lang="ru-RU" sz="3200">
                <a:latin typeface="Cambria" pitchFamily="18" charset="0"/>
              </a:rPr>
              <a:t>= (0,0000111)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= (111)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2</a:t>
            </a:r>
            <a:r>
              <a:rPr lang="ru-RU" sz="3200" baseline="30000">
                <a:latin typeface="Cambria" pitchFamily="18" charset="0"/>
              </a:rPr>
              <a:t>–7</a:t>
            </a:r>
            <a:r>
              <a:rPr lang="ru-RU" sz="3200">
                <a:latin typeface="Cambria" pitchFamily="18" charset="0"/>
              </a:rPr>
              <a:t> = =7 / 128 </a:t>
            </a:r>
            <a:r>
              <a:rPr lang="ru-RU" sz="3200">
                <a:latin typeface="Cambria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0,0547.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8. Найти значения чисел </a:t>
            </a:r>
            <a:r>
              <a:rPr lang="ru-RU" sz="3200" b="1" i="1">
                <a:latin typeface="Cambria" pitchFamily="18" charset="0"/>
              </a:rPr>
              <a:t>T </a:t>
            </a:r>
            <a:r>
              <a:rPr lang="ru-RU" sz="3200">
                <a:latin typeface="Cambria" pitchFamily="18" charset="0"/>
              </a:rPr>
              <a:t>и </a:t>
            </a:r>
            <a:r>
              <a:rPr lang="ru-RU" sz="3200" b="1" i="1">
                <a:latin typeface="Cambria" pitchFamily="18" charset="0"/>
              </a:rPr>
              <a:t>Q</a:t>
            </a:r>
            <a:r>
              <a:rPr lang="ru-RU" sz="3200">
                <a:latin typeface="Cambria" pitchFamily="18" charset="0"/>
              </a:rPr>
              <a:t> по их заданным шестнадцатеричным представлениям </a:t>
            </a:r>
            <a:r>
              <a:rPr lang="ru-RU" sz="3200" b="1" i="1">
                <a:latin typeface="Cambria" pitchFamily="18" charset="0"/>
              </a:rPr>
              <a:t>R </a:t>
            </a:r>
            <a:r>
              <a:rPr lang="ru-RU" sz="3200">
                <a:latin typeface="Cambria" pitchFamily="18" charset="0"/>
              </a:rPr>
              <a:t>и </a:t>
            </a:r>
            <a:r>
              <a:rPr lang="ru-RU" sz="3200" b="1" i="1">
                <a:latin typeface="Cambria" pitchFamily="18" charset="0"/>
              </a:rPr>
              <a:t>S</a:t>
            </a:r>
            <a:r>
              <a:rPr lang="ru-RU" sz="3200">
                <a:latin typeface="Cambria" pitchFamily="18" charset="0"/>
              </a:rPr>
              <a:t> в форме с плавающей запятой в формате Ф3.</a:t>
            </a:r>
          </a:p>
          <a:p>
            <a:r>
              <a:rPr lang="ru-RU" sz="3200">
                <a:latin typeface="Cambria" pitchFamily="18" charset="0"/>
              </a:rPr>
              <a:t>8.1. Представление числа </a:t>
            </a:r>
            <a:r>
              <a:rPr lang="ru-RU" sz="3200" b="1" i="1">
                <a:latin typeface="Cambria" pitchFamily="18" charset="0"/>
              </a:rPr>
              <a:t>Т</a:t>
            </a:r>
            <a:r>
              <a:rPr lang="ru-RU" sz="3200">
                <a:latin typeface="Cambria" pitchFamily="18" charset="0"/>
              </a:rPr>
              <a:t> в формате Ф3 имеет тот же вид, что и для числа </a:t>
            </a:r>
            <a:r>
              <a:rPr lang="ru-RU" sz="3200" b="1" i="1">
                <a:latin typeface="Cambria" pitchFamily="18" charset="0"/>
              </a:rPr>
              <a:t>V</a:t>
            </a:r>
            <a:r>
              <a:rPr lang="ru-RU" sz="3200">
                <a:latin typeface="Cambria" pitchFamily="18" charset="0"/>
              </a:rPr>
              <a:t> в формате Ф2.</a:t>
            </a:r>
          </a:p>
          <a:p>
            <a:r>
              <a:rPr lang="ru-RU" sz="3200">
                <a:latin typeface="Cambria" pitchFamily="18" charset="0"/>
              </a:rPr>
              <a:t>Порядок числа </a:t>
            </a:r>
            <a:r>
              <a:rPr lang="ru-RU" sz="3200" b="1" i="1">
                <a:latin typeface="Cambria" pitchFamily="18" charset="0"/>
              </a:rPr>
              <a:t>Т</a:t>
            </a:r>
            <a:r>
              <a:rPr lang="ru-RU" sz="3200">
                <a:latin typeface="Cambria" pitchFamily="18" charset="0"/>
              </a:rPr>
              <a:t>: </a:t>
            </a:r>
            <a:r>
              <a:rPr lang="en-US" sz="3200" b="1" i="1">
                <a:latin typeface="Rockwell" pitchFamily="18" charset="0"/>
              </a:rPr>
              <a:t>P</a:t>
            </a:r>
            <a:r>
              <a:rPr lang="en-US" sz="3200" b="1" i="1" baseline="-25000">
                <a:latin typeface="Rockwell" pitchFamily="18" charset="0"/>
              </a:rPr>
              <a:t>T</a:t>
            </a:r>
            <a:r>
              <a:rPr lang="ru-RU" sz="3200" b="1" i="1">
                <a:latin typeface="Cambria" pitchFamily="18" charset="0"/>
              </a:rPr>
              <a:t> = </a:t>
            </a:r>
            <a:r>
              <a:rPr lang="en-US" sz="3200" b="1" i="1">
                <a:latin typeface="Rockwell" pitchFamily="18" charset="0"/>
              </a:rPr>
              <a:t>X</a:t>
            </a:r>
            <a:r>
              <a:rPr lang="en-US" sz="3200" b="1" i="1" baseline="-25000">
                <a:latin typeface="Rockwell" pitchFamily="18" charset="0"/>
              </a:rPr>
              <a:t>T</a:t>
            </a:r>
            <a:r>
              <a:rPr lang="ru-RU" sz="3200">
                <a:latin typeface="Cambria" pitchFamily="18" charset="0"/>
              </a:rPr>
              <a:t> – 127 = 134 – 127 = 7.</a:t>
            </a:r>
          </a:p>
          <a:p>
            <a:r>
              <a:rPr lang="ru-RU" sz="3200">
                <a:latin typeface="Cambria" pitchFamily="18" charset="0"/>
              </a:rPr>
              <a:t>Значение  числа </a:t>
            </a:r>
            <a:r>
              <a:rPr lang="ru-RU" sz="3200" b="1" i="1">
                <a:latin typeface="Cambria" pitchFamily="18" charset="0"/>
              </a:rPr>
              <a:t>Т</a:t>
            </a:r>
            <a:r>
              <a:rPr lang="ru-RU" sz="3200" b="1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в двоичной системе счисления:</a:t>
            </a: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</p:txBody>
      </p:sp>
      <p:pic>
        <p:nvPicPr>
          <p:cNvPr id="2560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750" y="3933825"/>
            <a:ext cx="8604250" cy="2303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7478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u-RU" sz="3200">
                <a:latin typeface="Cambria" pitchFamily="18" charset="0"/>
              </a:rPr>
              <a:t>Перевод числа </a:t>
            </a:r>
            <a:r>
              <a:rPr lang="ru-RU" sz="3200" b="1" i="1">
                <a:latin typeface="Cambria" pitchFamily="18" charset="0"/>
              </a:rPr>
              <a:t>Т</a:t>
            </a:r>
            <a:r>
              <a:rPr lang="ru-RU" sz="3200" i="1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из двоичной системы счисления в десятичную:</a:t>
            </a:r>
          </a:p>
          <a:p>
            <a:r>
              <a:rPr lang="ru-RU" sz="3200">
                <a:latin typeface="Cambria" pitchFamily="18" charset="0"/>
              </a:rPr>
              <a:t>целая часть:</a:t>
            </a:r>
          </a:p>
          <a:p>
            <a:r>
              <a:rPr lang="ru-RU" sz="3200">
                <a:latin typeface="Cambria" pitchFamily="18" charset="0"/>
              </a:rPr>
              <a:t>(10011000)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= 2</a:t>
            </a:r>
            <a:r>
              <a:rPr lang="ru-RU" sz="3200" baseline="30000">
                <a:latin typeface="Cambria" pitchFamily="18" charset="0"/>
              </a:rPr>
              <a:t>7</a:t>
            </a:r>
            <a:r>
              <a:rPr lang="ru-RU" sz="3200">
                <a:latin typeface="Cambria" pitchFamily="18" charset="0"/>
              </a:rPr>
              <a:t> + 2</a:t>
            </a:r>
            <a:r>
              <a:rPr lang="ru-RU" sz="3200" baseline="30000">
                <a:latin typeface="Cambria" pitchFamily="18" charset="0"/>
              </a:rPr>
              <a:t>4</a:t>
            </a:r>
            <a:r>
              <a:rPr lang="ru-RU" sz="3200">
                <a:latin typeface="Cambria" pitchFamily="18" charset="0"/>
              </a:rPr>
              <a:t> + 2</a:t>
            </a:r>
            <a:r>
              <a:rPr lang="ru-RU" sz="3200" baseline="30000">
                <a:latin typeface="Cambria" pitchFamily="18" charset="0"/>
              </a:rPr>
              <a:t>3</a:t>
            </a:r>
            <a:r>
              <a:rPr lang="ru-RU" sz="3200">
                <a:latin typeface="Cambria" pitchFamily="18" charset="0"/>
              </a:rPr>
              <a:t> = 128 + 16 + 8 = 152.</a:t>
            </a:r>
          </a:p>
          <a:p>
            <a:r>
              <a:rPr lang="ru-RU" sz="3200">
                <a:latin typeface="Cambria" pitchFamily="18" charset="0"/>
              </a:rPr>
              <a:t>дробная часть:</a:t>
            </a:r>
          </a:p>
          <a:p>
            <a:r>
              <a:rPr lang="ru-RU" sz="3200">
                <a:latin typeface="Cambria" pitchFamily="18" charset="0"/>
              </a:rPr>
              <a:t>(0,111111)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= 1 – (0,000001)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= 1 – 1 / 64 </a:t>
            </a:r>
            <a:r>
              <a:rPr lang="ru-RU" sz="3200">
                <a:latin typeface="Cambria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0,984.</a:t>
            </a:r>
          </a:p>
          <a:p>
            <a:r>
              <a:rPr lang="ru-RU" sz="3200">
                <a:latin typeface="Cambria" pitchFamily="18" charset="0"/>
              </a:rPr>
              <a:t>Значение числа </a:t>
            </a:r>
            <a:r>
              <a:rPr lang="en-US" sz="3200" b="1" i="1">
                <a:latin typeface="Rockwell" pitchFamily="18" charset="0"/>
              </a:rPr>
              <a:t>T</a:t>
            </a:r>
            <a:r>
              <a:rPr lang="ru-RU" sz="3200" b="1">
                <a:latin typeface="Cambria" pitchFamily="18" charset="0"/>
              </a:rPr>
              <a:t> </a:t>
            </a:r>
            <a:r>
              <a:rPr lang="en-US" sz="3200">
                <a:latin typeface="Rockwell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–152,984.</a:t>
            </a:r>
          </a:p>
          <a:p>
            <a:endParaRPr lang="ru-RU" sz="3200">
              <a:latin typeface="Cambria" pitchFamily="18" charset="0"/>
            </a:endParaRPr>
          </a:p>
          <a:p>
            <a:r>
              <a:rPr lang="ru-RU" sz="3200">
                <a:latin typeface="Cambria" pitchFamily="18" charset="0"/>
              </a:rPr>
              <a:t>8.2. Представление числа </a:t>
            </a:r>
            <a:r>
              <a:rPr lang="ru-RU" sz="3200" b="1" i="1">
                <a:latin typeface="Cambria" pitchFamily="18" charset="0"/>
              </a:rPr>
              <a:t>Q</a:t>
            </a:r>
            <a:r>
              <a:rPr lang="ru-RU" sz="3200">
                <a:latin typeface="Cambria" pitchFamily="18" charset="0"/>
              </a:rPr>
              <a:t> в формате Ф3 имеет тот же вид, что и для числа в Ф2.</a:t>
            </a:r>
          </a:p>
          <a:p>
            <a:r>
              <a:rPr lang="ru-RU" sz="3200">
                <a:latin typeface="Cambria" pitchFamily="18" charset="0"/>
              </a:rPr>
              <a:t>Порядок числа </a:t>
            </a:r>
            <a:r>
              <a:rPr lang="ru-RU" sz="3200" b="1" i="1">
                <a:latin typeface="Cambria" pitchFamily="18" charset="0"/>
              </a:rPr>
              <a:t>Q</a:t>
            </a:r>
            <a:r>
              <a:rPr lang="ru-RU" sz="3200">
                <a:latin typeface="Cambria" pitchFamily="18" charset="0"/>
              </a:rPr>
              <a:t>: </a:t>
            </a:r>
            <a:r>
              <a:rPr lang="ru-RU" sz="3200" b="1" i="1">
                <a:latin typeface="Cambria" pitchFamily="18" charset="0"/>
              </a:rPr>
              <a:t>P</a:t>
            </a:r>
            <a:r>
              <a:rPr lang="ru-RU" sz="3200" b="1" i="1" baseline="-25000">
                <a:latin typeface="Cambria" pitchFamily="18" charset="0"/>
              </a:rPr>
              <a:t>Q </a:t>
            </a:r>
            <a:r>
              <a:rPr lang="ru-RU" sz="3200" b="1" i="1">
                <a:latin typeface="Cambria" pitchFamily="18" charset="0"/>
              </a:rPr>
              <a:t>= X</a:t>
            </a:r>
            <a:r>
              <a:rPr lang="ru-RU" sz="3200" b="1" i="1" baseline="-25000">
                <a:latin typeface="Cambria" pitchFamily="18" charset="0"/>
              </a:rPr>
              <a:t>Q</a:t>
            </a:r>
            <a:r>
              <a:rPr lang="ru-RU" sz="3200">
                <a:latin typeface="Cambria" pitchFamily="18" charset="0"/>
              </a:rPr>
              <a:t> – 127 = 124 – 127 = –3.</a:t>
            </a:r>
          </a:p>
          <a:p>
            <a:r>
              <a:rPr lang="ru-RU" sz="3200">
                <a:latin typeface="Cambria" pitchFamily="18" charset="0"/>
              </a:rPr>
              <a:t>Значение числа </a:t>
            </a:r>
            <a:r>
              <a:rPr lang="ru-RU" sz="3200" b="1" i="1">
                <a:latin typeface="Cambria" pitchFamily="18" charset="0"/>
              </a:rPr>
              <a:t>Q</a:t>
            </a:r>
            <a:r>
              <a:rPr lang="en-US" sz="3200" b="1">
                <a:latin typeface="Rockwell" pitchFamily="18" charset="0"/>
              </a:rPr>
              <a:t> </a:t>
            </a:r>
            <a:r>
              <a:rPr lang="ru-RU" sz="3200">
                <a:latin typeface="Cambria" pitchFamily="18" charset="0"/>
              </a:rPr>
              <a:t>= (1,11)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2</a:t>
            </a:r>
            <a:r>
              <a:rPr lang="ru-RU" sz="3200" baseline="30000">
                <a:latin typeface="Cambria" pitchFamily="18" charset="0"/>
              </a:rPr>
              <a:t>-3</a:t>
            </a:r>
            <a:r>
              <a:rPr lang="ru-RU" sz="3200">
                <a:latin typeface="Cambria" pitchFamily="18" charset="0"/>
              </a:rPr>
              <a:t> = (0,00111)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=  (111)</a:t>
            </a:r>
            <a:r>
              <a:rPr lang="ru-RU" sz="3200" baseline="-25000">
                <a:latin typeface="Cambria" pitchFamily="18" charset="0"/>
              </a:rPr>
              <a:t>2</a:t>
            </a:r>
            <a:r>
              <a:rPr lang="ru-RU" sz="3200">
                <a:latin typeface="Cambria" pitchFamily="18" charset="0"/>
              </a:rPr>
              <a:t> </a:t>
            </a:r>
            <a:r>
              <a:rPr lang="ru-RU" sz="3200">
                <a:latin typeface="Cambria" pitchFamily="18" charset="0"/>
                <a:sym typeface="Symbol" pitchFamily="18" charset="2"/>
              </a:rPr>
              <a:t></a:t>
            </a:r>
            <a:r>
              <a:rPr lang="ru-RU" sz="3200">
                <a:latin typeface="Cambria" pitchFamily="18" charset="0"/>
              </a:rPr>
              <a:t> 2</a:t>
            </a:r>
            <a:r>
              <a:rPr lang="ru-RU" sz="3200" baseline="30000">
                <a:latin typeface="Cambria" pitchFamily="18" charset="0"/>
              </a:rPr>
              <a:t>-5</a:t>
            </a:r>
            <a:r>
              <a:rPr lang="ru-RU" sz="3200">
                <a:latin typeface="Cambria" pitchFamily="18" charset="0"/>
              </a:rPr>
              <a:t> = 7 / 32 </a:t>
            </a:r>
            <a:r>
              <a:rPr lang="ru-RU" sz="3200">
                <a:latin typeface="Cambria" pitchFamily="18" charset="0"/>
                <a:sym typeface="Symbol" pitchFamily="18" charset="2"/>
              </a:rPr>
              <a:t></a:t>
            </a:r>
            <a:r>
              <a:rPr lang="ru-RU" sz="3200">
                <a:latin typeface="Cambria" pitchFamily="18" charset="0"/>
              </a:rPr>
              <a:t> 0,219.</a:t>
            </a:r>
          </a:p>
          <a:p>
            <a:endParaRPr lang="ru-RU" sz="3200">
              <a:latin typeface="Cambria" pitchFamily="18" charset="0"/>
            </a:endParaRPr>
          </a:p>
          <a:p>
            <a:endParaRPr lang="ru-RU" sz="320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1847</Words>
  <Application>Microsoft Office PowerPoint</Application>
  <PresentationFormat>Экран (4:3)</PresentationFormat>
  <Paragraphs>259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Cambria</vt:lpstr>
      <vt:lpstr>Courier New</vt:lpstr>
      <vt:lpstr>Rockwell</vt:lpstr>
      <vt:lpstr>Times New Roman</vt:lpstr>
      <vt:lpstr>Тема Office</vt:lpstr>
      <vt:lpstr>домашниЕ  задания  «Арифметические основы ЭВМ»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Your Organization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домашниЕ  задания  «Арифметические основы ЭВМ»</dc:title>
  <dc:creator>Your User Name</dc:creator>
  <cp:lastModifiedBy>Home</cp:lastModifiedBy>
  <cp:revision>42</cp:revision>
  <dcterms:created xsi:type="dcterms:W3CDTF">2014-03-15T13:11:15Z</dcterms:created>
  <dcterms:modified xsi:type="dcterms:W3CDTF">2024-10-17T04:14:54Z</dcterms:modified>
</cp:coreProperties>
</file>